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Interfacce in 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Definire contratti e progettare codice flessibile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Che cos'è un'interfaccia</a:t>
            </a:r>
          </a:p>
          <a:p>
            <a:pPr>
              <a:spcAft>
                <a:spcPts val="1000"/>
              </a:spcAft>
              <a:defRPr sz="2000"/>
            </a:pPr>
            <a:r>
              <a:t>Definizione e implementazione</a:t>
            </a:r>
          </a:p>
          <a:p>
            <a:pPr>
              <a:spcAft>
                <a:spcPts val="1000"/>
              </a:spcAft>
              <a:defRPr sz="2000"/>
            </a:pPr>
            <a:r>
              <a:t>Interfacce e polimorfismo</a:t>
            </a:r>
          </a:p>
          <a:p>
            <a:pPr>
              <a:spcAft>
                <a:spcPts val="1000"/>
              </a:spcAft>
              <a:defRPr sz="2000"/>
            </a:pPr>
            <a:r>
              <a:t>Estensione e implementazione multipla</a:t>
            </a:r>
          </a:p>
          <a:p>
            <a:pPr>
              <a:spcAft>
                <a:spcPts val="1000"/>
              </a:spcAft>
              <a:defRPr sz="2000"/>
            </a:pPr>
            <a:r>
              <a:t>Default e static methods</a:t>
            </a:r>
          </a:p>
          <a:p>
            <a:pPr>
              <a:spcAft>
                <a:spcPts val="1000"/>
              </a:spcAft>
              <a:defRPr sz="2000"/>
            </a:pPr>
            <a:r>
              <a:t>Interfacce funzionali e lambda</a:t>
            </a:r>
          </a:p>
          <a:p>
            <a:pPr>
              <a:spcAft>
                <a:spcPts val="1000"/>
              </a:spcAft>
              <a:defRPr sz="2000"/>
            </a:pPr>
            <a:r>
              <a:t>Quando usarle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Che cos'è un'interfaccia?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Un'interfaccia definisce un contratto: stabilisce quali operazioni una classe deve offrire.</a:t>
            </a:r>
          </a:p>
          <a:p>
            <a:pPr>
              <a:spcAft>
                <a:spcPts val="1000"/>
              </a:spcAft>
              <a:defRPr sz="2000"/>
            </a:pPr>
            <a:r>
              <a:t>Descrive cosa deve fare un oggetto, senza imporre come farlo.</a:t>
            </a:r>
          </a:p>
          <a:p>
            <a:pPr>
              <a:spcAft>
                <a:spcPts val="1000"/>
              </a:spcAft>
              <a:defRPr sz="2000"/>
            </a:pPr>
            <a:r>
              <a:t>Una classe può implementare una o più interfacce.</a:t>
            </a:r>
          </a:p>
          <a:p>
            <a:pPr>
              <a:spcAft>
                <a:spcPts val="1000"/>
              </a:spcAft>
              <a:defRPr sz="2000"/>
            </a:pPr>
            <a:r>
              <a:t>Non si crea un oggetto di interfaccia direttamente con new.</a:t>
            </a:r>
          </a:p>
          <a:p>
            <a:pPr>
              <a:spcAft>
                <a:spcPts val="1000"/>
              </a:spcAft>
              <a:defRPr sz="2000"/>
            </a:pPr>
            <a:r>
              <a:t>È uno strumento fondamentale per astrazione, modularità e polimorfismo.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Definire un'interfaccia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Definire un'interfaccia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292608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900">
                <a:latin typeface="Consolas"/>
              </a:defRPr>
            </a:pPr>
            <a:r>
              <a:t>public interface Contratto {</a:t>
            </a:r>
            <a:br/>
            <a:r>
              <a:t>    void obbligoUno();</a:t>
            </a:r>
            <a:br/>
            <a:r>
              <a:t>    int obbligoDue(String parametro);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I metodi astratti dell'interfaccia sono pubblici per definizione.</a:t>
            </a:r>
          </a:p>
          <a:p>
            <a:pPr>
              <a:spcAft>
                <a:spcPts val="1000"/>
              </a:spcAft>
              <a:defRPr sz="1700"/>
            </a:pPr>
            <a:r>
              <a:t>L'interfaccia specifica il contratto, non l'implementazione.</a:t>
            </a:r>
          </a:p>
          <a:p>
            <a:pPr>
              <a:spcAft>
                <a:spcPts val="1000"/>
              </a:spcAft>
              <a:defRPr sz="1700"/>
            </a:pPr>
            <a:r>
              <a:t>L'interfaccia va normalmente salvata in un file con lo stesso 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Implementare un'interfaccia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420624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t>public class MiaClasse implements Contratto {</a:t>
            </a:r>
            <a:br/>
            <a:r>
              <a:t>    @Override</a:t>
            </a:r>
            <a:br/>
            <a:r>
              <a:t>    public void obbligoUno() {</a:t>
            </a:r>
            <a:br/>
            <a:r>
              <a:t>        // implementazione</a:t>
            </a:r>
            <a:br/>
            <a:r>
              <a:t>    }</a:t>
            </a:r>
            <a:br/>
            <a:br/>
            <a:r>
              <a:t>    @Override</a:t>
            </a:r>
            <a:br/>
            <a:r>
              <a:t>    public int obbligoDue(String parametro) {</a:t>
            </a:r>
            <a:br/>
            <a:r>
              <a:t>        return 42;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8064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/>
            </a:pPr>
            <a:r>
              <a:t>implements indica che la classe aderisce al contratto.</a:t>
            </a:r>
          </a:p>
          <a:p>
            <a:pPr>
              <a:spcAft>
                <a:spcPts val="1000"/>
              </a:spcAft>
              <a:defRPr sz="1400"/>
            </a:pPr>
            <a:r>
              <a:t>Una classe concreta deve implementare tutti i metodi astratti richiesti.</a:t>
            </a:r>
          </a:p>
          <a:p>
            <a:pPr>
              <a:spcAft>
                <a:spcPts val="1000"/>
              </a:spcAft>
              <a:defRPr sz="1400"/>
            </a:pPr>
            <a:r>
              <a:t>@Override aiuta il compilatore a verificare l'implementazione.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Interfacce e polimorfismo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283464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800">
                <a:latin typeface="Consolas"/>
              </a:defRPr>
            </a:pPr>
            <a:r>
              <a:t>List&lt;String&gt; nomi = new ArrayList&lt;&gt;();</a:t>
            </a:r>
            <a:br/>
            <a:br/>
            <a:r>
              <a:t>nomi.add("Anna");</a:t>
            </a:r>
            <a:br/>
            <a:r>
              <a:t>nomi.add("Luca");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262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Il riferimento può avere come tipo l'interfaccia e come oggetto una classe concreta.</a:t>
            </a:r>
          </a:p>
          <a:p>
            <a:pPr>
              <a:spcAft>
                <a:spcPts val="1000"/>
              </a:spcAft>
              <a:defRPr sz="1700"/>
            </a:pPr>
            <a:r>
              <a:t>Questo riduce la dipendenza dall'implementazione specifica.</a:t>
            </a:r>
          </a:p>
          <a:p>
            <a:pPr>
              <a:spcAft>
                <a:spcPts val="1000"/>
              </a:spcAft>
              <a:defRPr sz="1700"/>
            </a:pPr>
            <a:r>
              <a:t>Le collezioni Java usano ampiamente questo principio: List, Set, Map, ecc.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Attributi nelle interfacce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21945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900">
                <a:latin typeface="Consolas"/>
              </a:defRPr>
            </a:pPr>
            <a:r>
              <a:t>public interface Config {</a:t>
            </a:r>
            <a:br/>
            <a:r>
              <a:t>    int MAX_TENTATIVI = 3;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8862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Gli attributi dichiarati in un'interfaccia sono implicitamente public, static e final.</a:t>
            </a:r>
          </a:p>
          <a:p>
            <a:pPr>
              <a:spcAft>
                <a:spcPts val="1000"/>
              </a:spcAft>
              <a:defRPr sz="1800"/>
            </a:pPr>
            <a:r>
              <a:t>Sono quindi costanti, non variabili di istanza.</a:t>
            </a:r>
          </a:p>
          <a:p>
            <a:pPr>
              <a:spcAft>
                <a:spcPts val="1000"/>
              </a:spcAft>
              <a:defRPr sz="1800"/>
            </a:pPr>
            <a:r>
              <a:t>Per convenzione i nomi delle costanti sono scritti in MAIUSCOLO.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Più interfacce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22860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800">
                <a:latin typeface="Consolas"/>
              </a:defRPr>
            </a:pPr>
            <a:r>
              <a:t>public class Smartphone</a:t>
            </a:r>
            <a:br/>
            <a:r>
              <a:t>        implements Fotocamera, GPS, Connessione {</a:t>
            </a:r>
            <a:br/>
            <a:r>
              <a:t>    // ...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Una classe può implementare più interfacce.</a:t>
            </a:r>
          </a:p>
          <a:p>
            <a:pPr>
              <a:spcAft>
                <a:spcPts val="1000"/>
              </a:spcAft>
              <a:defRPr sz="1800"/>
            </a:pPr>
            <a:r>
              <a:t>Java non permette l'ereditarietà multipla tra classi.</a:t>
            </a:r>
          </a:p>
          <a:p>
            <a:pPr>
              <a:spcAft>
                <a:spcPts val="1000"/>
              </a:spcAft>
              <a:defRPr sz="1800"/>
            </a:pPr>
            <a:r>
              <a:t>Le interfacce permettono di combinare più contratti in una singola classe.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Estendere un'interfaccia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1089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t>public interface Animale {</a:t>
            </a:r>
            <a:br/>
            <a:r>
              <a:t>    void mangia();</a:t>
            </a:r>
            <a:br/>
            <a:r>
              <a:t>}</a:t>
            </a:r>
            <a:br/>
            <a:br/>
            <a:r>
              <a:t>public interface AnimaleDomestico extends Animale {</a:t>
            </a:r>
            <a:br/>
            <a:r>
              <a:t>    void gioca();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Un'interfaccia può estendere una o più interfacce.</a:t>
            </a:r>
          </a:p>
          <a:p>
            <a:pPr>
              <a:spcAft>
                <a:spcPts val="1000"/>
              </a:spcAft>
              <a:defRPr sz="1700"/>
            </a:pPr>
            <a:r>
              <a:t>Si possono costruire gerarchie di contratti.</a:t>
            </a:r>
          </a:p>
          <a:p>
            <a:pPr>
              <a:spcAft>
                <a:spcPts val="1000"/>
              </a:spcAft>
              <a:defRPr sz="1700"/>
            </a:pPr>
            <a:r>
              <a:t>Una classe che implementa l'interfaccia figlia deve rispettare anche i contratti ereditati.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Default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Da Java 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31089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t>public interface Stampabile {</a:t>
            </a:r>
            <a:br/>
            <a:r>
              <a:t>    void stampa();</a:t>
            </a:r>
            <a:br/>
            <a:br/>
            <a:r>
              <a:t>    default void intestazione() {</a:t>
            </a:r>
            <a:br/>
            <a:r>
              <a:t>        System.out.println("DOCUMENTO");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t>Un metodo default possiede un'implementazione nell'interfaccia.</a:t>
            </a:r>
          </a:p>
          <a:p>
            <a:pPr>
              <a:spcAft>
                <a:spcPts val="1000"/>
              </a:spcAft>
              <a:defRPr sz="1600"/>
            </a:pPr>
            <a:r>
              <a:t>La classe può utilizzare l'implementazione fornita oppure ridefinirla.</a:t>
            </a:r>
          </a:p>
          <a:p>
            <a:pPr>
              <a:spcAft>
                <a:spcPts val="1000"/>
              </a:spcAft>
              <a:defRPr sz="1600"/>
            </a:pPr>
            <a:r>
              <a:t>Ha permesso di evolvere le API senza obbligare tutte le classi esistenti a implementare il nuovo metodo.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Metodi statici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Da Java 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31089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t>public interface MathTools {</a:t>
            </a:r>
            <a:br/>
            <a:r>
              <a:t>    static int doppio(int n) {</a:t>
            </a:r>
            <a:br/>
            <a:r>
              <a:t>        return n * 2;</a:t>
            </a:r>
            <a:br/>
            <a:r>
              <a:t>    }</a:t>
            </a:r>
            <a:br/>
            <a:r>
              <a:t>}</a:t>
            </a:r>
            <a:br/>
            <a:br/>
            <a:r>
              <a:t>int x = MathTools.doppio(5);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Un metodo static appartiene all'interfaccia.</a:t>
            </a:r>
          </a:p>
          <a:p>
            <a:pPr>
              <a:spcAft>
                <a:spcPts val="1000"/>
              </a:spcAft>
              <a:defRPr sz="1700"/>
            </a:pPr>
            <a:r>
              <a:t>Si richiama usando il nome dell'interfaccia.</a:t>
            </a:r>
          </a:p>
          <a:p>
            <a:pPr>
              <a:spcAft>
                <a:spcPts val="1000"/>
              </a:spcAft>
              <a:defRPr sz="1700"/>
            </a:pPr>
            <a:r>
              <a:t>È utile per funzionalità di supporto strettamente legate al contratto.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Tipi di interfacce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/>
            </a:pPr>
            <a:r>
              <a:t>Interfacce normali — possono contenere più metodi astratti.</a:t>
            </a:r>
          </a:p>
          <a:p>
            <a:pPr>
              <a:spcAft>
                <a:spcPts val="1000"/>
              </a:spcAft>
              <a:defRPr sz="2100"/>
            </a:pPr>
            <a:r>
              <a:t>Interfacce funzionali — hanno un solo metodo astratto.</a:t>
            </a:r>
          </a:p>
          <a:p>
            <a:pPr>
              <a:spcAft>
                <a:spcPts val="1000"/>
              </a:spcAft>
              <a:defRPr sz="2100"/>
            </a:pPr>
            <a:r>
              <a:t>Interfacce marker — non definiscono metodi astratti e servono a comunicare una caratteristica.</a:t>
            </a:r>
          </a:p>
          <a:p>
            <a:pPr>
              <a:spcAft>
                <a:spcPts val="1000"/>
              </a:spcAft>
              <a:defRPr sz="2100"/>
            </a:pPr>
            <a:r>
              <a:t>Le interfacce possono inoltre contenere default methods e static methods.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@FunctionalInterface e Lambda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6576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t>@FunctionalInterface</a:t>
            </a:r>
            <a:br/>
            <a:r>
              <a:t>public interface Operazione {</a:t>
            </a:r>
            <a:br/>
            <a:r>
              <a:t>    int esegui(int a, int b);</a:t>
            </a:r>
            <a:br/>
            <a:r>
              <a:t>}</a:t>
            </a:r>
            <a:br/>
            <a:br/>
            <a:r>
              <a:t>Operazione somma = (a, b) -&gt; a + b;</a:t>
            </a:r>
            <a:br/>
            <a:r>
              <a:t>int risultato = somma.esegui(3, 5);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492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t>Un'interfaccia funzionale può essere utilizzata con una lambda expression.</a:t>
            </a:r>
          </a:p>
          <a:p>
            <a:pPr>
              <a:spcAft>
                <a:spcPts val="1000"/>
              </a:spcAft>
              <a:defRPr sz="1600"/>
            </a:pPr>
            <a:r>
              <a:t>La lambda fornisce l'implementazione del singolo metodo astratto.</a:t>
            </a:r>
          </a:p>
          <a:p>
            <a:pPr>
              <a:spcAft>
                <a:spcPts val="1000"/>
              </a:spcAft>
              <a:defRPr sz="1600"/>
            </a:pPr>
            <a:r>
              <a:t>È alla base di molte API moderne di Java, come Stream e Comparator.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Interfaccia o classe astratta?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Classe astratta: utile quando vogliamo condividere stato, implementazione e comportamento comune.</a:t>
            </a:r>
          </a:p>
          <a:p>
            <a:pPr>
              <a:spcAft>
                <a:spcPts val="1000"/>
              </a:spcAft>
              <a:defRPr sz="1900"/>
            </a:pPr>
            <a:r>
              <a:t>Interfaccia: utile quando vogliamo definire un contratto che classi anche molto diverse possono rispettare.</a:t>
            </a:r>
          </a:p>
          <a:p>
            <a:pPr>
              <a:spcAft>
                <a:spcPts val="1000"/>
              </a:spcAft>
              <a:defRPr sz="1900"/>
            </a:pPr>
            <a:r>
              <a:t>Una classe può estendere una sola classe, ma può implementare più interfacce.</a:t>
            </a:r>
          </a:p>
          <a:p>
            <a:pPr>
              <a:spcAft>
                <a:spcPts val="1000"/>
              </a:spcAft>
              <a:defRPr sz="1900"/>
            </a:pPr>
            <a:r>
              <a:t>Le due tecniche possono essere usate insieme.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Quando usare un'interfaccia?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Quando diverse classi devono offrire lo stesso comportamento.</a:t>
            </a:r>
          </a:p>
          <a:p>
            <a:pPr>
              <a:spcAft>
                <a:spcPts val="1000"/>
              </a:spcAft>
              <a:defRPr sz="1900"/>
            </a:pPr>
            <a:r>
              <a:t>Quando vogliamo ridurre l'accoppiamento tra componenti.</a:t>
            </a:r>
          </a:p>
          <a:p>
            <a:pPr>
              <a:spcAft>
                <a:spcPts val="1000"/>
              </a:spcAft>
              <a:defRPr sz="1900"/>
            </a:pPr>
            <a:r>
              <a:t>Quando vogliamo sostituire facilmente un'implementazione con un'altra.</a:t>
            </a:r>
          </a:p>
          <a:p>
            <a:pPr>
              <a:spcAft>
                <a:spcPts val="1000"/>
              </a:spcAft>
              <a:defRPr sz="1900"/>
            </a:pPr>
            <a:r>
              <a:t>Quando vogliamo progettare API e componenti estensibili.</a:t>
            </a:r>
          </a:p>
          <a:p>
            <a:pPr>
              <a:spcAft>
                <a:spcPts val="1000"/>
              </a:spcAft>
              <a:defRPr sz="1900"/>
            </a:pPr>
            <a:r>
              <a:t>Quando il polimorfismo deve basarsi su un comportamento comune, non sulla gerarchia delle classi.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Esempio progettuale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47472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t>public interface Pagabile {</a:t>
            </a:r>
            <a:br/>
            <a:r>
              <a:t>    double calcolaImporto();</a:t>
            </a:r>
            <a:br/>
            <a:r>
              <a:t>}</a:t>
            </a:r>
            <a:br/>
            <a:br/>
            <a:r>
              <a:t>class Fattura implements Pagabile { ... }</a:t>
            </a:r>
            <a:br/>
            <a:r>
              <a:t>class Stipendio implements Pagabile { ... }</a:t>
            </a:r>
            <a:br/>
            <a:r>
              <a:t>class Abbonamento implements Pagabile { ...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2578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t>Oggetti diversi possono rispettare lo stesso contratto.</a:t>
            </a:r>
          </a:p>
          <a:p>
            <a:pPr>
              <a:spcAft>
                <a:spcPts val="1000"/>
              </a:spcAft>
              <a:defRPr sz="1600"/>
            </a:pPr>
            <a:r>
              <a:t>Il codice che lavora con Pagabile non deve conoscere la classe concreta.</a:t>
            </a:r>
          </a:p>
          <a:p>
            <a:pPr>
              <a:spcAft>
                <a:spcPts val="1000"/>
              </a:spcAft>
              <a:defRPr sz="1600"/>
            </a:pPr>
            <a:r>
              <a:t>Questo è un esempio di programmazione verso un'astrazione.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In sintesi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interface → definisce un contratto</a:t>
            </a:r>
          </a:p>
          <a:p>
            <a:pPr>
              <a:spcAft>
                <a:spcPts val="1000"/>
              </a:spcAft>
              <a:defRPr sz="1800"/>
            </a:pPr>
            <a:r>
              <a:t>implements → una classe aderisce al contratto</a:t>
            </a:r>
          </a:p>
          <a:p>
            <a:pPr>
              <a:spcAft>
                <a:spcPts val="1000"/>
              </a:spcAft>
              <a:defRPr sz="1800"/>
            </a:pPr>
            <a:r>
              <a:t>extends → un'interfaccia eredita da un'altra</a:t>
            </a:r>
          </a:p>
          <a:p>
            <a:pPr>
              <a:spcAft>
                <a:spcPts val="1000"/>
              </a:spcAft>
              <a:defRPr sz="1800"/>
            </a:pPr>
            <a:r>
              <a:t>Una classe può implementare più interfacce</a:t>
            </a:r>
          </a:p>
          <a:p>
            <a:pPr>
              <a:spcAft>
                <a:spcPts val="1000"/>
              </a:spcAft>
              <a:defRPr sz="1800"/>
            </a:pPr>
            <a:r>
              <a:t>Le interfacce supportano il polimorfismo</a:t>
            </a:r>
          </a:p>
          <a:p>
            <a:pPr>
              <a:spcAft>
                <a:spcPts val="1000"/>
              </a:spcAft>
              <a:defRPr sz="1800"/>
            </a:pPr>
            <a:r>
              <a:t>default → metodo con implementazione</a:t>
            </a:r>
          </a:p>
          <a:p>
            <a:pPr>
              <a:spcAft>
                <a:spcPts val="1000"/>
              </a:spcAft>
              <a:defRPr sz="1800"/>
            </a:pPr>
            <a:r>
              <a:t>static → metodo dell'interfaccia</a:t>
            </a:r>
          </a:p>
          <a:p>
            <a:pPr>
              <a:spcAft>
                <a:spcPts val="1000"/>
              </a:spcAft>
              <a:defRPr sz="1800"/>
            </a:pPr>
            <a:r>
              <a:t>@FunctionalInterface + lambda → comportamento passato come valore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Esercizio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Progettare con le interfacce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Definire un'interfaccia Pagabile con un metodo per calcolare un importo.</a:t>
            </a:r>
          </a:p>
          <a:p>
            <a:pPr>
              <a:spcAft>
                <a:spcPts val="1000"/>
              </a:spcAft>
              <a:defRPr sz="1900"/>
            </a:pPr>
            <a:r>
              <a:t>Creare almeno tre classi concrete che implementino l'interfaccia.</a:t>
            </a:r>
          </a:p>
          <a:p>
            <a:pPr>
              <a:spcAft>
                <a:spcPts val="1000"/>
              </a:spcAft>
              <a:defRPr sz="1900"/>
            </a:pPr>
            <a:r>
              <a:t>Gestire gli oggetti attraverso riferimenti di tipo Pagabile.</a:t>
            </a:r>
          </a:p>
          <a:p>
            <a:pPr>
              <a:spcAft>
                <a:spcPts val="1000"/>
              </a:spcAft>
              <a:defRPr sz="1900"/>
            </a:pPr>
            <a:r>
              <a:t>Utilizzare una collezione di Pagabile e calcolare il totale.</a:t>
            </a:r>
          </a:p>
          <a:p>
            <a:pPr>
              <a:spcAft>
                <a:spcPts val="1000"/>
              </a:spcAft>
              <a:defRPr sz="1900"/>
            </a:pPr>
            <a:r>
              <a:t>Aggiungere, se opportuno, una seconda interfaccia per un comportamento comune.</a:t>
            </a:r>
          </a:p>
          <a:p>
            <a:pPr>
              <a:spcAft>
                <a:spcPts val="1000"/>
              </a:spcAft>
              <a:defRPr sz="1900"/>
            </a:pPr>
            <a:r>
              <a:t>Obiettivo: dimostrare il vantaggio del polimorfismo rispetto al collegamento diretto alle classi concrete.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