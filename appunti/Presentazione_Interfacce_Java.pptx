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C0E24E9D-ADCB-4D3F-8414-EF85803FE101}" type="datetime">
              <a:rPr b="0" lang="it-IT" sz="1200" spc="-1" strike="noStrike">
                <a:solidFill>
                  <a:srgbClr val="8b8b8b"/>
                </a:solidFill>
                <a:latin typeface="Calibri"/>
              </a:rPr>
              <a:t>07/09/26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it-IT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FF121B45-6FF9-48F0-A4AA-BD7DBF423DF1}" type="slidenum">
              <a:rPr b="0" lang="it-IT" sz="1200" spc="-1" strike="noStrike">
                <a:solidFill>
                  <a:srgbClr val="8b8b8b"/>
                </a:solidFill>
                <a:latin typeface="Calibri"/>
              </a:rPr>
              <a:t>&lt;numero&gt;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Fai clic per modificare il formato del testo del titolo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Fai clic per modificare il formato del testo della struttura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Secondo livello struttura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Terzo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Quarto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Sesto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Settimo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4161240" y="320040"/>
            <a:ext cx="39301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Interfacce in Java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3693960" y="960120"/>
            <a:ext cx="490104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Definire contratti e progettare codice flessibile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777240" y="1371600"/>
            <a:ext cx="10698120" cy="2987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Che cos'è un'interfaccia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Definizione e implementazione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Interfacce e polimorfismo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Estensione e implementazione multipla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Default e static methods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Interfacce funzionali e lambda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Quando usarle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3364920" y="320040"/>
            <a:ext cx="55227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Che cos'è un'interfaccia?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777240" y="1371600"/>
            <a:ext cx="10698120" cy="242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Un'interfaccia definisce un contratto: stabilisce quali operazioni una classe deve offrire.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Descrive cosa deve fare un oggetto, senza imporre come farlo.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Una classe può implementare una o più interfacce.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Non si crea un oggetto di interfaccia direttamente con new.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È uno strumento fondamentale per astrazione, modularità e polimorfismo.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3638520" y="320040"/>
            <a:ext cx="49755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Definire un'interfaccia</a:t>
            </a:r>
            <a:endParaRPr b="0" lang="it-IT" sz="30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3638520" y="320040"/>
            <a:ext cx="49755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Definire un'interfaccia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822960" y="1417320"/>
            <a:ext cx="10515240" cy="29257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900" spc="-1" strike="noStrike">
                <a:solidFill>
                  <a:srgbClr val="ce181e"/>
                </a:solidFill>
                <a:latin typeface="Consolas"/>
              </a:rPr>
              <a:t>public interface Contratto {</a:t>
            </a:r>
            <a:br/>
            <a:r>
              <a:rPr b="0" lang="it-IT" sz="1900" spc="-1" strike="noStrike">
                <a:solidFill>
                  <a:srgbClr val="ce181e"/>
                </a:solidFill>
                <a:latin typeface="Consolas"/>
              </a:rPr>
              <a:t>    void obbligoUno();</a:t>
            </a:r>
            <a:br/>
            <a:r>
              <a:rPr b="0" lang="it-IT" sz="1900" spc="-1" strike="noStrike">
                <a:solidFill>
                  <a:srgbClr val="ce181e"/>
                </a:solidFill>
                <a:latin typeface="Consolas"/>
              </a:rPr>
              <a:t>    int obbligoDue(String parametro);</a:t>
            </a:r>
            <a:br/>
            <a:r>
              <a:rPr b="0" lang="it-IT" sz="1900" spc="-1" strike="noStrike">
                <a:solidFill>
                  <a:srgbClr val="ce181e"/>
                </a:solidFill>
                <a:latin typeface="Consolas"/>
              </a:rPr>
              <a:t>}</a:t>
            </a:r>
            <a:endParaRPr b="0" lang="it-IT" sz="19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49" name="CustomShape 3"/>
          <p:cNvSpPr/>
          <p:nvPr/>
        </p:nvSpPr>
        <p:spPr>
          <a:xfrm>
            <a:off x="777240" y="4572000"/>
            <a:ext cx="10698120" cy="112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I metodi astratti dell'interfaccia sono pubblici per definizione.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L'interfaccia specifica il contratto, non l'implementazione.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L'interfaccia va normalmente salvata in un file con lo stesso nome.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2984760" y="320040"/>
            <a:ext cx="6283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Implementare un'interfaccia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1" name="CustomShape 2"/>
          <p:cNvSpPr/>
          <p:nvPr/>
        </p:nvSpPr>
        <p:spPr>
          <a:xfrm>
            <a:off x="822960" y="1417320"/>
            <a:ext cx="10515240" cy="42058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public class MiaClasse implements Contratto {</a:t>
            </a:r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    @Override</a:t>
            </a:r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    public void obbligoUno() {</a:t>
            </a:r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        // implementazione</a:t>
            </a:r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    }</a:t>
            </a:r>
            <a:br/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    @Override</a:t>
            </a:r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    public int obbligoDue(String parametro) {</a:t>
            </a:r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        return 42;</a:t>
            </a:r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    }</a:t>
            </a:r>
            <a:br/>
            <a:r>
              <a:rPr b="0" lang="it-IT" sz="1600" spc="-1" strike="noStrike">
                <a:solidFill>
                  <a:srgbClr val="ce181e"/>
                </a:solidFill>
                <a:latin typeface="Consolas"/>
              </a:rPr>
              <a:t>}</a:t>
            </a:r>
            <a:endParaRPr b="0" lang="it-IT" sz="16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52" name="CustomShape 3"/>
          <p:cNvSpPr/>
          <p:nvPr/>
        </p:nvSpPr>
        <p:spPr>
          <a:xfrm>
            <a:off x="777240" y="5806440"/>
            <a:ext cx="10698120" cy="98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implements indica che la classe aderisce al contratto.</a:t>
            </a:r>
            <a:endParaRPr b="0" lang="it-IT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Una classe concreta deve implementare tutti i metodi astratti richiesti.</a:t>
            </a:r>
            <a:endParaRPr b="0" lang="it-IT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@Override aiuta il compilatore a verificare l'implementazione.</a:t>
            </a:r>
            <a:endParaRPr b="0" lang="it-IT" sz="14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3280320" y="320040"/>
            <a:ext cx="56919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Interfacce e polimorfismo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822960" y="1417320"/>
            <a:ext cx="10515240" cy="28342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800" spc="-1" strike="noStrike">
                <a:solidFill>
                  <a:srgbClr val="ce181e"/>
                </a:solidFill>
                <a:latin typeface="Consolas"/>
              </a:rPr>
              <a:t>List&lt;String&gt; nomi = new ArrayList&lt;&gt;();</a:t>
            </a:r>
            <a:br/>
            <a:br/>
            <a:r>
              <a:rPr b="0" lang="it-IT" sz="1800" spc="-1" strike="noStrike">
                <a:solidFill>
                  <a:srgbClr val="ce181e"/>
                </a:solidFill>
                <a:latin typeface="Consolas"/>
              </a:rPr>
              <a:t>nomi.add("Anna");</a:t>
            </a:r>
            <a:br/>
            <a:r>
              <a:rPr b="0" lang="it-IT" sz="1800" spc="-1" strike="noStrike">
                <a:solidFill>
                  <a:srgbClr val="ce181e"/>
                </a:solidFill>
                <a:latin typeface="Consolas"/>
              </a:rPr>
              <a:t>nomi.add("Luca");</a:t>
            </a:r>
            <a:endParaRPr b="0" lang="it-IT" sz="18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55" name="CustomShape 3"/>
          <p:cNvSpPr/>
          <p:nvPr/>
        </p:nvSpPr>
        <p:spPr>
          <a:xfrm>
            <a:off x="777240" y="4526280"/>
            <a:ext cx="10698120" cy="112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Il riferimento può avere come tipo l'interfaccia e come oggetto una classe concreta.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Questo riduce la dipendenza dall'implementazione specifica.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Le collezioni Java usano ampiamente questo principio: List, Set, Map, ecc.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3376440" y="320040"/>
            <a:ext cx="54997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Attributi nelle interfacce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822960" y="1417320"/>
            <a:ext cx="10515240" cy="21942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900" spc="-1" strike="noStrike">
                <a:solidFill>
                  <a:srgbClr val="ce181e"/>
                </a:solidFill>
                <a:latin typeface="Consolas"/>
              </a:rPr>
              <a:t>public interface Config {</a:t>
            </a:r>
            <a:br/>
            <a:r>
              <a:rPr b="0" lang="it-IT" sz="1900" spc="-1" strike="noStrike">
                <a:solidFill>
                  <a:srgbClr val="ce181e"/>
                </a:solidFill>
                <a:latin typeface="Consolas"/>
              </a:rPr>
              <a:t>    int MAX_TENTATIVI = 3;</a:t>
            </a:r>
            <a:br/>
            <a:r>
              <a:rPr b="0" lang="it-IT" sz="1900" spc="-1" strike="noStrike">
                <a:solidFill>
                  <a:srgbClr val="ce181e"/>
                </a:solidFill>
                <a:latin typeface="Consolas"/>
              </a:rPr>
              <a:t>}</a:t>
            </a:r>
            <a:endParaRPr b="0" lang="it-IT" sz="19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58" name="CustomShape 3"/>
          <p:cNvSpPr/>
          <p:nvPr/>
        </p:nvSpPr>
        <p:spPr>
          <a:xfrm>
            <a:off x="777240" y="3886200"/>
            <a:ext cx="10698120" cy="1167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Gli attributi dichiarati in un'interfaccia sono implicitamente public, static e final.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Sono quindi costanti, non variabili di istanza.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Per convenzione i nomi delle costanti sono scritti in MAIUSCOLO.</a:t>
            </a:r>
            <a:endParaRPr b="0" lang="it-IT" sz="18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4546080" y="320040"/>
            <a:ext cx="3160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Più interfacce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0" name="CustomShape 2"/>
          <p:cNvSpPr/>
          <p:nvPr/>
        </p:nvSpPr>
        <p:spPr>
          <a:xfrm>
            <a:off x="822960" y="1417320"/>
            <a:ext cx="10515240" cy="2285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800" spc="-1" strike="noStrike">
                <a:solidFill>
                  <a:srgbClr val="ce181e"/>
                </a:solidFill>
                <a:latin typeface="Consolas"/>
              </a:rPr>
              <a:t>public class Smartphone</a:t>
            </a:r>
            <a:br/>
            <a:r>
              <a:rPr b="0" lang="it-IT" sz="1800" spc="-1" strike="noStrike">
                <a:solidFill>
                  <a:srgbClr val="ce181e"/>
                </a:solidFill>
                <a:latin typeface="Consolas"/>
              </a:rPr>
              <a:t>        implements Fotocamera, GPS, Connessione {</a:t>
            </a:r>
            <a:br/>
            <a:r>
              <a:rPr b="0" lang="it-IT" sz="1800" spc="-1" strike="noStrike">
                <a:solidFill>
                  <a:srgbClr val="ce181e"/>
                </a:solidFill>
                <a:latin typeface="Consolas"/>
              </a:rPr>
              <a:t>    // ...</a:t>
            </a:r>
            <a:br/>
            <a:r>
              <a:rPr b="0" lang="it-IT" sz="1800" spc="-1" strike="noStrike">
                <a:solidFill>
                  <a:srgbClr val="ce181e"/>
                </a:solidFill>
                <a:latin typeface="Consolas"/>
              </a:rPr>
              <a:t>}</a:t>
            </a:r>
            <a:endParaRPr b="0" lang="it-IT" sz="18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61" name="CustomShape 3"/>
          <p:cNvSpPr/>
          <p:nvPr/>
        </p:nvSpPr>
        <p:spPr>
          <a:xfrm>
            <a:off x="777240" y="4069080"/>
            <a:ext cx="10698120" cy="1167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Una classe può implementare più interfacce.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Java non permette l'ereditarietà multipla tra classi.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Le interfacce permettono di combinare più contratti in una singola classe.</a:t>
            </a:r>
            <a:endParaRPr b="0" lang="it-IT" sz="18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3402360" y="320040"/>
            <a:ext cx="54478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Estendere un'interfaccia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3" name="CustomShape 2"/>
          <p:cNvSpPr/>
          <p:nvPr/>
        </p:nvSpPr>
        <p:spPr>
          <a:xfrm>
            <a:off x="822960" y="1417320"/>
            <a:ext cx="10515240" cy="3108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public interface Animale {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void mangia();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}</a:t>
            </a:r>
            <a:br/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public interface AnimaleDomestico extends Animale {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void gioca();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}</a:t>
            </a:r>
            <a:endParaRPr b="0" lang="it-IT" sz="17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64" name="CustomShape 3"/>
          <p:cNvSpPr/>
          <p:nvPr/>
        </p:nvSpPr>
        <p:spPr>
          <a:xfrm>
            <a:off x="777240" y="4709160"/>
            <a:ext cx="10698120" cy="112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Un'interfaccia può estendere una o più interfacce.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Si possono costruire gerarchie di contratti.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Una classe che implementa l'interfaccia figlia deve rispettare anche i contratti ereditati.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4241160" y="320040"/>
            <a:ext cx="37702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Default methods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6" name="CustomShape 2"/>
          <p:cNvSpPr/>
          <p:nvPr/>
        </p:nvSpPr>
        <p:spPr>
          <a:xfrm>
            <a:off x="5570280" y="960120"/>
            <a:ext cx="114876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Da Java 8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67" name="CustomShape 3"/>
          <p:cNvSpPr/>
          <p:nvPr/>
        </p:nvSpPr>
        <p:spPr>
          <a:xfrm>
            <a:off x="822960" y="1417320"/>
            <a:ext cx="10515240" cy="3108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public interface Stampabile {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void stampa();</a:t>
            </a:r>
            <a:br/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default void intestazione() {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    System.out.println("DOCUMENTO");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}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}</a:t>
            </a:r>
            <a:endParaRPr b="0" lang="it-IT" sz="17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68" name="CustomShape 4"/>
          <p:cNvSpPr/>
          <p:nvPr/>
        </p:nvSpPr>
        <p:spPr>
          <a:xfrm>
            <a:off x="777240" y="4709160"/>
            <a:ext cx="10698120" cy="131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Un metodo default possiede un'implementazione nell'interfaccia.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La classe può utilizzare l'implementazione fornita oppure ridefinirla.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Ha permesso di evolvere le API senza obbligare tutte le classi esistenti a implementare il nuovo metodo.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4556520" y="320040"/>
            <a:ext cx="313920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Metodi statici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5570280" y="960120"/>
            <a:ext cx="114876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Da Java 8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71" name="CustomShape 3"/>
          <p:cNvSpPr/>
          <p:nvPr/>
        </p:nvSpPr>
        <p:spPr>
          <a:xfrm>
            <a:off x="822960" y="1417320"/>
            <a:ext cx="10515240" cy="3108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public interface MathTools {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static int doppio(int n) {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    return n * 2;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}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}</a:t>
            </a:r>
            <a:br/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int x = MathTools.doppio(5);</a:t>
            </a:r>
            <a:endParaRPr b="0" lang="it-IT" sz="17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72" name="CustomShape 4"/>
          <p:cNvSpPr/>
          <p:nvPr/>
        </p:nvSpPr>
        <p:spPr>
          <a:xfrm>
            <a:off x="777240" y="4709160"/>
            <a:ext cx="10698120" cy="112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Un metodo static appartiene all'interfaccia.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Si richiama usando il nome dell'interfaccia.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000000"/>
                </a:solidFill>
                <a:latin typeface="Calibri"/>
              </a:rPr>
              <a:t>È utile per funzionalità di supporto strettamente legate al contratto.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4220640" y="320040"/>
            <a:ext cx="38113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Tipi di interfacce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4" name="CustomShape 2"/>
          <p:cNvSpPr/>
          <p:nvPr/>
        </p:nvSpPr>
        <p:spPr>
          <a:xfrm>
            <a:off x="777240" y="1371600"/>
            <a:ext cx="10698120" cy="20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Interfacce normali — possono contenere più metodi astratti.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Interfacce funzionali — hanno un solo metodo astratto.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Interfacce marker — non definiscono metodi astratti e servono a comunicare una caratteristica.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Le interfacce possono inoltre contenere default methods e static methods.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2635560" y="320040"/>
            <a:ext cx="69811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@FunctionalInterface e Lambda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822960" y="1417320"/>
            <a:ext cx="10515240" cy="36572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@FunctionalInterface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public interface Operazione {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int esegui(int a, int b);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}</a:t>
            </a:r>
            <a:br/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Operazione somma = (a, b) -&gt; a + b;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int risultato = somma.esegui(3, 5);</a:t>
            </a:r>
            <a:endParaRPr b="0" lang="it-IT" sz="17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777240" y="5349240"/>
            <a:ext cx="10698120" cy="107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Un'interfaccia funzionale può essere utilizzata con una lambda expression.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La lambda fornisce l'implementazione del singolo metodo astratto.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È alla base di molte API moderne di Java, come Stream e Comparator.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2910600" y="320040"/>
            <a:ext cx="64310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Interfaccia o classe astratta?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777240" y="1325880"/>
            <a:ext cx="10698120" cy="220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Classe astratta: utile quando vogliamo condividere stato, implementazione e comportamento comune.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Interfaccia: utile quando vogliamo definire un contratto che classi anche molto diverse possono rispettare.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Una classe può estendere una sola classe, ma può implementare più interfacce.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Le due tecniche possono essere usate insieme.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2883960" y="320040"/>
            <a:ext cx="64843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Quando usare un'interfaccia?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777240" y="1325880"/>
            <a:ext cx="10698120" cy="233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Quando diverse classi devono offrire lo stesso comportamento.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Quando vogliamo ridurre l'accoppiamento tra componenti.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Quando vogliamo sostituire facilmente un'implementazione con un'altra.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Quando vogliamo progettare API e componenti estensibili.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Quando il polimorfismo deve basarsi su un comportamento comune, non sulla gerarchia delle classi.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3795480" y="320040"/>
            <a:ext cx="4661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Esempio progettuale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822960" y="1417320"/>
            <a:ext cx="10515240" cy="34743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d2d2d2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82880" bIns="45000" anchor="ctr"/>
          <a:p>
            <a:pPr algn="ctr">
              <a:lnSpc>
                <a:spcPct val="100000"/>
              </a:lnSpc>
            </a:pPr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public interface Pagabile {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    double calcolaImporto();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}</a:t>
            </a:r>
            <a:br/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class Fattura implements Pagabile { ... }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class Stipendio implements Pagabile { ... }</a:t>
            </a:r>
            <a:br/>
            <a:r>
              <a:rPr b="0" lang="it-IT" sz="1700" spc="-1" strike="noStrike">
                <a:solidFill>
                  <a:srgbClr val="ce181e"/>
                </a:solidFill>
                <a:latin typeface="Consolas"/>
              </a:rPr>
              <a:t>class Abbonamento implements Pagabile { ... }</a:t>
            </a:r>
            <a:endParaRPr b="0" lang="it-IT" sz="1700" spc="-1" strike="noStrike">
              <a:solidFill>
                <a:srgbClr val="ce181e"/>
              </a:solidFill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777240" y="5257800"/>
            <a:ext cx="10698120" cy="107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Oggetti diversi possono rispettare lo stesso contratto.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Il codice che lavora con Pagabile non deve conoscere la classe concreta.</a:t>
            </a:r>
            <a:endParaRPr b="0" lang="it-IT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Questo è un esempio di programmazione verso un'astrazione.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5048280" y="320040"/>
            <a:ext cx="21560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In sintesi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777240" y="1188720"/>
            <a:ext cx="10698120" cy="31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interface → definisce un contratto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implements → una classe aderisce al contratto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extends → un'interfaccia eredita da un'altra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Una classe può implementare più interfacce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Le interfacce supportano il polimorfismo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default → metodo con implementazione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static → metodo dell'interfaccia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@FunctionalInterface + lambda → comportamento passato come valore</a:t>
            </a:r>
            <a:endParaRPr b="0" lang="it-IT" sz="18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082480" y="320040"/>
            <a:ext cx="2087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Esercizio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4646520" y="960120"/>
            <a:ext cx="2995920" cy="33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000000"/>
                </a:solidFill>
                <a:latin typeface="Calibri"/>
              </a:rPr>
              <a:t>Progettare con le interfacce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89" name="CustomShape 3"/>
          <p:cNvSpPr/>
          <p:nvPr/>
        </p:nvSpPr>
        <p:spPr>
          <a:xfrm>
            <a:off x="777240" y="1371600"/>
            <a:ext cx="10698120" cy="275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Definire un'interfaccia Pagabile con un metodo per calcolare un importo.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Creare almeno tre classi concrete che implementino l'interfaccia.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Gestire gli oggetti attraverso riferimenti di tipo Pagabile.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Utilizzare una collezione di Pagabile e calcolare il totale.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Aggiungere, se opportuno, una seconda interfaccia per un comportamento comune.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000000"/>
                </a:solidFill>
                <a:latin typeface="Calibri"/>
              </a:rPr>
              <a:t>Obiettivo: dimostrare il vantaggio del polimorfismo rispetto al collegamento diretto alle classi concrete.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LibreOffice/6.0.7.3$Linux_X86_64 LibreOffice_project/00m0$Build-3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2026-09-07T21:00:21Z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