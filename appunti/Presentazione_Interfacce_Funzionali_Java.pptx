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.xml.rels" ContentType="application/vnd.openxmlformats-package.relationships+xml"/>
  <Override PartName="/ppt/slides/_rels/slide9.xml.rels" ContentType="application/vnd.openxmlformats-package.relationships+xml"/>
  <Override PartName="/ppt/slides/_rels/slide2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it-IT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it-IT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/>
          <a:p>
            <a:pPr>
              <a:lnSpc>
                <a:spcPct val="100000"/>
              </a:lnSpc>
            </a:pPr>
            <a:fld id="{C156E59E-76E4-4F19-A44A-384E3DFDFEA9}" type="datetime">
              <a:rPr b="0" lang="it-IT" sz="1200" spc="-1" strike="noStrike">
                <a:solidFill>
                  <a:srgbClr val="8b8b8b"/>
                </a:solidFill>
                <a:latin typeface="Calibri"/>
              </a:rPr>
              <a:t>07/09/26</a:t>
            </a:fld>
            <a:endParaRPr b="0" lang="it-IT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/>
          <a:p>
            <a:endParaRPr b="0" lang="it-IT" sz="2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/>
          <a:p>
            <a:pPr algn="r">
              <a:lnSpc>
                <a:spcPct val="100000"/>
              </a:lnSpc>
            </a:pPr>
            <a:fld id="{80F4819A-DEEE-4F08-B8C0-2C346BF50B8F}" type="slidenum">
              <a:rPr b="0" lang="it-IT" sz="1200" spc="-1" strike="noStrike">
                <a:solidFill>
                  <a:srgbClr val="8b8b8b"/>
                </a:solidFill>
                <a:latin typeface="Calibri"/>
              </a:rPr>
              <a:t>&lt;numero&gt;</a:t>
            </a:fld>
            <a:endParaRPr b="0" lang="it-IT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Fai clic per modificare il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formato del testo del titolo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Fai clic per modificare il formato del testo della struttura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Secondo livello struttura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Terzo livello struttura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Quarto livello struttura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Quinto livello struttura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Sesto livello struttura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Settimo livello struttura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CustomShape 1"/>
          <p:cNvSpPr/>
          <p:nvPr/>
        </p:nvSpPr>
        <p:spPr>
          <a:xfrm>
            <a:off x="3037320" y="320040"/>
            <a:ext cx="617796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Interfacce funzionali in Java</a:t>
            </a:r>
            <a:endParaRPr b="0" lang="it-IT" sz="3000" spc="-1" strike="noStrike">
              <a:latin typeface="Arial"/>
            </a:endParaRPr>
          </a:p>
        </p:txBody>
      </p:sp>
      <p:sp>
        <p:nvSpPr>
          <p:cNvPr id="42" name="CustomShape 2"/>
          <p:cNvSpPr/>
          <p:nvPr/>
        </p:nvSpPr>
        <p:spPr>
          <a:xfrm>
            <a:off x="4038480" y="960120"/>
            <a:ext cx="421200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Lambda expressions e java.util.function</a:t>
            </a:r>
            <a:endParaRPr b="0" lang="it-IT" sz="1600" spc="-1" strike="noStrike">
              <a:latin typeface="Arial"/>
            </a:endParaRPr>
          </a:p>
        </p:txBody>
      </p:sp>
      <p:sp>
        <p:nvSpPr>
          <p:cNvPr id="43" name="CustomShape 3"/>
          <p:cNvSpPr/>
          <p:nvPr/>
        </p:nvSpPr>
        <p:spPr>
          <a:xfrm>
            <a:off x="777240" y="1371600"/>
            <a:ext cx="10698120" cy="309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Che cos'è un'interfaccia funzionale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@FunctionalInterface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Lambda expressions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Passare una funzionalità come argomento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Predicate, Consumer, Supplier, Function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Composizione delle funzionalità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Esempi con collezioni e Stream</a:t>
            </a:r>
            <a:endParaRPr b="0" lang="it-IT" sz="2100" spc="-1" strike="noStrike">
              <a:latin typeface="Arial"/>
            </a:endParaRPr>
          </a:p>
        </p:txBody>
      </p:sp>
    </p:spTree>
  </p:cSld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stomShape 1"/>
          <p:cNvSpPr/>
          <p:nvPr/>
        </p:nvSpPr>
        <p:spPr>
          <a:xfrm>
            <a:off x="2176920" y="320040"/>
            <a:ext cx="789876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Che cos'è un'interfaccia funzionale?</a:t>
            </a:r>
            <a:endParaRPr b="0" lang="it-IT" sz="3000" spc="-1" strike="noStrike">
              <a:latin typeface="Arial"/>
            </a:endParaRPr>
          </a:p>
        </p:txBody>
      </p:sp>
      <p:sp>
        <p:nvSpPr>
          <p:cNvPr id="45" name="CustomShape 2"/>
          <p:cNvSpPr/>
          <p:nvPr/>
        </p:nvSpPr>
        <p:spPr>
          <a:xfrm>
            <a:off x="777240" y="1371600"/>
            <a:ext cx="10698120" cy="1996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È un'interfaccia che contiene un solo metodo astratto.</a:t>
            </a:r>
            <a:endParaRPr b="0" lang="it-IT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Quel metodo rappresenta il comportamento/contratto che può essere fornito dal chiamante.</a:t>
            </a:r>
            <a:endParaRPr b="0" lang="it-IT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Può avere anche metodi default e static: il vincolo riguarda i metodi astratti.</a:t>
            </a:r>
            <a:endParaRPr b="0" lang="it-IT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È strettamente collegata alle espressioni lambda.</a:t>
            </a:r>
            <a:endParaRPr b="0" lang="it-IT" sz="2000" spc="-1" strike="noStrike">
              <a:latin typeface="Arial"/>
            </a:endParaRPr>
          </a:p>
        </p:txBody>
      </p:sp>
    </p:spTree>
  </p:cSld>
  <p:timing>
    <p:tnLst>
      <p:par>
        <p:cTn id="3" dur="indefinite" restart="never" nodeType="tmRoot">
          <p:childTnLst>
            <p:seq>
              <p:cTn id="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3747240" y="320040"/>
            <a:ext cx="475776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@FunctionalInterface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822960" y="1417320"/>
            <a:ext cx="10515240" cy="27428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900" spc="-1" strike="noStrike">
                <a:solidFill>
                  <a:srgbClr val="000000"/>
                </a:solidFill>
                <a:latin typeface="Consolas"/>
              </a:rPr>
              <a:t>@FunctionalInterface</a:t>
            </a:r>
            <a:br/>
            <a:r>
              <a:rPr b="0" lang="it-IT" sz="1900" spc="-1" strike="noStrike">
                <a:solidFill>
                  <a:srgbClr val="000000"/>
                </a:solidFill>
                <a:latin typeface="Consolas"/>
              </a:rPr>
              <a:t>public interface OperazioneMatematica {</a:t>
            </a:r>
            <a:br/>
            <a:r>
              <a:rPr b="0" lang="it-IT" sz="1900" spc="-1" strike="noStrike">
                <a:solidFill>
                  <a:srgbClr val="000000"/>
                </a:solidFill>
                <a:latin typeface="Consolas"/>
              </a:rPr>
              <a:t>    int eseguiOperazione(int a, int b);</a:t>
            </a:r>
            <a:br/>
            <a:r>
              <a:rPr b="0" lang="it-IT" sz="1900" spc="-1" strike="noStrike">
                <a:solidFill>
                  <a:srgbClr val="000000"/>
                </a:solidFill>
                <a:latin typeface="Consolas"/>
              </a:rPr>
              <a:t>}</a:t>
            </a:r>
            <a:endParaRPr b="0" lang="it-IT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777240" y="4434840"/>
            <a:ext cx="10698120" cy="1167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@FunctionalInterface è opzionale ma consigliata.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Il compilatore verifica che l'interfaccia abbia un solo metodo astratto.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Se il contratto viene violato, viene segnalato un errore di compilazione.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5" dur="indefinite" restart="never" nodeType="tmRoot">
          <p:childTnLst>
            <p:seq>
              <p:cTn id="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ustomShape 1"/>
          <p:cNvSpPr/>
          <p:nvPr/>
        </p:nvSpPr>
        <p:spPr>
          <a:xfrm>
            <a:off x="3948480" y="320040"/>
            <a:ext cx="435528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Lambda expression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CustomShape 2"/>
          <p:cNvSpPr/>
          <p:nvPr/>
        </p:nvSpPr>
        <p:spPr>
          <a:xfrm>
            <a:off x="822960" y="1417320"/>
            <a:ext cx="10515240" cy="24685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900" spc="-1" strike="noStrike">
                <a:solidFill>
                  <a:srgbClr val="000000"/>
                </a:solidFill>
                <a:latin typeface="Consolas"/>
              </a:rPr>
              <a:t>OperazioneMatematica somma = (a, b) -&gt; a + b;</a:t>
            </a:r>
            <a:br/>
            <a:br/>
            <a:r>
              <a:rPr b="0" lang="it-IT" sz="1900" spc="-1" strike="noStrike">
                <a:solidFill>
                  <a:srgbClr val="000000"/>
                </a:solidFill>
                <a:latin typeface="Consolas"/>
              </a:rPr>
              <a:t>int risultato = somma.eseguiOperazione(3, 5);</a:t>
            </a:r>
            <a:endParaRPr b="0" lang="it-IT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CustomShape 3"/>
          <p:cNvSpPr/>
          <p:nvPr/>
        </p:nvSpPr>
        <p:spPr>
          <a:xfrm>
            <a:off x="777240" y="4160520"/>
            <a:ext cx="10698120" cy="1441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La lambda fornisce l'implementazione del metodo astratto.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La sintassi elimina il codice ripetitivo di una classe anonima.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Il tipo della lambda è determinato dal contesto: deve essere un'interfaccia funzionale compatibile.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7" dur="indefinite" restart="never" nodeType="tmRoot">
          <p:childTnLst>
            <p:seq>
              <p:cTn id="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2973240" y="320040"/>
            <a:ext cx="630612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Da classe anonima a lambda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CustomShape 2"/>
          <p:cNvSpPr/>
          <p:nvPr/>
        </p:nvSpPr>
        <p:spPr>
          <a:xfrm>
            <a:off x="822960" y="1417320"/>
            <a:ext cx="10515240" cy="31086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500" spc="-1" strike="noStrike">
                <a:solidFill>
                  <a:srgbClr val="000000"/>
                </a:solidFill>
                <a:latin typeface="Consolas"/>
              </a:rPr>
              <a:t>Comparator&lt;Utente&gt; comparator = new Comparator&lt;Utente&gt;() {</a:t>
            </a:r>
            <a:br/>
            <a:r>
              <a:rPr b="0" lang="it-IT" sz="1500" spc="-1" strike="noStrike">
                <a:solidFill>
                  <a:srgbClr val="000000"/>
                </a:solidFill>
                <a:latin typeface="Consolas"/>
              </a:rPr>
              <a:t>    @Override</a:t>
            </a:r>
            <a:br/>
            <a:r>
              <a:rPr b="0" lang="it-IT" sz="1500" spc="-1" strike="noStrike">
                <a:solidFill>
                  <a:srgbClr val="000000"/>
                </a:solidFill>
                <a:latin typeface="Consolas"/>
              </a:rPr>
              <a:t>    public int compare(Utente u1, Utente u2) {</a:t>
            </a:r>
            <a:br/>
            <a:r>
              <a:rPr b="0" lang="it-IT" sz="1500" spc="-1" strike="noStrike">
                <a:solidFill>
                  <a:srgbClr val="000000"/>
                </a:solidFill>
                <a:latin typeface="Consolas"/>
              </a:rPr>
              <a:t>        return u1.getId().compareTo(u2.getId());</a:t>
            </a:r>
            <a:br/>
            <a:r>
              <a:rPr b="0" lang="it-IT" sz="1500" spc="-1" strike="noStrike">
                <a:solidFill>
                  <a:srgbClr val="000000"/>
                </a:solidFill>
                <a:latin typeface="Consolas"/>
              </a:rPr>
              <a:t>    }</a:t>
            </a:r>
            <a:br/>
            <a:r>
              <a:rPr b="0" lang="it-IT" sz="1500" spc="-1" strike="noStrike">
                <a:solidFill>
                  <a:srgbClr val="000000"/>
                </a:solidFill>
                <a:latin typeface="Consolas"/>
              </a:rPr>
              <a:t>};</a:t>
            </a:r>
            <a:endParaRPr b="0" lang="it-I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CustomShape 3"/>
          <p:cNvSpPr/>
          <p:nvPr/>
        </p:nvSpPr>
        <p:spPr>
          <a:xfrm>
            <a:off x="822960" y="4800600"/>
            <a:ext cx="10515240" cy="12798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Comparator&lt;Utente&gt; comparator =</a:t>
            </a:r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    (u1, u2) -&gt; u1.getId().compareTo(u2.getId());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9" dur="indefinite" restart="never" nodeType="tmRoot">
          <p:childTnLst>
            <p:seq>
              <p:cTn id="1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CustomShape 1"/>
          <p:cNvSpPr/>
          <p:nvPr/>
        </p:nvSpPr>
        <p:spPr>
          <a:xfrm>
            <a:off x="3382560" y="320040"/>
            <a:ext cx="548748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Passare una funzionalità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CustomShape 2"/>
          <p:cNvSpPr/>
          <p:nvPr/>
        </p:nvSpPr>
        <p:spPr>
          <a:xfrm>
            <a:off x="2893320" y="960120"/>
            <a:ext cx="65026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Non passiamo solo dati: possiamo passare un comportamento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CustomShape 3"/>
          <p:cNvSpPr/>
          <p:nvPr/>
        </p:nvSpPr>
        <p:spPr>
          <a:xfrm>
            <a:off x="822960" y="1417320"/>
            <a:ext cx="10515240" cy="301716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700" spc="-1" strike="noStrike">
                <a:solidFill>
                  <a:srgbClr val="000000"/>
                </a:solidFill>
                <a:latin typeface="Consolas"/>
              </a:rPr>
              <a:t>Runnable calcolaMedia = () -&gt; {</a:t>
            </a:r>
            <a:br/>
            <a:r>
              <a:rPr b="0" lang="it-IT" sz="1700" spc="-1" strike="noStrike">
                <a:solidFill>
                  <a:srgbClr val="000000"/>
                </a:solidFill>
                <a:latin typeface="Consolas"/>
              </a:rPr>
              <a:t>    // calcola la media dei voti</a:t>
            </a:r>
            <a:br/>
            <a:r>
              <a:rPr b="0" lang="it-IT" sz="1700" spc="-1" strike="noStrike">
                <a:solidFill>
                  <a:srgbClr val="000000"/>
                </a:solidFill>
                <a:latin typeface="Consolas"/>
              </a:rPr>
              <a:t>};</a:t>
            </a:r>
            <a:br/>
            <a:br/>
            <a:r>
              <a:rPr b="0" lang="it-IT" sz="1700" spc="-1" strike="noStrike">
                <a:solidFill>
                  <a:srgbClr val="000000"/>
                </a:solidFill>
                <a:latin typeface="Consolas"/>
              </a:rPr>
              <a:t>thread.submit(calcolaMedia);</a:t>
            </a:r>
            <a:endParaRPr b="0" lang="it-IT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CustomShape 4"/>
          <p:cNvSpPr/>
          <p:nvPr/>
        </p:nvSpPr>
        <p:spPr>
          <a:xfrm>
            <a:off x="777240" y="4754880"/>
            <a:ext cx="10698120" cy="735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700" spc="-1" strike="noStrike">
                <a:solidFill>
                  <a:srgbClr val="000000"/>
                </a:solidFill>
                <a:latin typeface="Calibri"/>
              </a:rPr>
              <a:t>Runnable è una interfaccia funzionale con il metodo void run().</a:t>
            </a:r>
            <a:endParaRPr b="0" lang="it-IT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700" spc="-1" strike="noStrike">
                <a:solidFill>
                  <a:srgbClr val="000000"/>
                </a:solidFill>
                <a:latin typeface="Calibri"/>
              </a:rPr>
              <a:t>La funzionalità può essere memorizzata in una variabile e passata a un metodo.</a:t>
            </a:r>
            <a:endParaRPr b="0" lang="it-IT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11" dur="indefinite" restart="never" nodeType="tmRoot">
          <p:childTnLst>
            <p:seq>
              <p:cTn id="1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CustomShape 1"/>
          <p:cNvSpPr/>
          <p:nvPr/>
        </p:nvSpPr>
        <p:spPr>
          <a:xfrm>
            <a:off x="1388160" y="320040"/>
            <a:ext cx="947592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Le principali interfacce di java.util.function</a:t>
            </a:r>
            <a:endParaRPr b="0" lang="it-IT" sz="3000" spc="-1" strike="noStrike">
              <a:latin typeface="Arial"/>
            </a:endParaRPr>
          </a:p>
        </p:txBody>
      </p:sp>
      <p:sp>
        <p:nvSpPr>
          <p:cNvPr id="60" name="CustomShape 2"/>
          <p:cNvSpPr/>
          <p:nvPr/>
        </p:nvSpPr>
        <p:spPr>
          <a:xfrm>
            <a:off x="777240" y="1417320"/>
            <a:ext cx="10698120" cy="2198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Predicate&lt;T&gt; → riceve T e restituisce boolean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Consumer&lt;T&gt; → riceve T e non restituisce un valore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Supplier&lt;T&gt; → non riceve argomenti e fornisce T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Function&lt;T,R&gt; → riceve T e restituisce R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Queste interfacce sono generiche e pensate per operazioni molto comuni.</a:t>
            </a:r>
            <a:endParaRPr b="0" lang="it-IT" sz="2100" spc="-1" strike="noStrike">
              <a:latin typeface="Arial"/>
            </a:endParaRPr>
          </a:p>
        </p:txBody>
      </p:sp>
    </p:spTree>
  </p:cSld>
  <p:timing>
    <p:tnLst>
      <p:par>
        <p:cTn id="13" dur="indefinite" restart="never" nodeType="tmRoot">
          <p:childTnLst>
            <p:seq>
              <p:cTn id="1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4559760" y="320040"/>
            <a:ext cx="313308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Predicate&lt;T&gt;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CustomShape 2"/>
          <p:cNvSpPr/>
          <p:nvPr/>
        </p:nvSpPr>
        <p:spPr>
          <a:xfrm>
            <a:off x="4013280" y="960120"/>
            <a:ext cx="426240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Una condizione che produce true o false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CustomShape 3"/>
          <p:cNvSpPr/>
          <p:nvPr/>
        </p:nvSpPr>
        <p:spPr>
          <a:xfrm>
            <a:off x="822960" y="1417320"/>
            <a:ext cx="10515240" cy="255996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800" spc="-1" strike="noStrike">
                <a:solidFill>
                  <a:srgbClr val="000000"/>
                </a:solidFill>
                <a:latin typeface="Consolas"/>
              </a:rPr>
              <a:t>Predicate&lt;String&gt; lunga = s -&gt; s.length() &gt; 4;</a:t>
            </a:r>
            <a:br/>
            <a:br/>
            <a:r>
              <a:rPr b="0" lang="it-IT" sz="1800" spc="-1" strike="noStrike">
                <a:solidFill>
                  <a:srgbClr val="000000"/>
                </a:solidFill>
                <a:latin typeface="Consolas"/>
              </a:rPr>
              <a:t>boolean risultato = lunga.test("Java");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CustomShape 4"/>
          <p:cNvSpPr/>
          <p:nvPr/>
        </p:nvSpPr>
        <p:spPr>
          <a:xfrm>
            <a:off x="777240" y="4206240"/>
            <a:ext cx="10698120" cy="1167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Metodo astratto: boolean test(T t)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Utile per condizioni, filtri e selezioni.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I predicati possono essere combinati con and(), or() e negate().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15" dur="indefinite" restart="never" nodeType="tmRoot">
          <p:childTnLst>
            <p:seq>
              <p:cTn id="1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ustomShape 1"/>
          <p:cNvSpPr/>
          <p:nvPr/>
        </p:nvSpPr>
        <p:spPr>
          <a:xfrm>
            <a:off x="3889080" y="320040"/>
            <a:ext cx="447408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Comporre Predicate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CustomShape 2"/>
          <p:cNvSpPr/>
          <p:nvPr/>
        </p:nvSpPr>
        <p:spPr>
          <a:xfrm>
            <a:off x="822960" y="1417320"/>
            <a:ext cx="10515240" cy="27428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700" spc="-1" strike="noStrike">
                <a:solidFill>
                  <a:srgbClr val="000000"/>
                </a:solidFill>
                <a:latin typeface="Consolas"/>
              </a:rPr>
              <a:t>Predicate&lt;Integer&gt; positivo = n -&gt; n &gt; 0;</a:t>
            </a:r>
            <a:br/>
            <a:r>
              <a:rPr b="0" lang="it-IT" sz="1700" spc="-1" strike="noStrike">
                <a:solidFill>
                  <a:srgbClr val="000000"/>
                </a:solidFill>
                <a:latin typeface="Consolas"/>
              </a:rPr>
              <a:t>Predicate&lt;Integer&gt; piccolo = n -&gt; n &lt; 10;</a:t>
            </a:r>
            <a:br/>
            <a:br/>
            <a:r>
              <a:rPr b="0" lang="it-IT" sz="1700" spc="-1" strike="noStrike">
                <a:solidFill>
                  <a:srgbClr val="000000"/>
                </a:solidFill>
                <a:latin typeface="Consolas"/>
              </a:rPr>
              <a:t>Predicate&lt;Integer&gt; valido = positivo.and(piccolo);</a:t>
            </a:r>
            <a:endParaRPr b="0" lang="it-IT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CustomShape 3"/>
          <p:cNvSpPr/>
          <p:nvPr/>
        </p:nvSpPr>
        <p:spPr>
          <a:xfrm>
            <a:off x="777240" y="4434840"/>
            <a:ext cx="10698120" cy="766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I comportamenti possono essere composti invece di riscrivere la condizione.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Metodi principali: and(), or(), negate().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17" dur="indefinite" restart="never" nodeType="tmRoot">
          <p:childTnLst>
            <p:seq>
              <p:cTn id="1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CustomShape 1"/>
          <p:cNvSpPr/>
          <p:nvPr/>
        </p:nvSpPr>
        <p:spPr>
          <a:xfrm>
            <a:off x="4510080" y="320040"/>
            <a:ext cx="323208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Consumer&lt;T&gt;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CustomShape 2"/>
          <p:cNvSpPr/>
          <p:nvPr/>
        </p:nvSpPr>
        <p:spPr>
          <a:xfrm>
            <a:off x="4492080" y="960120"/>
            <a:ext cx="330516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Un'azione che riceve un valore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CustomShape 3"/>
          <p:cNvSpPr/>
          <p:nvPr/>
        </p:nvSpPr>
        <p:spPr>
          <a:xfrm>
            <a:off x="822960" y="1417320"/>
            <a:ext cx="10515240" cy="26514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800" spc="-1" strike="noStrike">
                <a:solidFill>
                  <a:srgbClr val="000000"/>
                </a:solidFill>
                <a:latin typeface="Consolas"/>
              </a:rPr>
              <a:t>Consumer&lt;String&gt; stampa =</a:t>
            </a:r>
            <a:br/>
            <a:r>
              <a:rPr b="0" lang="it-IT" sz="1800" spc="-1" strike="noStrike">
                <a:solidFill>
                  <a:srgbClr val="000000"/>
                </a:solidFill>
                <a:latin typeface="Consolas"/>
              </a:rPr>
              <a:t>    s -&gt; System.out.println("Messaggio: " + s);</a:t>
            </a:r>
            <a:br/>
            <a:br/>
            <a:r>
              <a:rPr b="0" lang="it-IT" sz="1800" spc="-1" strike="noStrike">
                <a:solidFill>
                  <a:srgbClr val="000000"/>
                </a:solidFill>
                <a:latin typeface="Consolas"/>
              </a:rPr>
              <a:t>stampa.accept("Hello");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CustomShape 4"/>
          <p:cNvSpPr/>
          <p:nvPr/>
        </p:nvSpPr>
        <p:spPr>
          <a:xfrm>
            <a:off x="777240" y="4297680"/>
            <a:ext cx="10698120" cy="1167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Metodo astratto: void accept(T t)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Non restituisce un risultato.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È particolarmente utile con forEach() e con le collezioni.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19" dur="indefinite" restart="never" nodeType="tmRoot">
          <p:childTnLst>
            <p:seq>
              <p:cTn id="2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CustomShape 1"/>
          <p:cNvSpPr/>
          <p:nvPr/>
        </p:nvSpPr>
        <p:spPr>
          <a:xfrm>
            <a:off x="4686840" y="320040"/>
            <a:ext cx="287856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Supplier&lt;T&gt;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CustomShape 2"/>
          <p:cNvSpPr/>
          <p:nvPr/>
        </p:nvSpPr>
        <p:spPr>
          <a:xfrm>
            <a:off x="3803040" y="960120"/>
            <a:ext cx="468288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Fornisce un valore senza ricevere argomenti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CustomShape 3"/>
          <p:cNvSpPr/>
          <p:nvPr/>
        </p:nvSpPr>
        <p:spPr>
          <a:xfrm>
            <a:off x="822960" y="1417320"/>
            <a:ext cx="10515240" cy="24685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800" spc="-1" strike="noStrike">
                <a:solidFill>
                  <a:srgbClr val="000000"/>
                </a:solidFill>
                <a:latin typeface="Consolas"/>
              </a:rPr>
              <a:t>Supplier&lt;Double&gt; casuale = () -&gt; Math.random();</a:t>
            </a:r>
            <a:br/>
            <a:br/>
            <a:r>
              <a:rPr b="0" lang="it-IT" sz="1800" spc="-1" strike="noStrike">
                <a:solidFill>
                  <a:srgbClr val="000000"/>
                </a:solidFill>
                <a:latin typeface="Consolas"/>
              </a:rPr>
              <a:t>Double valore = casuale.get();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CustomShape 4"/>
          <p:cNvSpPr/>
          <p:nvPr/>
        </p:nvSpPr>
        <p:spPr>
          <a:xfrm>
            <a:off x="777240" y="4114800"/>
            <a:ext cx="10698120" cy="1167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Metodo astratto: T get()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Utile quando il valore deve essere prodotto solo quando richiesto.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Può essere usato per generazione dinamica e lazy evaluation.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21" dur="indefinite" restart="never" nodeType="tmRoot">
          <p:childTnLst>
            <p:seq>
              <p:cTn id="2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4466880" y="320040"/>
            <a:ext cx="33188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Function&lt;T,R&gt;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4496400" y="960120"/>
            <a:ext cx="329616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Trasforma un valore in un altro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CustomShape 3"/>
          <p:cNvSpPr/>
          <p:nvPr/>
        </p:nvSpPr>
        <p:spPr>
          <a:xfrm>
            <a:off x="822960" y="1417320"/>
            <a:ext cx="10515240" cy="26514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800" spc="-1" strike="noStrike">
                <a:solidFill>
                  <a:srgbClr val="000000"/>
                </a:solidFill>
                <a:latin typeface="Consolas"/>
              </a:rPr>
              <a:t>Function&lt;String, Integer&gt; lunghezza =</a:t>
            </a:r>
            <a:br/>
            <a:r>
              <a:rPr b="0" lang="it-IT" sz="1800" spc="-1" strike="noStrike">
                <a:solidFill>
                  <a:srgbClr val="000000"/>
                </a:solidFill>
                <a:latin typeface="Consolas"/>
              </a:rPr>
              <a:t>    s -&gt; s.length();</a:t>
            </a:r>
            <a:br/>
            <a:br/>
            <a:r>
              <a:rPr b="0" lang="it-IT" sz="1800" spc="-1" strike="noStrike">
                <a:solidFill>
                  <a:srgbClr val="000000"/>
                </a:solidFill>
                <a:latin typeface="Consolas"/>
              </a:rPr>
              <a:t>Integer n = lunghezza.apply("Java");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CustomShape 4"/>
          <p:cNvSpPr/>
          <p:nvPr/>
        </p:nvSpPr>
        <p:spPr>
          <a:xfrm>
            <a:off x="777240" y="4297680"/>
            <a:ext cx="10698120" cy="1167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Metodo astratto: R apply(T t)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T è il tipo di input, R il tipo di output.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È molto usata per trasformare dati e con Stream.map().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23" dur="indefinite" restart="never" nodeType="tmRoot">
          <p:childTnLst>
            <p:seq>
              <p:cTn id="2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3988080" y="320040"/>
            <a:ext cx="427608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Comporre Function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822960" y="1417320"/>
            <a:ext cx="10515240" cy="33829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Function&lt;String, Integer&gt; lunghezza = s -&gt; s.length();</a:t>
            </a:r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Function&lt;Integer, String&gt; descrivi =</a:t>
            </a:r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    n -&gt; "La lunghezza è " + n;</a:t>
            </a:r>
            <a:br/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Function&lt;String, String&gt; completa =</a:t>
            </a:r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    lunghezza.andThen(descrivi);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CustomShape 3"/>
          <p:cNvSpPr/>
          <p:nvPr/>
        </p:nvSpPr>
        <p:spPr>
          <a:xfrm>
            <a:off x="777240" y="5212080"/>
            <a:ext cx="10698120" cy="704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andThen() applica prima una funzione e poi l'altra.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Le funzioni possono essere concatenate per costruire trasformazioni più complesse.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25" dur="indefinite" restart="never" nodeType="tmRoot">
          <p:childTnLst>
            <p:seq>
              <p:cTn id="2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CustomShape 1"/>
          <p:cNvSpPr/>
          <p:nvPr/>
        </p:nvSpPr>
        <p:spPr>
          <a:xfrm>
            <a:off x="2548080" y="320040"/>
            <a:ext cx="71564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Interfacce funzionali e collezioni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CustomShape 2"/>
          <p:cNvSpPr/>
          <p:nvPr/>
        </p:nvSpPr>
        <p:spPr>
          <a:xfrm>
            <a:off x="822960" y="1417320"/>
            <a:ext cx="10515240" cy="347436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List&lt;String&gt; nomi = Arrays.asList("Alice", "Bob", "Charlie");</a:t>
            </a:r>
            <a:br/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Consumer&lt;String&gt; stampa = nome -&gt;</a:t>
            </a:r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    System.out.println(nome);</a:t>
            </a:r>
            <a:br/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nomi.forEach(stampa);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CustomShape 3"/>
          <p:cNvSpPr/>
          <p:nvPr/>
        </p:nvSpPr>
        <p:spPr>
          <a:xfrm>
            <a:off x="777240" y="5257800"/>
            <a:ext cx="10698120" cy="704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Le lambda rendono concise operazioni comuni sulle collezioni.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Predicate è utile per filtrare; Consumer per elaborare; Function per trasformare.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27" dur="indefinite" restart="never" nodeType="tmRoot">
          <p:childTnLst>
            <p:seq>
              <p:cTn id="2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3362400" y="320040"/>
            <a:ext cx="55274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Predicate con removeIf()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822960" y="1417320"/>
            <a:ext cx="10515240" cy="347436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Predicate&lt;Utente&gt; assente = utente -&gt; utente.isAssente();</a:t>
            </a:r>
            <a:br/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utenti.removeIf(assente);</a:t>
            </a:r>
            <a:br/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// equivalente in forma compatta</a:t>
            </a:r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utenti.removeIf(utente -&gt; utente.isAssente());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CustomShape 3"/>
          <p:cNvSpPr/>
          <p:nvPr/>
        </p:nvSpPr>
        <p:spPr>
          <a:xfrm>
            <a:off x="777240" y="5349240"/>
            <a:ext cx="1069812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removeIf() riceve un Predicate e rimuove gli elementi per cui la condizione è vera.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29" dur="indefinite" restart="never" nodeType="tmRoot">
          <p:childTnLst>
            <p:seq>
              <p:cTn id="3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ustomShape 1"/>
          <p:cNvSpPr/>
          <p:nvPr/>
        </p:nvSpPr>
        <p:spPr>
          <a:xfrm>
            <a:off x="2998440" y="320040"/>
            <a:ext cx="625572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Lambda e method reference</a:t>
            </a:r>
            <a:endParaRPr b="0" lang="it-IT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822960" y="1417320"/>
            <a:ext cx="10515240" cy="32000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2d2d2"/>
            </a:solidFill>
            <a:round/>
          </a:ln>
          <a:effectLst>
            <a:outerShdw blurRad="40000" dir="5400000" dist="23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90000" tIns="182880" bIns="45000" anchor="ctr"/>
          <a:p>
            <a:pPr algn="ctr"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Consumer&lt;Utente&gt; stampa = u -&gt; stampaUtente(u);</a:t>
            </a:r>
            <a:br/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// method reference</a:t>
            </a:r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Consumer&lt;Utente&gt; stampa = Classe::stampaUtente;</a:t>
            </a:r>
            <a:br/>
            <a:br/>
            <a:r>
              <a:rPr b="0" lang="it-IT" sz="1600" spc="-1" strike="noStrike">
                <a:solidFill>
                  <a:srgbClr val="000000"/>
                </a:solidFill>
                <a:latin typeface="Consolas"/>
              </a:rPr>
              <a:t>utenti.forEach(stampa);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CustomShape 3"/>
          <p:cNvSpPr/>
          <p:nvPr/>
        </p:nvSpPr>
        <p:spPr>
          <a:xfrm>
            <a:off x="777240" y="4937760"/>
            <a:ext cx="10698120" cy="947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Quando una lambda si limita a chiamare un metodo compatibile, è possibile usare una method reference.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Sintassi: oggetto::metodo oppure Classe::metodo.</a:t>
            </a:r>
            <a:endParaRPr b="0" lang="it-IT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iming>
    <p:tnLst>
      <p:par>
        <p:cTn id="31" dur="indefinite" restart="never" nodeType="tmRoot">
          <p:childTnLst>
            <p:seq>
              <p:cTn id="3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678680" y="320040"/>
            <a:ext cx="88952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Interfacce funzionali già presenti in Java</a:t>
            </a:r>
            <a:endParaRPr b="0" lang="it-IT" sz="3000" spc="-1" strike="noStrike"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777240" y="1417320"/>
            <a:ext cx="10698120" cy="2198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Runnable → void run()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Callable&lt;V&gt; → V call() throws Exception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Comparator&lt;T&gt; → int compare(T o1, T o2)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Queste interfacce esistevano già prima di Java 8.</a:t>
            </a:r>
            <a:endParaRPr b="0" lang="it-IT" sz="21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100" spc="-1" strike="noStrike">
                <a:solidFill>
                  <a:srgbClr val="000000"/>
                </a:solidFill>
                <a:latin typeface="Calibri"/>
              </a:rPr>
              <a:t>Java 8 ha reso possibile utilizzarle direttamente con le lambda.</a:t>
            </a:r>
            <a:endParaRPr b="0" lang="it-IT" sz="2100" spc="-1" strike="noStrike">
              <a:latin typeface="Arial"/>
            </a:endParaRPr>
          </a:p>
        </p:txBody>
      </p:sp>
    </p:spTree>
  </p:cSld>
  <p:timing>
    <p:tnLst>
      <p:par>
        <p:cTn id="33" dur="indefinite" restart="never" nodeType="tmRoot">
          <p:childTnLst>
            <p:seq>
              <p:cTn id="3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1"/>
          <p:cNvSpPr/>
          <p:nvPr/>
        </p:nvSpPr>
        <p:spPr>
          <a:xfrm>
            <a:off x="4370760" y="320040"/>
            <a:ext cx="351108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Mappa mentale</a:t>
            </a:r>
            <a:endParaRPr b="0" lang="it-IT" sz="3000" spc="-1" strike="noStrike">
              <a:latin typeface="Arial"/>
            </a:endParaRPr>
          </a:p>
        </p:txBody>
      </p:sp>
      <p:sp>
        <p:nvSpPr>
          <p:cNvPr id="95" name="CustomShape 2"/>
          <p:cNvSpPr/>
          <p:nvPr/>
        </p:nvSpPr>
        <p:spPr>
          <a:xfrm>
            <a:off x="777240" y="1280160"/>
            <a:ext cx="10698120" cy="2987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Una interfaccia funzionale definisce un solo metodo astratto.</a:t>
            </a:r>
            <a:endParaRPr b="0" lang="it-IT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Una lambda fornisce quel comportamento in forma concisa.</a:t>
            </a:r>
            <a:endParaRPr b="0" lang="it-IT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Predicate → condizione</a:t>
            </a:r>
            <a:endParaRPr b="0" lang="it-IT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Consumer → azione</a:t>
            </a:r>
            <a:endParaRPr b="0" lang="it-IT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Supplier → fornitura di un valore</a:t>
            </a:r>
            <a:endParaRPr b="0" lang="it-IT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Function → trasformazione</a:t>
            </a:r>
            <a:endParaRPr b="0" lang="it-IT" sz="20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2000" spc="-1" strike="noStrike">
                <a:solidFill>
                  <a:srgbClr val="000000"/>
                </a:solidFill>
                <a:latin typeface="Calibri"/>
              </a:rPr>
              <a:t>Le funzionalità possono essere composte e passate come argomenti.</a:t>
            </a:r>
            <a:endParaRPr b="0" lang="it-IT" sz="2000" spc="-1" strike="noStrike">
              <a:latin typeface="Arial"/>
            </a:endParaRPr>
          </a:p>
        </p:txBody>
      </p:sp>
    </p:spTree>
  </p:cSld>
  <p:timing>
    <p:tnLst>
      <p:par>
        <p:cTn id="35" dur="indefinite" restart="never" nodeType="tmRoot">
          <p:childTnLst>
            <p:seq>
              <p:cTn id="3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CustomShape 1"/>
          <p:cNvSpPr/>
          <p:nvPr/>
        </p:nvSpPr>
        <p:spPr>
          <a:xfrm>
            <a:off x="5082480" y="320040"/>
            <a:ext cx="2087640" cy="54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it-IT" sz="3000" spc="-1" strike="noStrike">
                <a:solidFill>
                  <a:srgbClr val="000000"/>
                </a:solidFill>
                <a:latin typeface="Calibri"/>
              </a:rPr>
              <a:t>Esercizio</a:t>
            </a:r>
            <a:endParaRPr b="0" lang="it-IT" sz="3000" spc="-1" strike="noStrike">
              <a:latin typeface="Arial"/>
            </a:endParaRPr>
          </a:p>
        </p:txBody>
      </p:sp>
      <p:sp>
        <p:nvSpPr>
          <p:cNvPr id="97" name="CustomShape 2"/>
          <p:cNvSpPr/>
          <p:nvPr/>
        </p:nvSpPr>
        <p:spPr>
          <a:xfrm>
            <a:off x="3269520" y="960120"/>
            <a:ext cx="5749920" cy="333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it-IT" sz="1600" spc="-1" strike="noStrike">
                <a:solidFill>
                  <a:srgbClr val="000000"/>
                </a:solidFill>
                <a:latin typeface="Calibri"/>
              </a:rPr>
              <a:t>Lavorare con Predicate, Consumer, Supplier e Function</a:t>
            </a:r>
            <a:endParaRPr b="0" lang="it-IT" sz="1600" spc="-1" strike="noStrike">
              <a:latin typeface="Arial"/>
            </a:endParaRPr>
          </a:p>
        </p:txBody>
      </p:sp>
      <p:sp>
        <p:nvSpPr>
          <p:cNvPr id="98" name="CustomShape 3"/>
          <p:cNvSpPr/>
          <p:nvPr/>
        </p:nvSpPr>
        <p:spPr>
          <a:xfrm>
            <a:off x="777240" y="1371600"/>
            <a:ext cx="10698120" cy="2371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Creare una lista di oggetti Studente con nome, età e media.</a:t>
            </a:r>
            <a:endParaRPr b="0" lang="it-IT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Utilizzare un Predicate per selezionare gli studenti con media superiore a una soglia.</a:t>
            </a:r>
            <a:endParaRPr b="0" lang="it-IT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Utilizzare un Consumer per stampare gli studenti selezionati.</a:t>
            </a:r>
            <a:endParaRPr b="0" lang="it-IT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Utilizzare una Function per trasformare uno Studente nel suo nome.</a:t>
            </a:r>
            <a:endParaRPr b="0" lang="it-IT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Utilizzare un Supplier per generare un valore o un nuovo oggetto.</a:t>
            </a:r>
            <a:endParaRPr b="0" lang="it-IT" sz="18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0" lang="it-IT" sz="1800" spc="-1" strike="noStrike">
                <a:solidFill>
                  <a:srgbClr val="000000"/>
                </a:solidFill>
                <a:latin typeface="Calibri"/>
              </a:rPr>
              <a:t>Provare a comporre almeno due funzionalità con i metodi disponibili.</a:t>
            </a:r>
            <a:endParaRPr b="0" lang="it-IT" sz="1800" spc="-1" strike="noStrike">
              <a:latin typeface="Arial"/>
            </a:endParaRPr>
          </a:p>
        </p:txBody>
      </p:sp>
    </p:spTree>
  </p:cSld>
  <p:timing>
    <p:tnLst>
      <p:par>
        <p:cTn id="37" dur="indefinite" restart="never" nodeType="tmRoot">
          <p:childTnLst>
            <p:seq>
              <p:cTn id="3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LibreOffice/6.0.7.3$Linux_X86_64 LibreOffice_project/00m0$Build-3</Applicat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it-IT</dc:language>
  <cp:lastModifiedBy/>
  <dcterms:modified xsi:type="dcterms:W3CDTF">2026-09-07T21:54:48Z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On-screen Show (4:3)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0</vt:i4>
  </property>
</Properties>
</file>