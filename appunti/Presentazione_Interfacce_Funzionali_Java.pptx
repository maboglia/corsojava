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Interfacce funzionali in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Lambda expressions e java.util.function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Che cos'è un'interfaccia funzionale</a:t>
            </a:r>
          </a:p>
          <a:p>
            <a:pPr>
              <a:spcAft>
                <a:spcPts val="1000"/>
              </a:spcAft>
              <a:defRPr sz="2100"/>
            </a:pPr>
            <a:r>
              <a:t>@FunctionalInterface</a:t>
            </a:r>
          </a:p>
          <a:p>
            <a:pPr>
              <a:spcAft>
                <a:spcPts val="1000"/>
              </a:spcAft>
              <a:defRPr sz="2100"/>
            </a:pPr>
            <a:r>
              <a:t>Lambda expressions</a:t>
            </a:r>
          </a:p>
          <a:p>
            <a:pPr>
              <a:spcAft>
                <a:spcPts val="1000"/>
              </a:spcAft>
              <a:defRPr sz="2100"/>
            </a:pPr>
            <a:r>
              <a:t>Passare una funzionalità come argomento</a:t>
            </a:r>
          </a:p>
          <a:p>
            <a:pPr>
              <a:spcAft>
                <a:spcPts val="1000"/>
              </a:spcAft>
              <a:defRPr sz="2100"/>
            </a:pPr>
            <a:r>
              <a:t>Predicate, Consumer, Supplier, Function</a:t>
            </a:r>
          </a:p>
          <a:p>
            <a:pPr>
              <a:spcAft>
                <a:spcPts val="1000"/>
              </a:spcAft>
              <a:defRPr sz="2100"/>
            </a:pPr>
            <a:r>
              <a:t>Composizione delle funzionalità</a:t>
            </a:r>
          </a:p>
          <a:p>
            <a:pPr>
              <a:spcAft>
                <a:spcPts val="1000"/>
              </a:spcAft>
              <a:defRPr sz="2100"/>
            </a:pPr>
            <a:r>
              <a:t>Esempi con collezioni e Stream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Che cos'è un'interfaccia funzionale?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È un'interfaccia che contiene un solo metodo astratto.</a:t>
            </a:r>
          </a:p>
          <a:p>
            <a:pPr>
              <a:spcAft>
                <a:spcPts val="1000"/>
              </a:spcAft>
              <a:defRPr sz="2000"/>
            </a:pPr>
            <a:r>
              <a:t>Quel metodo rappresenta il comportamento/contratto che può essere fornito dal chiamante.</a:t>
            </a:r>
          </a:p>
          <a:p>
            <a:pPr>
              <a:spcAft>
                <a:spcPts val="1000"/>
              </a:spcAft>
              <a:defRPr sz="2000"/>
            </a:pPr>
            <a:r>
              <a:t>Può avere anche metodi default e static: il vincolo riguarda i metodi astratti.</a:t>
            </a:r>
          </a:p>
          <a:p>
            <a:pPr>
              <a:spcAft>
                <a:spcPts val="1000"/>
              </a:spcAft>
              <a:defRPr sz="2000"/>
            </a:pPr>
            <a:r>
              <a:t>È strettamente collegata alle espressioni lambda.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@FunctionalInterface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900">
                <a:latin typeface="Consolas"/>
              </a:defRPr>
            </a:pPr>
            <a:r>
              <a:t>@FunctionalInterface</a:t>
            </a:r>
            <a:br/>
            <a:r>
              <a:t>public interface OperazioneMatematica {</a:t>
            </a:r>
            <a:br/>
            <a:r>
              <a:t>    int eseguiOperazione(int a, int b);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434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@FunctionalInterface è opzionale ma consigliata.</a:t>
            </a:r>
          </a:p>
          <a:p>
            <a:pPr>
              <a:spcAft>
                <a:spcPts val="1000"/>
              </a:spcAft>
              <a:defRPr sz="1800"/>
            </a:pPr>
            <a:r>
              <a:t>Il compilatore verifica che l'interfaccia abbia un solo metodo astratto.</a:t>
            </a:r>
          </a:p>
          <a:p>
            <a:pPr>
              <a:spcAft>
                <a:spcPts val="1000"/>
              </a:spcAft>
              <a:defRPr sz="1800"/>
            </a:pPr>
            <a:r>
              <a:t>Se il contratto viene violato, viene segnalato un errore di compilazione.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Lambda expression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24688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900">
                <a:latin typeface="Consolas"/>
              </a:defRPr>
            </a:pPr>
            <a:r>
              <a:t>OperazioneMatematica somma = (a, b) -&gt; a + b;</a:t>
            </a:r>
            <a:br/>
            <a:br/>
            <a:r>
              <a:t>int risultato = somma.eseguiOperazione(3, 5);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05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La lambda fornisce l'implementazione del metodo astratto.</a:t>
            </a:r>
          </a:p>
          <a:p>
            <a:pPr>
              <a:spcAft>
                <a:spcPts val="1000"/>
              </a:spcAft>
              <a:defRPr sz="1800"/>
            </a:pPr>
            <a:r>
              <a:t>La sintassi elimina il codice ripetitivo di una classe anonima.</a:t>
            </a:r>
          </a:p>
          <a:p>
            <a:pPr>
              <a:spcAft>
                <a:spcPts val="1000"/>
              </a:spcAft>
              <a:defRPr sz="1800"/>
            </a:pPr>
            <a:r>
              <a:t>Il tipo della lambda è determinato dal contesto: deve essere un'interfaccia funzionale compatibile.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 classe anonima a lambda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31089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latin typeface="Consolas"/>
              </a:defRPr>
            </a:pPr>
            <a:r>
              <a:t>Comparator&lt;Utente&gt; comparator = new Comparator&lt;Utente&gt;() {</a:t>
            </a:r>
            <a:br/>
            <a:r>
              <a:t>    @Override</a:t>
            </a:r>
            <a:br/>
            <a:r>
              <a:t>    public int compare(Utente u1, Utente u2) {</a:t>
            </a:r>
            <a:br/>
            <a:r>
              <a:t>        return u1.getId().compareTo(u2.getId());</a:t>
            </a:r>
            <a:br/>
            <a:r>
              <a:t>    }</a:t>
            </a:r>
            <a:br/>
            <a:r>
              <a:t>};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800600"/>
            <a:ext cx="10515600" cy="12801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600">
                <a:latin typeface="Consolas"/>
              </a:defRPr>
            </a:pPr>
            <a:r>
              <a:t>Comparator&lt;Utente&gt; comparator =</a:t>
            </a:r>
            <a:br/>
            <a:r>
              <a:t>    (u1, u2) -&gt; u1.getId().compareTo(u2.getId());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Passare una funzionalità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Non passiamo solo dati: possiamo passare un comportamento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30175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700">
                <a:latin typeface="Consolas"/>
              </a:defRPr>
            </a:pPr>
            <a:r>
              <a:t>Runnable calcolaMedia = () -&gt; {</a:t>
            </a:r>
            <a:br/>
            <a:r>
              <a:t>    // calcola la media dei voti</a:t>
            </a:r>
            <a:br/>
            <a:r>
              <a:t>};</a:t>
            </a:r>
            <a:br/>
            <a:br/>
            <a:r>
              <a:t>thread.submit(calcolaMedia);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Runnable è una interfaccia funzionale con il metodo void run().</a:t>
            </a:r>
          </a:p>
          <a:p>
            <a:pPr>
              <a:spcAft>
                <a:spcPts val="1000"/>
              </a:spcAft>
              <a:defRPr sz="1700"/>
            </a:pPr>
            <a:r>
              <a:t>La funzionalità può essere memorizzata in una variabile e passata a un metodo.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Le principali interfacce di java.util.function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Predicate&lt;T&gt; → riceve T e restituisce boolean</a:t>
            </a:r>
          </a:p>
          <a:p>
            <a:pPr>
              <a:spcAft>
                <a:spcPts val="1000"/>
              </a:spcAft>
              <a:defRPr sz="2100"/>
            </a:pPr>
            <a:r>
              <a:t>Consumer&lt;T&gt; → riceve T e non restituisce un valore</a:t>
            </a:r>
          </a:p>
          <a:p>
            <a:pPr>
              <a:spcAft>
                <a:spcPts val="1000"/>
              </a:spcAft>
              <a:defRPr sz="2100"/>
            </a:pPr>
            <a:r>
              <a:t>Supplier&lt;T&gt; → non riceve argomenti e fornisce T</a:t>
            </a:r>
          </a:p>
          <a:p>
            <a:pPr>
              <a:spcAft>
                <a:spcPts val="1000"/>
              </a:spcAft>
              <a:defRPr sz="2100"/>
            </a:pPr>
            <a:r>
              <a:t>Function&lt;T,R&gt; → riceve T e restituisce R</a:t>
            </a:r>
          </a:p>
          <a:p>
            <a:pPr>
              <a:spcAft>
                <a:spcPts val="1000"/>
              </a:spcAft>
              <a:defRPr sz="2100"/>
            </a:pPr>
            <a:r>
              <a:t>Queste interfacce sono generiche e pensate per operazioni molto comuni.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Predicate&lt;T&gt;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Una condizione che produce true o false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5603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800">
                <a:latin typeface="Consolas"/>
              </a:defRPr>
            </a:pPr>
            <a:r>
              <a:t>Predicate&lt;String&gt; lunga = s -&gt; s.length() &gt; 4;</a:t>
            </a:r>
            <a:br/>
            <a:br/>
            <a:r>
              <a:t>boolean risultato = lunga.test("Java");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Metodo astratto: boolean test(T t)</a:t>
            </a:r>
          </a:p>
          <a:p>
            <a:pPr>
              <a:spcAft>
                <a:spcPts val="1000"/>
              </a:spcAft>
              <a:defRPr sz="1800"/>
            </a:pPr>
            <a:r>
              <a:t>Utile per condizioni, filtri e selezioni.</a:t>
            </a:r>
          </a:p>
          <a:p>
            <a:pPr>
              <a:spcAft>
                <a:spcPts val="1000"/>
              </a:spcAft>
              <a:defRPr sz="1800"/>
            </a:pPr>
            <a:r>
              <a:t>I predicati possono essere combinati con and(), or() e negate().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Comporre Predicate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700">
                <a:latin typeface="Consolas"/>
              </a:defRPr>
            </a:pPr>
            <a:r>
              <a:t>Predicate&lt;Integer&gt; positivo = n -&gt; n &gt; 0;</a:t>
            </a:r>
            <a:br/>
            <a:r>
              <a:t>Predicate&lt;Integer&gt; piccolo = n -&gt; n &lt; 10;</a:t>
            </a:r>
            <a:br/>
            <a:br/>
            <a:r>
              <a:t>Predicate&lt;Integer&gt; valido = positivo.and(piccolo);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434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 comportamenti possono essere composti invece di riscrivere la condizione.</a:t>
            </a:r>
          </a:p>
          <a:p>
            <a:pPr>
              <a:spcAft>
                <a:spcPts val="1000"/>
              </a:spcAft>
              <a:defRPr sz="1800"/>
            </a:pPr>
            <a:r>
              <a:t>Metodi principali: and(), or(), negate().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Consumer&lt;T&gt;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Un'azione che riceve un valore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6517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800">
                <a:latin typeface="Consolas"/>
              </a:defRPr>
            </a:pPr>
            <a:r>
              <a:t>Consumer&lt;String&gt; stampa =</a:t>
            </a:r>
            <a:br/>
            <a:r>
              <a:t>    s -&gt; System.out.println("Messaggio: " + s);</a:t>
            </a:r>
            <a:br/>
            <a:br/>
            <a:r>
              <a:t>stampa.accept("Hello");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Metodo astratto: void accept(T t)</a:t>
            </a:r>
          </a:p>
          <a:p>
            <a:pPr>
              <a:spcAft>
                <a:spcPts val="1000"/>
              </a:spcAft>
              <a:defRPr sz="1800"/>
            </a:pPr>
            <a:r>
              <a:t>Non restituisce un risultato.</a:t>
            </a:r>
          </a:p>
          <a:p>
            <a:pPr>
              <a:spcAft>
                <a:spcPts val="1000"/>
              </a:spcAft>
              <a:defRPr sz="1800"/>
            </a:pPr>
            <a:r>
              <a:t>È particolarmente utile con forEach() e con le collezioni.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Supplier&lt;T&gt;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Fornisce un valore senza ricevere argomenti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4688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800">
                <a:latin typeface="Consolas"/>
              </a:defRPr>
            </a:pPr>
            <a:r>
              <a:t>Supplier&lt;Double&gt; casuale = () -&gt; Math.random();</a:t>
            </a:r>
            <a:br/>
            <a:br/>
            <a:r>
              <a:t>Double valore = casuale.get();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Metodo astratto: T get()</a:t>
            </a:r>
          </a:p>
          <a:p>
            <a:pPr>
              <a:spcAft>
                <a:spcPts val="1000"/>
              </a:spcAft>
              <a:defRPr sz="1800"/>
            </a:pPr>
            <a:r>
              <a:t>Utile quando il valore deve essere prodotto solo quando richiesto.</a:t>
            </a:r>
          </a:p>
          <a:p>
            <a:pPr>
              <a:spcAft>
                <a:spcPts val="1000"/>
              </a:spcAft>
              <a:defRPr sz="1800"/>
            </a:pPr>
            <a:r>
              <a:t>Può essere usato per generazione dinamica e lazy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Function&lt;T,R&gt;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Trasforma un valore in un altro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6517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800">
                <a:latin typeface="Consolas"/>
              </a:defRPr>
            </a:pPr>
            <a:r>
              <a:t>Function&lt;String, Integer&gt; lunghezza =</a:t>
            </a:r>
            <a:br/>
            <a:r>
              <a:t>    s -&gt; s.length();</a:t>
            </a:r>
            <a:br/>
            <a:br/>
            <a:r>
              <a:t>Integer n = lunghezza.apply("Java");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Metodo astratto: R apply(T t)</a:t>
            </a:r>
          </a:p>
          <a:p>
            <a:pPr>
              <a:spcAft>
                <a:spcPts val="1000"/>
              </a:spcAft>
              <a:defRPr sz="1800"/>
            </a:pPr>
            <a:r>
              <a:t>T è il tipo di input, R il tipo di output.</a:t>
            </a:r>
          </a:p>
          <a:p>
            <a:pPr>
              <a:spcAft>
                <a:spcPts val="1000"/>
              </a:spcAft>
              <a:defRPr sz="1800"/>
            </a:pPr>
            <a:r>
              <a:t>È molto usata per trasformare dati e con Stream.map().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Comporre Function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33832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600">
                <a:latin typeface="Consolas"/>
              </a:defRPr>
            </a:pPr>
            <a:r>
              <a:t>Function&lt;String, Integer&gt; lunghezza = s -&gt; s.length();</a:t>
            </a:r>
            <a:br/>
            <a:r>
              <a:t>Function&lt;Integer, String&gt; descrivi =</a:t>
            </a:r>
            <a:br/>
            <a:r>
              <a:t>    n -&gt; "La lunghezza è " + n;</a:t>
            </a:r>
            <a:br/>
            <a:br/>
            <a:r>
              <a:t>Function&lt;String, String&gt; completa =</a:t>
            </a:r>
            <a:br/>
            <a:r>
              <a:t>    lunghezza.andThen(descrivi);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2120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andThen() applica prima una funzione e poi l'altra.</a:t>
            </a:r>
          </a:p>
          <a:p>
            <a:pPr>
              <a:spcAft>
                <a:spcPts val="1000"/>
              </a:spcAft>
              <a:defRPr sz="1600"/>
            </a:pPr>
            <a:r>
              <a:t>Le funzioni possono essere concatenate per costruire trasformazioni più complesse.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Interfacce funzionali e collezioni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600">
                <a:latin typeface="Consolas"/>
              </a:defRPr>
            </a:pPr>
            <a:r>
              <a:t>List&lt;String&gt; nomi = Arrays.asList("Alice", "Bob", "Charlie");</a:t>
            </a:r>
            <a:br/>
            <a:br/>
            <a:r>
              <a:t>Consumer&lt;String&gt; stampa = nome -&gt;</a:t>
            </a:r>
            <a:br/>
            <a:r>
              <a:t>    System.out.println(nome);</a:t>
            </a:r>
            <a:br/>
            <a:br/>
            <a:r>
              <a:t>nomi.forEach(stampa);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2578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Le lambda rendono concise operazioni comuni sulle collezioni.</a:t>
            </a:r>
          </a:p>
          <a:p>
            <a:pPr>
              <a:spcAft>
                <a:spcPts val="1000"/>
              </a:spcAft>
              <a:defRPr sz="1600"/>
            </a:pPr>
            <a:r>
              <a:t>Predicate è utile per filtrare; Consumer per elaborare; Function per trasformare.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Predicate con removeIf()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600">
                <a:latin typeface="Consolas"/>
              </a:defRPr>
            </a:pPr>
            <a:r>
              <a:t>Predicate&lt;Utente&gt; assente = utente -&gt; utente.isAssente();</a:t>
            </a:r>
            <a:br/>
            <a:br/>
            <a:r>
              <a:t>utenti.removeIf(assente);</a:t>
            </a:r>
            <a:br/>
            <a:br/>
            <a:r>
              <a:t>// equivalente in forma compatta</a:t>
            </a:r>
            <a:br/>
            <a:r>
              <a:t>utenti.removeIf(utente -&gt; utente.isAssente());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492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removeIf() riceve un Predicate e rimuove gli elementi per cui la condizione è vera.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Lambda e method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600">
                <a:latin typeface="Consolas"/>
              </a:defRPr>
            </a:pPr>
            <a:r>
              <a:t>Consumer&lt;Utente&gt; stampa = u -&gt; stampaUtente(u);</a:t>
            </a:r>
            <a:br/>
            <a:br/>
            <a:r>
              <a:t>// method reference</a:t>
            </a:r>
            <a:br/>
            <a:r>
              <a:t>Consumer&lt;Utente&gt; stampa = Classe::stampaUtente;</a:t>
            </a:r>
            <a:br/>
            <a:br/>
            <a:r>
              <a:t>utenti.forEach(stampa);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377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Quando una lambda si limita a chiamare un metodo compatibile, è possibile usare una method reference.</a:t>
            </a:r>
          </a:p>
          <a:p>
            <a:pPr>
              <a:spcAft>
                <a:spcPts val="1000"/>
              </a:spcAft>
              <a:defRPr sz="1600"/>
            </a:pPr>
            <a:r>
              <a:t>Sintassi: oggetto::metodo oppure Classe::metodo.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Interfacce funzionali già presenti in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Runnable → void run()</a:t>
            </a:r>
          </a:p>
          <a:p>
            <a:pPr>
              <a:spcAft>
                <a:spcPts val="1000"/>
              </a:spcAft>
              <a:defRPr sz="2100"/>
            </a:pPr>
            <a:r>
              <a:t>Callable&lt;V&gt; → V call() throws Exception</a:t>
            </a:r>
          </a:p>
          <a:p>
            <a:pPr>
              <a:spcAft>
                <a:spcPts val="1000"/>
              </a:spcAft>
              <a:defRPr sz="2100"/>
            </a:pPr>
            <a:r>
              <a:t>Comparator&lt;T&gt; → int compare(T o1, T o2)</a:t>
            </a:r>
          </a:p>
          <a:p>
            <a:pPr>
              <a:spcAft>
                <a:spcPts val="1000"/>
              </a:spcAft>
              <a:defRPr sz="2100"/>
            </a:pPr>
            <a:r>
              <a:t>Queste interfacce esistevano già prima di Java 8.</a:t>
            </a:r>
          </a:p>
          <a:p>
            <a:pPr>
              <a:spcAft>
                <a:spcPts val="1000"/>
              </a:spcAft>
              <a:defRPr sz="2100"/>
            </a:pPr>
            <a:r>
              <a:t>Java 8 ha reso possibile utilizzarle direttamente con le lambda.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Mappa mentale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Una interfaccia funzionale definisce un solo metodo astratto.</a:t>
            </a:r>
          </a:p>
          <a:p>
            <a:pPr>
              <a:spcAft>
                <a:spcPts val="1000"/>
              </a:spcAft>
              <a:defRPr sz="2000"/>
            </a:pPr>
            <a:r>
              <a:t>Una lambda fornisce quel comportamento in forma concisa.</a:t>
            </a:r>
          </a:p>
          <a:p>
            <a:pPr>
              <a:spcAft>
                <a:spcPts val="1000"/>
              </a:spcAft>
              <a:defRPr sz="2000"/>
            </a:pPr>
            <a:r>
              <a:t>Predicate → condizione</a:t>
            </a:r>
          </a:p>
          <a:p>
            <a:pPr>
              <a:spcAft>
                <a:spcPts val="1000"/>
              </a:spcAft>
              <a:defRPr sz="2000"/>
            </a:pPr>
            <a:r>
              <a:t>Consumer → azione</a:t>
            </a:r>
          </a:p>
          <a:p>
            <a:pPr>
              <a:spcAft>
                <a:spcPts val="1000"/>
              </a:spcAft>
              <a:defRPr sz="2000"/>
            </a:pPr>
            <a:r>
              <a:t>Supplier → fornitura di un valore</a:t>
            </a:r>
          </a:p>
          <a:p>
            <a:pPr>
              <a:spcAft>
                <a:spcPts val="1000"/>
              </a:spcAft>
              <a:defRPr sz="2000"/>
            </a:pPr>
            <a:r>
              <a:t>Function → trasformazione</a:t>
            </a:r>
          </a:p>
          <a:p>
            <a:pPr>
              <a:spcAft>
                <a:spcPts val="1000"/>
              </a:spcAft>
              <a:defRPr sz="2000"/>
            </a:pPr>
            <a:r>
              <a:t>Le funzionalità possono essere composte e passate come argomenti.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Esercizio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Lavorare con Predicate, Consumer, Supplier 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Creare una lista di oggetti Studente con nome, età e media.</a:t>
            </a:r>
          </a:p>
          <a:p>
            <a:pPr>
              <a:spcAft>
                <a:spcPts val="1000"/>
              </a:spcAft>
              <a:defRPr sz="1800"/>
            </a:pPr>
            <a:r>
              <a:t>Utilizzare un Predicate per selezionare gli studenti con media superiore a una soglia.</a:t>
            </a:r>
          </a:p>
          <a:p>
            <a:pPr>
              <a:spcAft>
                <a:spcPts val="1000"/>
              </a:spcAft>
              <a:defRPr sz="1800"/>
            </a:pPr>
            <a:r>
              <a:t>Utilizzare un Consumer per stampare gli studenti selezionati.</a:t>
            </a:r>
          </a:p>
          <a:p>
            <a:pPr>
              <a:spcAft>
                <a:spcPts val="1000"/>
              </a:spcAft>
              <a:defRPr sz="1800"/>
            </a:pPr>
            <a:r>
              <a:t>Utilizzare una Function per trasformare uno Studente nel suo nome.</a:t>
            </a:r>
          </a:p>
          <a:p>
            <a:pPr>
              <a:spcAft>
                <a:spcPts val="1000"/>
              </a:spcAft>
              <a:defRPr sz="1800"/>
            </a:pPr>
            <a:r>
              <a:t>Utilizzare un Supplier per generare un valore o un nuovo oggetto.</a:t>
            </a:r>
          </a:p>
          <a:p>
            <a:pPr>
              <a:spcAft>
                <a:spcPts val="1000"/>
              </a:spcAft>
              <a:defRPr sz="1800"/>
            </a:pPr>
            <a:r>
              <a:t>Provare a comporre almeno due funzionalità con i metodi disponibili.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