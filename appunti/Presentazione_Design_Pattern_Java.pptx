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Design Pattern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Soluzioni riutilizzabili per problemi ricorrenti di progettazione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Cosa sono i Design Pattern</a:t>
            </a:r>
          </a:p>
          <a:p>
            <a:pPr>
              <a:spcAft>
                <a:spcPts val="900"/>
              </a:spcAft>
              <a:defRPr sz="2300"/>
            </a:pPr>
            <a:r>
              <a:t>Classificazione GoF: creazionali, strutturali, comportamentali</a:t>
            </a:r>
          </a:p>
          <a:p>
            <a:pPr>
              <a:spcAft>
                <a:spcPts val="900"/>
              </a:spcAft>
              <a:defRPr sz="2300"/>
            </a:pPr>
            <a:r>
              <a:t>I principali pattern studiati nel corso</a:t>
            </a:r>
          </a:p>
          <a:p>
            <a:pPr>
              <a:spcAft>
                <a:spcPts val="900"/>
              </a:spcAft>
              <a:defRPr sz="2300"/>
            </a:pPr>
            <a:r>
              <a:t>Come riconoscere quando un pattern è utile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Che cos'è un Design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Una soluzione generale a un problema ricorrente nella progettazione del software.</a:t>
            </a:r>
          </a:p>
          <a:p>
            <a:pPr>
              <a:spcAft>
                <a:spcPts val="900"/>
              </a:spcAft>
              <a:defRPr sz="2100"/>
            </a:pPr>
            <a:r>
              <a:t>Non è una libreria e non è codice da copiare: è uno schema progettuale.</a:t>
            </a:r>
          </a:p>
          <a:p>
            <a:pPr>
              <a:spcAft>
                <a:spcPts val="900"/>
              </a:spcAft>
              <a:defRPr sz="2100"/>
            </a:pPr>
            <a:r>
              <a:t>Fornisce un linguaggio comune tra sviluppatori.</a:t>
            </a:r>
          </a:p>
          <a:p>
            <a:pPr>
              <a:spcAft>
                <a:spcPts val="900"/>
              </a:spcAft>
              <a:defRPr sz="2100"/>
            </a:pPr>
            <a:r>
              <a:t>Obiettivo: migliorare manutenibilità, flessibilità, riuso e comprensibilità.</a:t>
            </a:r>
          </a:p>
          <a:p>
            <a:pPr>
              <a:spcAft>
                <a:spcPts val="900"/>
              </a:spcAft>
              <a:defRPr sz="2100"/>
            </a:pPr>
            <a:r>
              <a:t>Va usato con discernimento: non ogni problema richiede un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 Pattern GoF — Gang of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t>23 pattern descritti nel testo di riferimento della Gang of Four.</a:t>
            </a:r>
          </a:p>
          <a:p>
            <a:pPr>
              <a:spcAft>
                <a:spcPts val="900"/>
              </a:spcAft>
              <a:defRPr sz="2300"/>
            </a:pPr>
            <a:r>
              <a:t>Creazionali → riguardano la creazione degli oggetti.</a:t>
            </a:r>
          </a:p>
          <a:p>
            <a:pPr>
              <a:spcAft>
                <a:spcPts val="900"/>
              </a:spcAft>
              <a:defRPr sz="2300"/>
            </a:pPr>
            <a:r>
              <a:t>Strutturali → riguardano la composizione di classi e oggetti.</a:t>
            </a:r>
          </a:p>
          <a:p>
            <a:pPr>
              <a:spcAft>
                <a:spcPts val="900"/>
              </a:spcAft>
              <a:defRPr sz="2300"/>
            </a:pPr>
            <a:r>
              <a:t>Comportamentali → riguardano la collaborazione e il comportamento degli oggetti.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CREAZIONALI</a:t>
            </a:r>
          </a:p>
          <a:p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STRUTTURALI</a:t>
            </a:r>
          </a:p>
          <a:p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COMPORTAMENTALI</a:t>
            </a:r>
          </a:p>
          <a:p>
            <a:r>
              <a:t>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Pattern creazionali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Rendono il sistema più indipendente dalle implementazioni concrete.</a:t>
            </a:r>
          </a:p>
          <a:p>
            <a:pPr>
              <a:spcAft>
                <a:spcPts val="900"/>
              </a:spcAft>
              <a:defRPr sz="2100"/>
            </a:pPr>
            <a:r>
              <a:t>Nascondono i dettagli relativi alla creazione e composizione degli oggetti.</a:t>
            </a:r>
          </a:p>
          <a:p>
            <a:pPr>
              <a:spcAft>
                <a:spcPts val="900"/>
              </a:spcAft>
              <a:defRPr sz="2100"/>
            </a:pPr>
            <a:r>
              <a:t>Usano ampiamente astrazioni e interfacce.</a:t>
            </a:r>
          </a:p>
          <a:p>
            <a:pPr>
              <a:spcAft>
                <a:spcPts val="900"/>
              </a:spcAft>
              <a:defRPr sz="2100"/>
            </a:pPr>
            <a:r>
              <a:t>Principali GoF: Factory Method, Abstract Factory, Singleton, Prototype, Builder.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Pattern strutturali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Affrontano problemi relativi alla composizione di classi e oggetti.</a:t>
            </a:r>
          </a:p>
          <a:p>
            <a:pPr>
              <a:spcAft>
                <a:spcPts val="900"/>
              </a:spcAft>
              <a:defRPr sz="2100"/>
            </a:pPr>
            <a:r>
              <a:t>Permettono di riutilizzare componenti esistenti attraverso interfacce più adatte.</a:t>
            </a:r>
          </a:p>
          <a:p>
            <a:pPr>
              <a:spcAft>
                <a:spcPts val="900"/>
              </a:spcAft>
              <a:defRPr sz="2100"/>
            </a:pPr>
            <a:r>
              <a:t>Sono utili per integrare librerie o componenti differenti.</a:t>
            </a:r>
          </a:p>
          <a:p>
            <a:pPr>
              <a:spcAft>
                <a:spcPts val="900"/>
              </a:spcAft>
              <a:defRPr sz="2100"/>
            </a:pPr>
            <a:r>
              <a:t>Principali GoF: Adapter, Bridge, Composite, Decorator, Facade, Flyweight, Proxy.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Pattern comportamentali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Descrivono come gli oggetti svolgono le proprie funzioni.</a:t>
            </a:r>
          </a:p>
          <a:p>
            <a:pPr>
              <a:spcAft>
                <a:spcPts val="900"/>
              </a:spcAft>
              <a:defRPr sz="2000"/>
            </a:pPr>
            <a:r>
              <a:t>Definiscono come diversi oggetti collaborano tra loro.</a:t>
            </a:r>
          </a:p>
          <a:p>
            <a:pPr>
              <a:spcAft>
                <a:spcPts val="900"/>
              </a:spcAft>
              <a:defRPr sz="2000"/>
            </a:pPr>
            <a:r>
              <a:t>Principali GoF: Chain of Responsibility, Command, Interpreter, Iterator, Mediator, Memento, Observer, State, Strategy, Template Method, Visitor.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Singleton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Creazionale — una sola istanza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Garantisce che una classe abbia una sola istanza.</a:t>
            </a:r>
          </a:p>
          <a:p>
            <a:pPr>
              <a:spcAft>
                <a:spcPts val="900"/>
              </a:spcAft>
              <a:defRPr sz="2000"/>
            </a:pPr>
            <a:r>
              <a:t>Fornisce un punto di accesso globale all'istanza.</a:t>
            </a:r>
          </a:p>
          <a:p>
            <a:pPr>
              <a:spcAft>
                <a:spcPts val="900"/>
              </a:spcAft>
              <a:defRPr sz="2000"/>
            </a:pPr>
            <a:r>
              <a:t>Tipicamente: costruttore privato + variabile statica + getInstance().</a:t>
            </a:r>
          </a:p>
          <a:p>
            <a:pPr>
              <a:spcAft>
                <a:spcPts val="900"/>
              </a:spcAft>
              <a:defRPr sz="2000"/>
            </a:pPr>
            <a:r>
              <a:t>Attenzione a thread safety, serializzazione e accoppiamento globale.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9260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public class Singleton {</a:t>
            </a:r>
            <a:br/>
            <a:r>
              <a:t>    private static Singleton instance;</a:t>
            </a:r>
            <a:br/>
            <a:br/>
            <a:r>
              <a:t>    private Singleton() {}</a:t>
            </a:r>
            <a:br/>
            <a:br/>
            <a:r>
              <a:t>    public static Singleton getInstance() {</a:t>
            </a:r>
            <a:br/>
            <a:r>
              <a:t>        if (instance == null)</a:t>
            </a:r>
            <a:br/>
            <a:r>
              <a:t>            instance = new Singleton();</a:t>
            </a:r>
            <a:br/>
            <a:r>
              <a:t>        return instance;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Factory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Creazionale — delegare la creazione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Incapsula la creazione degli oggetti.</a:t>
            </a:r>
          </a:p>
          <a:p>
            <a:pPr>
              <a:spcAft>
                <a:spcPts val="900"/>
              </a:spcAft>
              <a:defRPr sz="2000"/>
            </a:pPr>
            <a:r>
              <a:t>Il client lavora con l'interfaccia del prodotto, non con la classe concreta.</a:t>
            </a:r>
          </a:p>
          <a:p>
            <a:pPr>
              <a:spcAft>
                <a:spcPts val="900"/>
              </a:spcAft>
              <a:defRPr sz="2000"/>
            </a:pPr>
            <a:r>
              <a:t>La scelta del tipo concreto può essere delegata alla factory.</a:t>
            </a:r>
          </a:p>
          <a:p>
            <a:pPr>
              <a:spcAft>
                <a:spcPts val="900"/>
              </a:spcAft>
              <a:defRPr sz="2000"/>
            </a:pPr>
            <a:r>
              <a:t>Riduce l'accoppiamento e facilita l'estensione.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4688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249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Shape shape = shapeFactory.getShape("CIRCLE");</a:t>
            </a:r>
            <a:br/>
            <a:r>
              <a:t>shape.draw();</a:t>
            </a:r>
            <a:br/>
            <a:br/>
            <a:r>
              <a:t>// La Factory decide quale classe concreta creare</a:t>
            </a:r>
            <a:br/>
            <a:r>
              <a:t>// Circle, Rectangle, Square,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Builder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Creazionale — costruire oggetti complessi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Costruisce un oggetto complesso passo dopo passo.</a:t>
            </a:r>
          </a:p>
          <a:p>
            <a:pPr>
              <a:spcAft>
                <a:spcPts val="900"/>
              </a:spcAft>
              <a:defRPr sz="2000"/>
            </a:pPr>
            <a:r>
              <a:t>Utile quando ci sono molti parametri opzionali.</a:t>
            </a:r>
          </a:p>
          <a:p>
            <a:pPr>
              <a:spcAft>
                <a:spcPts val="900"/>
              </a:spcAft>
              <a:defRPr sz="2000"/>
            </a:pPr>
            <a:r>
              <a:t>Evita costruttori sovraccarichi e combinazioni poco leggibili.</a:t>
            </a:r>
          </a:p>
          <a:p>
            <a:pPr>
              <a:spcAft>
                <a:spcPts val="900"/>
              </a:spcAft>
              <a:defRPr sz="2000"/>
            </a:pPr>
            <a:r>
              <a:t>Favorisce una configurazione fluente.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10515600" cy="2011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355848"/>
            <a:ext cx="10186416" cy="1792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Product product = builder</a:t>
            </a:r>
            <a:br/>
            <a:r>
              <a:t>    .buildPart1("Parte 1")</a:t>
            </a:r>
            <a:br/>
            <a:r>
              <a:t>    .buildPart2("Parte 2")</a:t>
            </a:r>
            <a:br/>
            <a:r>
              <a:t>    .getResult();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Prototype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Creazionale.</a:t>
            </a:r>
          </a:p>
          <a:p>
            <a:pPr>
              <a:spcAft>
                <a:spcPts val="900"/>
              </a:spcAft>
              <a:defRPr sz="2200"/>
            </a:pPr>
            <a:r>
              <a:t>Crea nuovi oggetti duplicando oggetti esistenti.</a:t>
            </a:r>
          </a:p>
          <a:p>
            <a:pPr>
              <a:spcAft>
                <a:spcPts val="900"/>
              </a:spcAft>
              <a:defRPr sz="2200"/>
            </a:pPr>
            <a:r>
              <a:t>Evita di dipendere direttamente dalla classe concreta per la creazione.</a:t>
            </a:r>
          </a:p>
          <a:p>
            <a:pPr>
              <a:spcAft>
                <a:spcPts val="900"/>
              </a:spcAft>
              <a:defRPr sz="2200"/>
            </a:pPr>
            <a:r>
              <a:t>Si basa sull'idea di clonazione/prototipo.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Decorator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Strutturale — aggiungere responsabilità dinamicamente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Avvolge un oggetto e ne estende il comportamento senza modificarlo.</a:t>
            </a:r>
          </a:p>
          <a:p>
            <a:pPr>
              <a:spcAft>
                <a:spcPts val="900"/>
              </a:spcAft>
              <a:defRPr sz="2000"/>
            </a:pPr>
            <a:r>
              <a:t>Si basa sulla composizione, come alternativa all'ereditarietà.</a:t>
            </a:r>
          </a:p>
          <a:p>
            <a:pPr>
              <a:spcAft>
                <a:spcPts val="900"/>
              </a:spcAft>
              <a:defRPr sz="2000"/>
            </a:pPr>
            <a:r>
              <a:t>Più decorator possono essere combinati a runtime.</a:t>
            </a:r>
          </a:p>
          <a:p>
            <a:pPr>
              <a:spcAft>
                <a:spcPts val="900"/>
              </a:spcAft>
              <a:defRPr sz="2000"/>
            </a:pPr>
            <a:r>
              <a:t>Favorisce flessibilità, riuso e principio Open/Closed.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5603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Shape circle = new Circle();</a:t>
            </a:r>
            <a:br/>
            <a:br/>
            <a:r>
              <a:t>Shape redCircle =</a:t>
            </a:r>
            <a:br/>
            <a:r>
              <a:t>    new RedShapeDecorator(new Circle());</a:t>
            </a:r>
            <a:br/>
            <a:br/>
            <a:r>
              <a:t>redCircle.draw();</a:t>
            </a:r>
            <a:br/>
            <a:r>
              <a:t>// Shape: Circle</a:t>
            </a:r>
            <a:br/>
            <a:r>
              <a:t>// Border Color: 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Facade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Strutturale — semplificare un sistema complesso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Fornisce un'interfaccia unificata e semplice.</a:t>
            </a:r>
          </a:p>
          <a:p>
            <a:pPr>
              <a:spcAft>
                <a:spcPts val="900"/>
              </a:spcAft>
              <a:defRPr sz="2000"/>
            </a:pPr>
            <a:r>
              <a:t>La Facade nasconde la complessità dei sottosistemi.</a:t>
            </a:r>
          </a:p>
          <a:p>
            <a:pPr>
              <a:spcAft>
                <a:spcPts val="900"/>
              </a:spcAft>
              <a:defRPr sz="2000"/>
            </a:pPr>
            <a:r>
              <a:t>Il client interagisce con un punto di ingresso più semplice.</a:t>
            </a:r>
          </a:p>
          <a:p>
            <a:pPr>
              <a:spcAft>
                <a:spcPts val="900"/>
              </a:spcAft>
              <a:defRPr sz="2000"/>
            </a:pPr>
            <a:r>
              <a:t>Utile per ridurre la complessità percepita e migliorare la manutenibilità.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FACADE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Amplificatore</a:t>
            </a:r>
          </a:p>
          <a:p>
            <a:r>
              <a:t>DVD</a:t>
            </a:r>
          </a:p>
          <a:p>
            <a:r>
              <a:t>Luci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Observer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Comportamentale — notificare gli interessati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Definisce una dipendenza uno-a-molti.</a:t>
            </a:r>
          </a:p>
          <a:p>
            <a:pPr>
              <a:spcAft>
                <a:spcPts val="900"/>
              </a:spcAft>
              <a:defRPr sz="2000"/>
            </a:pPr>
            <a:r>
              <a:t>Quando il Subject cambia stato, notifica gli Observer.</a:t>
            </a:r>
          </a:p>
          <a:p>
            <a:pPr>
              <a:spcAft>
                <a:spcPts val="900"/>
              </a:spcAft>
              <a:defRPr sz="2000"/>
            </a:pPr>
            <a:r>
              <a:t>Il Subject mantiene l'elenco degli osservatori.</a:t>
            </a:r>
          </a:p>
          <a:p>
            <a:pPr>
              <a:spcAft>
                <a:spcPts val="900"/>
              </a:spcAft>
              <a:defRPr sz="2000"/>
            </a:pPr>
            <a:r>
              <a:t>Nuovi Observer possono essere aggiunti senza modificare il Subject.</a:t>
            </a:r>
          </a:p>
          <a:p>
            <a:pPr>
              <a:spcAft>
                <a:spcPts val="900"/>
              </a:spcAft>
              <a:defRPr sz="2000"/>
            </a:pPr>
            <a:r>
              <a:t>Molto utile per eventi, GUI e notifiche di stato.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SUBJECT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Observer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Observer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Observer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Strategy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Definisce una famiglia di algoritmi intercambiabili.</a:t>
            </a:r>
          </a:p>
          <a:p>
            <a:pPr>
              <a:spcAft>
                <a:spcPts val="900"/>
              </a:spcAft>
              <a:defRPr sz="2100"/>
            </a:pPr>
            <a:r>
              <a:t>Ogni strategia implementa un'interfaccia comune.</a:t>
            </a:r>
          </a:p>
          <a:p>
            <a:pPr>
              <a:spcAft>
                <a:spcPts val="900"/>
              </a:spcAft>
              <a:defRPr sz="2100"/>
            </a:pPr>
            <a:r>
              <a:t>Il client può cambiare algoritmo senza cambiare l'oggetto che lo utilizza.</a:t>
            </a:r>
          </a:p>
          <a:p>
            <a:pPr>
              <a:spcAft>
                <a:spcPts val="900"/>
              </a:spcAft>
              <a:defRPr sz="2100"/>
            </a:pPr>
            <a:r>
              <a:t>È un'applicazione naturale del polimorfismo.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886200"/>
            <a:ext cx="10515600" cy="1645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995928"/>
            <a:ext cx="10186416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urier New"/>
              </a:defRPr>
            </a:pPr>
            <a:r>
              <a:t>Strategia strategia = new StrategiaConcreta();</a:t>
            </a:r>
            <a:br/>
            <a:r>
              <a:t>contesto.setStrategia(strategia);</a:t>
            </a:r>
            <a:br/>
            <a:r>
              <a:t>contesto.esegui();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Command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Incapsula una richiesta come oggetto.</a:t>
            </a:r>
          </a:p>
          <a:p>
            <a:pPr>
              <a:spcAft>
                <a:spcPts val="900"/>
              </a:spcAft>
              <a:defRPr sz="2100"/>
            </a:pPr>
            <a:r>
              <a:t>Definisce un'interfaccia di comando, tipicamente con execute().</a:t>
            </a:r>
          </a:p>
          <a:p>
            <a:pPr>
              <a:spcAft>
                <a:spcPts val="900"/>
              </a:spcAft>
              <a:defRPr sz="2100"/>
            </a:pPr>
            <a:r>
              <a:t>Permette di rappresentare richieste diverse con oggetti diversi.</a:t>
            </a:r>
          </a:p>
          <a:p>
            <a:pPr>
              <a:spcAft>
                <a:spcPts val="900"/>
              </a:spcAft>
              <a:defRPr sz="2100"/>
            </a:pPr>
            <a:r>
              <a:t>Utile per code, registrazione delle richieste e operazioni differibili.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657600"/>
            <a:ext cx="10515600" cy="19202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767328"/>
            <a:ext cx="10186416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public interface Command {</a:t>
            </a:r>
            <a:br/>
            <a:r>
              <a:t>    void execute();</a:t>
            </a:r>
            <a:br/>
            <a:r>
              <a:t>}</a:t>
            </a:r>
            <a:br/>
            <a:br/>
            <a:r>
              <a:t>// ConcreteCommand rappresenta una richiesta</a:t>
            </a:r>
            <a:br/>
            <a:r>
              <a:t>// specifica e implementa execute().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Come scegliere un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Chiediti prima qual è il problema di progettazione.</a:t>
            </a:r>
          </a:p>
          <a:p>
            <a:pPr>
              <a:spcAft>
                <a:spcPts val="900"/>
              </a:spcAft>
              <a:defRPr sz="2100"/>
            </a:pPr>
            <a:r>
              <a:t>Devo controllare come vengono creati gli oggetti? → Creazionali.</a:t>
            </a:r>
          </a:p>
          <a:p>
            <a:pPr>
              <a:spcAft>
                <a:spcPts val="900"/>
              </a:spcAft>
              <a:defRPr sz="2100"/>
            </a:pPr>
            <a:r>
              <a:t>Devo combinare o adattare componenti? → Strutturali.</a:t>
            </a:r>
          </a:p>
          <a:p>
            <a:pPr>
              <a:spcAft>
                <a:spcPts val="900"/>
              </a:spcAft>
              <a:defRPr sz="2100"/>
            </a:pPr>
            <a:r>
              <a:t>Devo gestire algoritmi, eventi o collaborazione tra oggetti? → Comportamentali.</a:t>
            </a:r>
          </a:p>
          <a:p>
            <a:pPr>
              <a:spcAft>
                <a:spcPts val="900"/>
              </a:spcAft>
              <a:defRPr sz="2100"/>
            </a:pPr>
            <a:r>
              <a:t>Il pattern deve semplificare il progetto, non renderlo più complicato.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Pattern e principi di progettazione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 pattern non sono obiettivi: sono strumenti.</a:t>
            </a:r>
          </a:p>
          <a:p>
            <a:pPr>
              <a:spcAft>
                <a:spcPts val="900"/>
              </a:spcAft>
              <a:defRPr sz="2000"/>
            </a:pPr>
            <a:r>
              <a:t>Favoriscono riduzione dell'accoppiamento e maggiore flessibilità.</a:t>
            </a:r>
          </a:p>
          <a:p>
            <a:pPr>
              <a:spcAft>
                <a:spcPts val="900"/>
              </a:spcAft>
              <a:defRPr sz="2000"/>
            </a:pPr>
            <a:r>
              <a:t>Interfacce e astrazioni permettono di separare ciò che cambia da ciò che resta stabile.</a:t>
            </a:r>
          </a:p>
          <a:p>
            <a:pPr>
              <a:spcAft>
                <a:spcPts val="900"/>
              </a:spcAft>
              <a:defRPr sz="2000"/>
            </a:pPr>
            <a:r>
              <a:t>Decorator e Strategy mostrano bene il vantaggio della composizione rispetto a gerarchie rigide.</a:t>
            </a:r>
          </a:p>
          <a:p>
            <a:pPr>
              <a:spcAft>
                <a:spcPts val="900"/>
              </a:spcAft>
              <a:defRPr sz="2000"/>
            </a:pPr>
            <a:r>
              <a:t>Una buona progettazione sceglie il pattern solo quando risolve realmente un problema.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Altri pattern e architetture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MVC — Model View Controller: separazione tra dati, presentazione e controllo.</a:t>
            </a:r>
          </a:p>
          <a:p>
            <a:pPr>
              <a:spcAft>
                <a:spcPts val="900"/>
              </a:spcAft>
              <a:defRPr sz="2000"/>
            </a:pPr>
            <a:r>
              <a:t>DAO — Data Access Object: separazione dell'accesso ai dati.</a:t>
            </a:r>
          </a:p>
          <a:p>
            <a:pPr>
              <a:spcAft>
                <a:spcPts val="900"/>
              </a:spcAft>
              <a:defRPr sz="2000"/>
            </a:pPr>
            <a:r>
              <a:t>Dependency Injection: separa il comportamento di una componente dalla risoluzione delle sue dipendenze.</a:t>
            </a:r>
          </a:p>
          <a:p>
            <a:pPr>
              <a:spcAft>
                <a:spcPts val="900"/>
              </a:spcAft>
              <a:defRPr sz="2000"/>
            </a:pPr>
            <a:r>
              <a:t>Questi approcci si affiancano ai pattern GoF e possono comparire nella progettazione di applicazioni reali.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Confronto rapido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Singleton → una sola istanza.</a:t>
            </a:r>
          </a:p>
          <a:p>
            <a:pPr>
              <a:spcAft>
                <a:spcPts val="900"/>
              </a:spcAft>
              <a:defRPr sz="2000"/>
            </a:pPr>
            <a:r>
              <a:t>Factory → delegare la creazione.</a:t>
            </a:r>
          </a:p>
          <a:p>
            <a:pPr>
              <a:spcAft>
                <a:spcPts val="900"/>
              </a:spcAft>
              <a:defRPr sz="2000"/>
            </a:pPr>
            <a:r>
              <a:t>Builder → costruzione passo dopo passo.</a:t>
            </a:r>
          </a:p>
          <a:p>
            <a:pPr>
              <a:spcAft>
                <a:spcPts val="900"/>
              </a:spcAft>
              <a:defRPr sz="2000"/>
            </a:pPr>
            <a:r>
              <a:t>Decorator → aggiungere responsabilità.</a:t>
            </a:r>
          </a:p>
          <a:p>
            <a:pPr>
              <a:spcAft>
                <a:spcPts val="900"/>
              </a:spcAft>
              <a:defRPr sz="2000"/>
            </a:pPr>
            <a:r>
              <a:t>Facade → semplificare un sottosistema.</a:t>
            </a:r>
          </a:p>
          <a:p>
            <a:pPr>
              <a:spcAft>
                <a:spcPts val="900"/>
              </a:spcAft>
              <a:defRPr sz="2000"/>
            </a:pPr>
            <a:r>
              <a:t>Observer → notificare più dipendenti.</a:t>
            </a:r>
          </a:p>
          <a:p>
            <a:pPr>
              <a:spcAft>
                <a:spcPts val="900"/>
              </a:spcAft>
              <a:defRPr sz="2000"/>
            </a:pPr>
            <a:r>
              <a:t>Strategy → sostituire un algoritmo.</a:t>
            </a:r>
          </a:p>
          <a:p>
            <a:pPr>
              <a:spcAft>
                <a:spcPts val="900"/>
              </a:spcAft>
              <a:defRPr sz="2000"/>
            </a:pPr>
            <a:r>
              <a:t>Command → trasformare una richiesta in un oggetto.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Esercitazione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Progettare un'applicazione Java per la gestione di un sistema a scelta.</a:t>
            </a:r>
          </a:p>
          <a:p>
            <a:pPr>
              <a:spcAft>
                <a:spcPts val="900"/>
              </a:spcAft>
              <a:defRPr sz="2000"/>
            </a:pPr>
            <a:r>
              <a:t>Individuare almeno 3 problemi di progettazione ricorrenti.</a:t>
            </a:r>
          </a:p>
          <a:p>
            <a:pPr>
              <a:spcAft>
                <a:spcPts val="900"/>
              </a:spcAft>
              <a:defRPr sz="2000"/>
            </a:pPr>
            <a:r>
              <a:t>Selezionare un Design Pattern adatto per ciascun problema.</a:t>
            </a:r>
          </a:p>
          <a:p>
            <a:pPr>
              <a:spcAft>
                <a:spcPts val="900"/>
              </a:spcAft>
              <a:defRPr sz="2000"/>
            </a:pPr>
            <a:r>
              <a:t>Realizzare una versione funzionante con interfacce e classi concrete.</a:t>
            </a:r>
          </a:p>
          <a:p>
            <a:pPr>
              <a:spcAft>
                <a:spcPts val="900"/>
              </a:spcAft>
              <a:defRPr sz="2000"/>
            </a:pPr>
            <a:r>
              <a:t>Documentare: problema → pattern scelto → struttura → vantaggi → eventuali criticità.</a:t>
            </a:r>
          </a:p>
          <a:p>
            <a:pPr>
              <a:spcAft>
                <a:spcPts val="900"/>
              </a:spcAft>
              <a:defRPr sz="2000"/>
            </a:pPr>
            <a:r>
              <a:t>Confrontare brevemente la soluzione con una versione senza pattern.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t>Un Design Pattern è uno schema riutilizzabile per un problema ricorrente.</a:t>
            </a:r>
          </a:p>
          <a:p>
            <a:pPr>
              <a:spcAft>
                <a:spcPts val="900"/>
              </a:spcAft>
              <a:defRPr sz="2100"/>
            </a:pPr>
            <a:r>
              <a:t>I GoF raggruppano 23 pattern in creazionali, strutturali e comportamentali.</a:t>
            </a:r>
          </a:p>
          <a:p>
            <a:pPr>
              <a:spcAft>
                <a:spcPts val="900"/>
              </a:spcAft>
              <a:defRPr sz="2100"/>
            </a:pPr>
            <a:r>
              <a:t>I pattern aiutano a gestire creazione, composizione e collaborazione tra oggetti.</a:t>
            </a:r>
          </a:p>
          <a:p>
            <a:pPr>
              <a:spcAft>
                <a:spcPts val="900"/>
              </a:spcAft>
              <a:defRPr sz="2100"/>
            </a:pPr>
            <a:r>
              <a:t>Singleton, Factory, Builder, Decorator, Facade, Observer, Strategy e Command sono esempi fondamentali.</a:t>
            </a:r>
          </a:p>
          <a:p>
            <a:pPr>
              <a:spcAft>
                <a:spcPts val="900"/>
              </a:spcAft>
              <a:defRPr sz="2100"/>
            </a:pPr>
            <a:r>
              <a:t>La qualità sta nell'uso appropriato del pattern, non nel numero di pattern utilizzati.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