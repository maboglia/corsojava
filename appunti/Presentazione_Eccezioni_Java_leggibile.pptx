
<file path=[Content_Types].xml><?xml version="1.0" encoding="utf-8"?>
<Types xmlns="http://schemas.openxmlformats.org/package/2006/content-types">
  <Override PartName="/_rels/.rels" ContentType="application/vnd.openxmlformats-package.relationships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_rels/presentation.xml.rels" ContentType="application/vnd.openxmlformats-package.relationships+xml"/>
  <Override PartName="/ppt/slides/_rels/slide25.xml.rels" ContentType="application/vnd.openxmlformats-package.relationships+xml"/>
  <Override PartName="/ppt/slides/_rels/slide24.xml.rels" ContentType="application/vnd.openxmlformats-package.relationships+xml"/>
  <Override PartName="/ppt/slides/_rels/slide23.xml.rels" ContentType="application/vnd.openxmlformats-package.relationships+xml"/>
  <Override PartName="/ppt/slides/_rels/slide22.xml.rels" ContentType="application/vnd.openxmlformats-package.relationships+xml"/>
  <Override PartName="/ppt/slides/_rels/slide21.xml.rels" ContentType="application/vnd.openxmlformats-package.relationships+xml"/>
  <Override PartName="/ppt/slides/_rels/slide20.xml.rels" ContentType="application/vnd.openxmlformats-package.relationships+xml"/>
  <Override PartName="/ppt/slides/_rels/slide19.xml.rels" ContentType="application/vnd.openxmlformats-package.relationships+xml"/>
  <Override PartName="/ppt/slides/_rels/slide18.xml.rels" ContentType="application/vnd.openxmlformats-package.relationships+xml"/>
  <Override PartName="/ppt/slides/_rels/slide1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1.xml.rels" ContentType="application/vnd.openxmlformats-package.relationships+xml"/>
  <Override PartName="/ppt/slides/_rels/slide9.xml.rels" ContentType="application/vnd.openxmlformats-package.relationships+xml"/>
  <Override PartName="/ppt/slides/_rels/slide2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11.xml.rels" ContentType="application/vnd.openxmlformats-package.relationships+xml"/>
  <Override PartName="/ppt/slides/_rels/slide12.xml.rels" ContentType="application/vnd.openxmlformats-package.relationships+xml"/>
  <Override PartName="/ppt/slides/_rels/slide13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6.xml.rels" ContentType="application/vnd.openxmlformats-package.relationships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25.xml" ContentType="application/vnd.openxmlformats-officedocument.presentationml.slide+xml"/>
  <Override PartName="/ppt/slides/slide24.xml" ContentType="application/vnd.openxmlformats-officedocument.presentationml.slide+xml"/>
  <Override PartName="/ppt/slides/slide23.xml" ContentType="application/vnd.openxmlformats-officedocument.presentationml.slide+xml"/>
  <Override PartName="/ppt/slides/slide22.xml" ContentType="application/vnd.openxmlformats-officedocument.presentationml.slide+xml"/>
  <Override PartName="/ppt/slides/slide21.xml" ContentType="application/vnd.openxmlformats-officedocument.presentationml.slide+xml"/>
  <Override PartName="/ppt/slides/slide20.xml" ContentType="application/vnd.openxmlformats-officedocument.presentationml.slide+xml"/>
  <Override PartName="/ppt/slides/slide19.xml" ContentType="application/vnd.openxmlformats-officedocument.presentationml.slide+xml"/>
  <Override PartName="/ppt/slides/slide18.xml" ContentType="application/vnd.openxmlformats-officedocument.presentationml.slide+xml"/>
  <Override PartName="/ppt/slides/slide17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6.xml.rels" ContentType="application/vnd.openxmlformats-package.relationshi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</p:sldIdLst>
  <p:sldSz cx="12192000" cy="6858000"/>
  <p:notesSz cx="7559675" cy="10691812"/>
</p:presentation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slide" Target="slides/slide23.xml"/><Relationship Id="rId26" Type="http://schemas.openxmlformats.org/officeDocument/2006/relationships/slide" Target="slides/slide24.xml"/><Relationship Id="rId27" Type="http://schemas.openxmlformats.org/officeDocument/2006/relationships/slide" Target="slides/slide25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</p:spPr>
        <p:txBody>
          <a:bodyPr lIns="0" rIns="0" tIns="0" bIns="0" anchor="ctr"/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it-IT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</p:spPr>
        <p:txBody>
          <a:bodyPr lIns="0" rIns="0" tIns="0" bIns="0" anchor="ctr"/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</p:spPr>
        <p:txBody>
          <a:bodyPr lIns="0" rIns="0" tIns="0" bIns="0" anchor="ctr"/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</p:spPr>
        <p:txBody>
          <a:bodyPr lIns="0" rIns="0" tIns="0" bIns="0" anchor="ctr"/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080" cy="530784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it-IT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</p:spPr>
        <p:txBody>
          <a:bodyPr lIns="0" rIns="0" tIns="0" bIns="0" anchor="ctr"/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</p:spPr>
        <p:txBody>
          <a:bodyPr lIns="0" rIns="0" tIns="0" bIns="0" anchor="ctr"/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</p:spPr>
        <p:txBody>
          <a:bodyPr lIns="0" rIns="0" tIns="0" bIns="0" anchor="ctr"/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0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</p:spPr>
        <p:txBody>
          <a:bodyPr lIns="0" rIns="0" tIns="0" bIns="0" anchor="ctr"/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0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</p:spPr>
        <p:txBody>
          <a:bodyPr lIns="0" rIns="0" tIns="0" bIns="0" anchor="ctr"/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</p:spPr>
        <p:txBody>
          <a:bodyPr lIns="0" rIns="0" tIns="0" bIns="0" anchor="ctr"/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35326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 type="body"/>
          </p:nvPr>
        </p:nvSpPr>
        <p:spPr>
          <a:xfrm>
            <a:off x="4319280" y="1604520"/>
            <a:ext cx="35326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 type="body"/>
          </p:nvPr>
        </p:nvSpPr>
        <p:spPr>
          <a:xfrm>
            <a:off x="8028720" y="1604520"/>
            <a:ext cx="35326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 type="body"/>
          </p:nvPr>
        </p:nvSpPr>
        <p:spPr>
          <a:xfrm>
            <a:off x="609480" y="3682080"/>
            <a:ext cx="35326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 type="body"/>
          </p:nvPr>
        </p:nvSpPr>
        <p:spPr>
          <a:xfrm>
            <a:off x="4319280" y="3682080"/>
            <a:ext cx="35326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 type="body"/>
          </p:nvPr>
        </p:nvSpPr>
        <p:spPr>
          <a:xfrm>
            <a:off x="8028720" y="3682080"/>
            <a:ext cx="35326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</p:spPr>
        <p:txBody>
          <a:bodyPr anchor="ctr"/>
          <a:p>
            <a:pPr>
              <a:lnSpc>
                <a:spcPct val="100000"/>
              </a:lnSpc>
            </a:pPr>
            <a:fld id="{0C6D1073-8DC0-4B31-BD34-06552E02A239}" type="datetime">
              <a:rPr b="0" lang="it-IT" sz="1200" spc="-1" strike="noStrike">
                <a:solidFill>
                  <a:srgbClr val="8b8b8b"/>
                </a:solidFill>
                <a:latin typeface="Calibri"/>
              </a:rPr>
              <a:t>07/09/26</a:t>
            </a:fld>
            <a:endParaRPr b="0" lang="it-IT" sz="1200" spc="-1" strike="noStrike">
              <a:latin typeface="Times New Roman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</p:spPr>
        <p:txBody>
          <a:bodyPr anchor="ctr"/>
          <a:p>
            <a:endParaRPr b="0" lang="it-IT" sz="2400" spc="-1" strike="noStrike"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</p:spPr>
        <p:txBody>
          <a:bodyPr anchor="ctr"/>
          <a:p>
            <a:pPr algn="r">
              <a:lnSpc>
                <a:spcPct val="100000"/>
              </a:lnSpc>
            </a:pPr>
            <a:fld id="{004365F1-31B3-498E-AF0A-0843A7E1C8A5}" type="slidenum">
              <a:rPr b="0" lang="it-IT" sz="1200" spc="-1" strike="noStrike">
                <a:solidFill>
                  <a:srgbClr val="8b8b8b"/>
                </a:solidFill>
                <a:latin typeface="Calibri"/>
              </a:rPr>
              <a:t>&lt;numero&gt;</a:t>
            </a:fld>
            <a:endParaRPr b="0" lang="it-IT" sz="12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</p:spPr>
        <p:txBody>
          <a:bodyPr lIns="0" rIns="0" tIns="0" bIns="0" anchor="ctr"/>
          <a:p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Fai clic per modificare il formato del testo del titolo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Fai clic per modificare il formato del testo della struttura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Secondo livello struttura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Terzo livello struttura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Quarto livello struttura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Quinto livello struttura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Sesto livello struttura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Settimo livello struttura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CustomShape 1"/>
          <p:cNvSpPr/>
          <p:nvPr/>
        </p:nvSpPr>
        <p:spPr>
          <a:xfrm>
            <a:off x="3934080" y="1554480"/>
            <a:ext cx="4384440" cy="6998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/>
          <a:p>
            <a:pPr algn="ctr">
              <a:lnSpc>
                <a:spcPct val="100000"/>
              </a:lnSpc>
            </a:pPr>
            <a:r>
              <a:rPr b="1" lang="it-IT" sz="4000" spc="-1" strike="noStrike">
                <a:solidFill>
                  <a:srgbClr val="000000"/>
                </a:solidFill>
                <a:latin typeface="Arial"/>
              </a:rPr>
              <a:t>Eccezioni in Java</a:t>
            </a:r>
            <a:endParaRPr b="0" lang="it-IT" sz="4000" spc="-1" strike="noStrike">
              <a:latin typeface="Arial"/>
            </a:endParaRPr>
          </a:p>
        </p:txBody>
      </p:sp>
      <p:sp>
        <p:nvSpPr>
          <p:cNvPr id="42" name="CustomShape 2"/>
          <p:cNvSpPr/>
          <p:nvPr/>
        </p:nvSpPr>
        <p:spPr>
          <a:xfrm>
            <a:off x="2756160" y="2880360"/>
            <a:ext cx="6740280" cy="4406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/>
          <a:p>
            <a:pPr algn="ctr">
              <a:lnSpc>
                <a:spcPct val="100000"/>
              </a:lnSpc>
            </a:pPr>
            <a:r>
              <a:rPr b="0" lang="it-IT" sz="2300" spc="-1" strike="noStrike">
                <a:solidFill>
                  <a:srgbClr val="232323"/>
                </a:solidFill>
                <a:latin typeface="Arial"/>
              </a:rPr>
              <a:t>Gestire gli errori senza far collassare il programma</a:t>
            </a:r>
            <a:endParaRPr b="0" lang="it-IT" sz="2300" spc="-1" strike="noStrike">
              <a:latin typeface="Arial"/>
            </a:endParaRPr>
          </a:p>
        </p:txBody>
      </p:sp>
    </p:spTree>
  </p:cSld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CustomShape 1"/>
          <p:cNvSpPr/>
          <p:nvPr/>
        </p:nvSpPr>
        <p:spPr>
          <a:xfrm>
            <a:off x="3607920" y="320040"/>
            <a:ext cx="4944960" cy="5169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/>
          <a:p>
            <a:pPr>
              <a:lnSpc>
                <a:spcPct val="100000"/>
              </a:lnSpc>
            </a:pPr>
            <a:r>
              <a:rPr b="1" lang="it-IT" sz="2800" spc="-1" strike="noStrike">
                <a:solidFill>
                  <a:srgbClr val="000000"/>
                </a:solidFill>
                <a:latin typeface="Arial"/>
              </a:rPr>
              <a:t>Perché servono le eccezioni</a:t>
            </a:r>
            <a:endParaRPr b="0" lang="it-IT" sz="2800" spc="-1" strike="noStrike">
              <a:latin typeface="Arial"/>
            </a:endParaRPr>
          </a:p>
        </p:txBody>
      </p:sp>
      <p:sp>
        <p:nvSpPr>
          <p:cNvPr id="44" name="CustomShape 2"/>
          <p:cNvSpPr/>
          <p:nvPr/>
        </p:nvSpPr>
        <p:spPr>
          <a:xfrm>
            <a:off x="731520" y="1234440"/>
            <a:ext cx="10789560" cy="23918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it-IT" sz="2100" spc="-1" strike="noStrike">
                <a:solidFill>
                  <a:srgbClr val="000000"/>
                </a:solidFill>
                <a:latin typeface="Arial"/>
              </a:rPr>
              <a:t>Durante l'esecuzione possono verificarsi condizioni non previste dal flusso normale.</a:t>
            </a:r>
            <a:endParaRPr b="0" lang="it-IT" sz="21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it-IT" sz="2100" spc="-1" strike="noStrike">
                <a:solidFill>
                  <a:srgbClr val="000000"/>
                </a:solidFill>
                <a:latin typeface="Arial"/>
              </a:rPr>
              <a:t>Esempi presenti negli esercizi: divisione per zero, indice di array non valido, formato numerico errato, input non compatibile.</a:t>
            </a:r>
            <a:endParaRPr b="0" lang="it-IT" sz="21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it-IT" sz="2100" spc="-1" strike="noStrike">
                <a:solidFill>
                  <a:srgbClr val="000000"/>
                </a:solidFill>
                <a:latin typeface="Arial"/>
              </a:rPr>
              <a:t>Un'eccezione interrompe il normale flusso di esecuzione e può essere gestita dal programma.</a:t>
            </a:r>
            <a:endParaRPr b="0" lang="it-IT" sz="21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it-IT" sz="2100" spc="-1" strike="noStrike">
                <a:solidFill>
                  <a:srgbClr val="000000"/>
                </a:solidFill>
                <a:latin typeface="Arial"/>
              </a:rPr>
              <a:t>L'obiettivo non è 'nascondere' l'errore, ma decidere come reagire.</a:t>
            </a:r>
            <a:endParaRPr b="0" lang="it-IT" sz="2100" spc="-1" strike="noStrike">
              <a:latin typeface="Arial"/>
            </a:endParaRPr>
          </a:p>
        </p:txBody>
      </p:sp>
    </p:spTree>
  </p:cSld>
  <p:timing>
    <p:tnLst>
      <p:par>
        <p:cTn id="3" dur="indefinite" restart="never" nodeType="tmRoot">
          <p:childTnLst>
            <p:seq>
              <p:cTn id="4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CustomShape 1"/>
          <p:cNvSpPr/>
          <p:nvPr/>
        </p:nvSpPr>
        <p:spPr>
          <a:xfrm>
            <a:off x="3403080" y="320040"/>
            <a:ext cx="5355000" cy="5169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/>
          <a:p>
            <a:pPr>
              <a:lnSpc>
                <a:spcPct val="100000"/>
              </a:lnSpc>
            </a:pPr>
            <a:r>
              <a:rPr b="1" lang="it-IT" sz="2800" spc="-1" strike="noStrike">
                <a:solidFill>
                  <a:srgbClr val="000000"/>
                </a:solidFill>
                <a:latin typeface="Arial"/>
              </a:rPr>
              <a:t>Un programma senza gestione</a:t>
            </a:r>
            <a:endParaRPr b="0" lang="it-IT" sz="2800" spc="-1" strike="noStrike">
              <a:latin typeface="Arial"/>
            </a:endParaRPr>
          </a:p>
        </p:txBody>
      </p:sp>
      <p:sp>
        <p:nvSpPr>
          <p:cNvPr id="46" name="CustomShape 2"/>
          <p:cNvSpPr/>
          <p:nvPr/>
        </p:nvSpPr>
        <p:spPr>
          <a:xfrm>
            <a:off x="685800" y="1325880"/>
            <a:ext cx="10835280" cy="3748680"/>
          </a:xfrm>
          <a:prstGeom prst="roundRect">
            <a:avLst>
              <a:gd name="adj" fmla="val 16667"/>
            </a:avLst>
          </a:prstGeom>
          <a:solidFill>
            <a:srgbClr val="f5f5f5"/>
          </a:solidFill>
          <a:ln w="12600">
            <a:solidFill>
              <a:srgbClr val="dcdcdc"/>
            </a:solidFill>
            <a:round/>
          </a:ln>
          <a:effectLst>
            <a:outerShdw blurRad="40000" dir="5400000" dist="23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7" name="CustomShape 3"/>
          <p:cNvSpPr/>
          <p:nvPr/>
        </p:nvSpPr>
        <p:spPr>
          <a:xfrm>
            <a:off x="4075920" y="1435680"/>
            <a:ext cx="4055040" cy="17370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/>
          <a:p>
            <a:pPr>
              <a:lnSpc>
                <a:spcPct val="100000"/>
              </a:lnSpc>
            </a:pPr>
            <a:r>
              <a:rPr b="0" lang="it-IT" sz="1900" spc="-1" strike="noStrike">
                <a:solidFill>
                  <a:srgbClr val="000000"/>
                </a:solidFill>
                <a:latin typeface="Courier New"/>
              </a:rPr>
              <a:t>int x = 10;</a:t>
            </a:r>
            <a:br/>
            <a:r>
              <a:rPr b="0" lang="it-IT" sz="1900" spc="-1" strike="noStrike">
                <a:solidFill>
                  <a:srgbClr val="000000"/>
                </a:solidFill>
                <a:latin typeface="Courier New"/>
              </a:rPr>
              <a:t>int y = 0;</a:t>
            </a:r>
            <a:br/>
            <a:br/>
            <a:r>
              <a:rPr b="0" lang="it-IT" sz="1900" spc="-1" strike="noStrike">
                <a:solidFill>
                  <a:srgbClr val="000000"/>
                </a:solidFill>
                <a:latin typeface="Courier New"/>
              </a:rPr>
              <a:t>System.out.println("ciao1");</a:t>
            </a:r>
            <a:br/>
            <a:r>
              <a:rPr b="0" lang="it-IT" sz="1900" spc="-1" strike="noStrike">
                <a:solidFill>
                  <a:srgbClr val="000000"/>
                </a:solidFill>
                <a:latin typeface="Courier New"/>
              </a:rPr>
              <a:t>System.out.println(3 / 0);</a:t>
            </a:r>
            <a:br/>
            <a:r>
              <a:rPr b="0" lang="it-IT" sz="1900" spc="-1" strike="noStrike">
                <a:solidFill>
                  <a:srgbClr val="000000"/>
                </a:solidFill>
                <a:latin typeface="Courier New"/>
              </a:rPr>
              <a:t>System.out.println("ciao2");</a:t>
            </a:r>
            <a:endParaRPr b="0" lang="it-IT" sz="1900" spc="-1" strike="noStrike">
              <a:latin typeface="Arial"/>
            </a:endParaRPr>
          </a:p>
        </p:txBody>
      </p:sp>
      <p:sp>
        <p:nvSpPr>
          <p:cNvPr id="48" name="CustomShape 4"/>
          <p:cNvSpPr/>
          <p:nvPr/>
        </p:nvSpPr>
        <p:spPr>
          <a:xfrm>
            <a:off x="731520" y="5212080"/>
            <a:ext cx="10789560" cy="7358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it-IT" sz="1700" spc="-1" strike="noStrike">
                <a:solidFill>
                  <a:srgbClr val="000000"/>
                </a:solidFill>
                <a:latin typeface="Arial"/>
              </a:rPr>
              <a:t>L'istruzione successiva non viene eseguita perché l'eccezione interrompe il flusso.</a:t>
            </a:r>
            <a:endParaRPr b="0" lang="it-IT" sz="17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it-IT" sz="1700" spc="-1" strike="noStrike">
                <a:solidFill>
                  <a:srgbClr val="000000"/>
                </a:solidFill>
                <a:latin typeface="Arial"/>
              </a:rPr>
              <a:t>Con try/catch possiamo intercettare la situazione e stabilire cosa fare.</a:t>
            </a:r>
            <a:endParaRPr b="0" lang="it-IT" sz="1700" spc="-1" strike="noStrike">
              <a:latin typeface="Arial"/>
            </a:endParaRPr>
          </a:p>
        </p:txBody>
      </p:sp>
    </p:spTree>
  </p:cSld>
  <p:timing>
    <p:tnLst>
      <p:par>
        <p:cTn id="5" dur="indefinite" restart="never" nodeType="tmRoot">
          <p:childTnLst>
            <p:seq>
              <p:cTn id="6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CustomShape 1"/>
          <p:cNvSpPr/>
          <p:nvPr/>
        </p:nvSpPr>
        <p:spPr>
          <a:xfrm>
            <a:off x="5099040" y="320040"/>
            <a:ext cx="1962720" cy="5169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/>
          <a:p>
            <a:pPr>
              <a:lnSpc>
                <a:spcPct val="100000"/>
              </a:lnSpc>
            </a:pPr>
            <a:r>
              <a:rPr b="1" lang="it-IT" sz="2800" spc="-1" strike="noStrike">
                <a:solidFill>
                  <a:srgbClr val="000000"/>
                </a:solidFill>
                <a:latin typeface="Arial"/>
              </a:rPr>
              <a:t>try e catch</a:t>
            </a:r>
            <a:endParaRPr b="0" lang="it-IT" sz="2800" spc="-1" strike="noStrike">
              <a:latin typeface="Arial"/>
            </a:endParaRPr>
          </a:p>
        </p:txBody>
      </p:sp>
      <p:sp>
        <p:nvSpPr>
          <p:cNvPr id="50" name="CustomShape 2"/>
          <p:cNvSpPr/>
          <p:nvPr/>
        </p:nvSpPr>
        <p:spPr>
          <a:xfrm>
            <a:off x="685800" y="1325880"/>
            <a:ext cx="10835280" cy="4480200"/>
          </a:xfrm>
          <a:prstGeom prst="roundRect">
            <a:avLst>
              <a:gd name="adj" fmla="val 16667"/>
            </a:avLst>
          </a:prstGeom>
          <a:solidFill>
            <a:srgbClr val="f5f5f5"/>
          </a:solidFill>
          <a:ln w="12600">
            <a:solidFill>
              <a:srgbClr val="dcdcdc"/>
            </a:solidFill>
            <a:round/>
          </a:ln>
          <a:effectLst>
            <a:outerShdw blurRad="40000" dir="5400000" dist="23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51" name="CustomShape 3"/>
          <p:cNvSpPr/>
          <p:nvPr/>
        </p:nvSpPr>
        <p:spPr>
          <a:xfrm>
            <a:off x="3085200" y="1435680"/>
            <a:ext cx="6036120" cy="21949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/>
          <a:p>
            <a:pPr>
              <a:lnSpc>
                <a:spcPct val="100000"/>
              </a:lnSpc>
            </a:pPr>
            <a:r>
              <a:rPr b="0" lang="it-IT" sz="1800" spc="-1" strike="noStrike">
                <a:solidFill>
                  <a:srgbClr val="000000"/>
                </a:solidFill>
                <a:latin typeface="Courier New"/>
              </a:rPr>
              <a:t>try {</a:t>
            </a:r>
            <a:br/>
            <a:r>
              <a:rPr b="0" lang="it-IT" sz="1800" spc="-1" strike="noStrike">
                <a:solidFill>
                  <a:srgbClr val="000000"/>
                </a:solidFill>
                <a:latin typeface="Courier New"/>
              </a:rPr>
              <a:t>    int a = 5;</a:t>
            </a:r>
            <a:br/>
            <a:r>
              <a:rPr b="0" lang="it-IT" sz="1800" spc="-1" strike="noStrike">
                <a:solidFill>
                  <a:srgbClr val="000000"/>
                </a:solidFill>
                <a:latin typeface="Courier New"/>
              </a:rPr>
              <a:t>    int b = 0;</a:t>
            </a:r>
            <a:br/>
            <a:r>
              <a:rPr b="0" lang="it-IT" sz="1800" spc="-1" strike="noStrike">
                <a:solidFill>
                  <a:srgbClr val="000000"/>
                </a:solidFill>
                <a:latin typeface="Courier New"/>
              </a:rPr>
              <a:t>    int c = a / b;</a:t>
            </a:r>
            <a:br/>
            <a:r>
              <a:rPr b="0" lang="it-IT" sz="1800" spc="-1" strike="noStrike">
                <a:solidFill>
                  <a:srgbClr val="000000"/>
                </a:solidFill>
                <a:latin typeface="Courier New"/>
              </a:rPr>
              <a:t>    System.out.println(c);</a:t>
            </a:r>
            <a:br/>
            <a:r>
              <a:rPr b="0" lang="it-IT" sz="1800" spc="-1" strike="noStrike">
                <a:solidFill>
                  <a:srgbClr val="000000"/>
                </a:solidFill>
                <a:latin typeface="Courier New"/>
              </a:rPr>
              <a:t>} catch (ArithmeticException e) {</a:t>
            </a:r>
            <a:br/>
            <a:r>
              <a:rPr b="0" lang="it-IT" sz="1800" spc="-1" strike="noStrike">
                <a:solidFill>
                  <a:srgbClr val="000000"/>
                </a:solidFill>
                <a:latin typeface="Courier New"/>
              </a:rPr>
              <a:t>    System.out.println("Errore aritmetico");</a:t>
            </a:r>
            <a:br/>
            <a:r>
              <a:rPr b="0" lang="it-IT" sz="1800" spc="-1" strike="noStrike">
                <a:solidFill>
                  <a:srgbClr val="000000"/>
                </a:solidFill>
                <a:latin typeface="Courier New"/>
              </a:rPr>
              <a:t>}</a:t>
            </a:r>
            <a:endParaRPr b="0" lang="it-IT" sz="1800" spc="-1" strike="noStrike">
              <a:latin typeface="Arial"/>
            </a:endParaRPr>
          </a:p>
        </p:txBody>
      </p:sp>
      <p:sp>
        <p:nvSpPr>
          <p:cNvPr id="52" name="CustomShape 4"/>
          <p:cNvSpPr/>
          <p:nvPr/>
        </p:nvSpPr>
        <p:spPr>
          <a:xfrm>
            <a:off x="2694960" y="5989320"/>
            <a:ext cx="6862320" cy="272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/>
          <a:p>
            <a:pPr>
              <a:lnSpc>
                <a:spcPct val="100000"/>
              </a:lnSpc>
            </a:pPr>
            <a:r>
              <a:rPr b="0" i="1" lang="it-IT" sz="1200" spc="-1" strike="noStrike">
                <a:solidFill>
                  <a:srgbClr val="232323"/>
                </a:solidFill>
                <a:latin typeface="Arial"/>
              </a:rPr>
              <a:t>Dal file 10_EsempioArithmeticException.java: l'operazione rischiosa è nel try, la gestione nel catch.</a:t>
            </a:r>
            <a:endParaRPr b="0" lang="it-IT" sz="1200" spc="-1" strike="noStrike">
              <a:latin typeface="Arial"/>
            </a:endParaRPr>
          </a:p>
        </p:txBody>
      </p:sp>
    </p:spTree>
  </p:cSld>
  <p:timing>
    <p:tnLst>
      <p:par>
        <p:cTn id="7" dur="indefinite" restart="never" nodeType="tmRoot">
          <p:childTnLst>
            <p:seq>
              <p:cTn id="8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CustomShape 1"/>
          <p:cNvSpPr/>
          <p:nvPr/>
        </p:nvSpPr>
        <p:spPr>
          <a:xfrm>
            <a:off x="3358080" y="320040"/>
            <a:ext cx="5445000" cy="5169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/>
          <a:p>
            <a:pPr>
              <a:lnSpc>
                <a:spcPct val="100000"/>
              </a:lnSpc>
            </a:pPr>
            <a:r>
              <a:rPr b="1" lang="it-IT" sz="2800" spc="-1" strike="noStrike">
                <a:solidFill>
                  <a:srgbClr val="000000"/>
                </a:solidFill>
                <a:latin typeface="Arial"/>
              </a:rPr>
              <a:t>Che cos'è l'oggetto eccezione?</a:t>
            </a:r>
            <a:endParaRPr b="0" lang="it-IT" sz="2800" spc="-1" strike="noStrike">
              <a:latin typeface="Arial"/>
            </a:endParaRPr>
          </a:p>
        </p:txBody>
      </p:sp>
      <p:sp>
        <p:nvSpPr>
          <p:cNvPr id="54" name="CustomShape 2"/>
          <p:cNvSpPr/>
          <p:nvPr/>
        </p:nvSpPr>
        <p:spPr>
          <a:xfrm>
            <a:off x="731520" y="1234440"/>
            <a:ext cx="10789560" cy="20718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it-IT" sz="2100" spc="-1" strike="noStrike">
                <a:solidFill>
                  <a:srgbClr val="000000"/>
                </a:solidFill>
                <a:latin typeface="Arial"/>
              </a:rPr>
              <a:t>Nel catch riceviamo un oggetto che descrive l'eccezione avvenuta.</a:t>
            </a:r>
            <a:endParaRPr b="0" lang="it-IT" sz="21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it-IT" sz="2100" spc="-1" strike="noStrike">
                <a:solidFill>
                  <a:srgbClr val="000000"/>
                </a:solidFill>
                <a:latin typeface="Arial"/>
              </a:rPr>
              <a:t>La variabile e può essere usata per ottenere informazioni sull'errore.</a:t>
            </a:r>
            <a:endParaRPr b="0" lang="it-IT" sz="21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it-IT" sz="2100" spc="-1" strike="noStrike">
                <a:solidFill>
                  <a:srgbClr val="000000"/>
                </a:solidFill>
                <a:latin typeface="Arial"/>
              </a:rPr>
              <a:t>e.getMessage() restituisce il messaggio associato all'eccezione.</a:t>
            </a:r>
            <a:endParaRPr b="0" lang="it-IT" sz="21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it-IT" sz="2100" spc="-1" strike="noStrike">
                <a:solidFill>
                  <a:srgbClr val="000000"/>
                </a:solidFill>
                <a:latin typeface="Arial"/>
              </a:rPr>
              <a:t>e.printStackTrace() stampa lo stack delle chiamate, utile per capire dove si è verificato il problema.</a:t>
            </a:r>
            <a:endParaRPr b="0" lang="it-IT" sz="2100" spc="-1" strike="noStrike">
              <a:latin typeface="Arial"/>
            </a:endParaRPr>
          </a:p>
        </p:txBody>
      </p:sp>
      <p:sp>
        <p:nvSpPr>
          <p:cNvPr id="55" name="CustomShape 3"/>
          <p:cNvSpPr/>
          <p:nvPr/>
        </p:nvSpPr>
        <p:spPr>
          <a:xfrm>
            <a:off x="685800" y="4297680"/>
            <a:ext cx="10835280" cy="1325520"/>
          </a:xfrm>
          <a:prstGeom prst="roundRect">
            <a:avLst>
              <a:gd name="adj" fmla="val 16667"/>
            </a:avLst>
          </a:prstGeom>
          <a:solidFill>
            <a:srgbClr val="f5f5f5"/>
          </a:solidFill>
          <a:ln w="12600">
            <a:solidFill>
              <a:srgbClr val="dcdcdc"/>
            </a:solidFill>
            <a:round/>
          </a:ln>
          <a:effectLst>
            <a:outerShdw blurRad="40000" dir="5400000" dist="23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56" name="CustomShape 4"/>
          <p:cNvSpPr/>
          <p:nvPr/>
        </p:nvSpPr>
        <p:spPr>
          <a:xfrm>
            <a:off x="3576600" y="4407480"/>
            <a:ext cx="5053320" cy="10371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/>
          <a:p>
            <a:pPr>
              <a:lnSpc>
                <a:spcPct val="100000"/>
              </a:lnSpc>
            </a:pPr>
            <a:r>
              <a:rPr b="0" lang="it-IT" sz="1700" spc="-1" strike="noStrike">
                <a:solidFill>
                  <a:srgbClr val="000000"/>
                </a:solidFill>
                <a:latin typeface="Courier New"/>
              </a:rPr>
              <a:t>catch (NumberFormatException e) {</a:t>
            </a:r>
            <a:br/>
            <a:r>
              <a:rPr b="0" lang="it-IT" sz="1700" spc="-1" strike="noStrike">
                <a:solidFill>
                  <a:srgbClr val="000000"/>
                </a:solidFill>
                <a:latin typeface="Courier New"/>
              </a:rPr>
              <a:t>    System.out.println(e.getMessage());</a:t>
            </a:r>
            <a:br/>
            <a:r>
              <a:rPr b="0" lang="it-IT" sz="1700" spc="-1" strike="noStrike">
                <a:solidFill>
                  <a:srgbClr val="000000"/>
                </a:solidFill>
                <a:latin typeface="Courier New"/>
              </a:rPr>
              <a:t>    e.printStackTrace(System.out);</a:t>
            </a:r>
            <a:br/>
            <a:r>
              <a:rPr b="0" lang="it-IT" sz="1700" spc="-1" strike="noStrike">
                <a:solidFill>
                  <a:srgbClr val="000000"/>
                </a:solidFill>
                <a:latin typeface="Courier New"/>
              </a:rPr>
              <a:t>}</a:t>
            </a:r>
            <a:endParaRPr b="0" lang="it-IT" sz="1700" spc="-1" strike="noStrike">
              <a:latin typeface="Arial"/>
            </a:endParaRPr>
          </a:p>
        </p:txBody>
      </p:sp>
    </p:spTree>
  </p:cSld>
  <p:timing>
    <p:tnLst>
      <p:par>
        <p:cTn id="9" dur="indefinite" restart="never" nodeType="tmRoot">
          <p:childTnLst>
            <p:seq>
              <p:cTn id="10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CustomShape 1"/>
          <p:cNvSpPr/>
          <p:nvPr/>
        </p:nvSpPr>
        <p:spPr>
          <a:xfrm>
            <a:off x="4250160" y="320040"/>
            <a:ext cx="3660480" cy="5169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/>
          <a:p>
            <a:pPr>
              <a:lnSpc>
                <a:spcPct val="100000"/>
              </a:lnSpc>
            </a:pPr>
            <a:r>
              <a:rPr b="1" lang="it-IT" sz="2800" spc="-1" strike="noStrike">
                <a:solidFill>
                  <a:srgbClr val="000000"/>
                </a:solidFill>
                <a:latin typeface="Arial"/>
              </a:rPr>
              <a:t>Eccezioni specifiche</a:t>
            </a:r>
            <a:endParaRPr b="0" lang="it-IT" sz="2800" spc="-1" strike="noStrike">
              <a:latin typeface="Arial"/>
            </a:endParaRPr>
          </a:p>
        </p:txBody>
      </p:sp>
      <p:sp>
        <p:nvSpPr>
          <p:cNvPr id="58" name="CustomShape 2"/>
          <p:cNvSpPr/>
          <p:nvPr/>
        </p:nvSpPr>
        <p:spPr>
          <a:xfrm>
            <a:off x="731520" y="1234440"/>
            <a:ext cx="10789560" cy="19702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it-IT" sz="1800" spc="-1" strike="noStrike">
                <a:solidFill>
                  <a:srgbClr val="000000"/>
                </a:solidFill>
                <a:latin typeface="Arial"/>
              </a:rPr>
              <a:t>Java mette a disposizione diversi tipi di eccezione.</a:t>
            </a:r>
            <a:endParaRPr b="0" lang="it-IT" sz="18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it-IT" sz="1800" spc="-1" strike="noStrike">
                <a:solidFill>
                  <a:srgbClr val="000000"/>
                </a:solidFill>
                <a:latin typeface="Arial"/>
              </a:rPr>
              <a:t>ArithmeticException → operazioni aritmetiche non ammissibili, come la divisione intera per zero.</a:t>
            </a:r>
            <a:endParaRPr b="0" lang="it-IT" sz="18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it-IT" sz="1800" spc="-1" strike="noStrike">
                <a:solidFill>
                  <a:srgbClr val="000000"/>
                </a:solidFill>
                <a:latin typeface="Arial"/>
              </a:rPr>
              <a:t>ArrayIndexOutOfBoundsException → accesso a un indice non valido di un array.</a:t>
            </a:r>
            <a:endParaRPr b="0" lang="it-IT" sz="18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it-IT" sz="1800" spc="-1" strike="noStrike">
                <a:solidFill>
                  <a:srgbClr val="000000"/>
                </a:solidFill>
                <a:latin typeface="Arial"/>
              </a:rPr>
              <a:t>NumberFormatException → una stringa non può essere convertita nel formato numerico richiesto.</a:t>
            </a:r>
            <a:endParaRPr b="0" lang="it-IT" sz="18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it-IT" sz="1800" spc="-1" strike="noStrike">
                <a:solidFill>
                  <a:srgbClr val="000000"/>
                </a:solidFill>
                <a:latin typeface="Arial"/>
              </a:rPr>
              <a:t>InputMismatchException → Scanner riceve un valore di tipo diverso da quello richiesto.</a:t>
            </a:r>
            <a:endParaRPr b="0" lang="it-IT" sz="1800" spc="-1" strike="noStrike">
              <a:latin typeface="Arial"/>
            </a:endParaRPr>
          </a:p>
        </p:txBody>
      </p:sp>
    </p:spTree>
  </p:cSld>
  <p:timing>
    <p:tnLst>
      <p:par>
        <p:cTn id="11" dur="indefinite" restart="never" nodeType="tmRoot">
          <p:childTnLst>
            <p:seq>
              <p:cTn id="12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CustomShape 1"/>
          <p:cNvSpPr/>
          <p:nvPr/>
        </p:nvSpPr>
        <p:spPr>
          <a:xfrm>
            <a:off x="3049560" y="320040"/>
            <a:ext cx="6062040" cy="5169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/>
          <a:p>
            <a:pPr>
              <a:lnSpc>
                <a:spcPct val="100000"/>
              </a:lnSpc>
            </a:pPr>
            <a:r>
              <a:rPr b="1" lang="it-IT" sz="2800" spc="-1" strike="noStrike">
                <a:solidFill>
                  <a:srgbClr val="000000"/>
                </a:solidFill>
                <a:latin typeface="Arial"/>
              </a:rPr>
              <a:t>ArrayIndexOutOfBoundsException</a:t>
            </a:r>
            <a:endParaRPr b="0" lang="it-IT" sz="2800" spc="-1" strike="noStrike">
              <a:latin typeface="Arial"/>
            </a:endParaRPr>
          </a:p>
        </p:txBody>
      </p:sp>
      <p:sp>
        <p:nvSpPr>
          <p:cNvPr id="60" name="CustomShape 2"/>
          <p:cNvSpPr/>
          <p:nvPr/>
        </p:nvSpPr>
        <p:spPr>
          <a:xfrm>
            <a:off x="685800" y="1325880"/>
            <a:ext cx="10835280" cy="4114440"/>
          </a:xfrm>
          <a:prstGeom prst="roundRect">
            <a:avLst>
              <a:gd name="adj" fmla="val 16667"/>
            </a:avLst>
          </a:prstGeom>
          <a:solidFill>
            <a:srgbClr val="f5f5f5"/>
          </a:solidFill>
          <a:ln w="12600">
            <a:solidFill>
              <a:srgbClr val="dcdcdc"/>
            </a:solidFill>
            <a:round/>
          </a:ln>
          <a:effectLst>
            <a:outerShdw blurRad="40000" dir="5400000" dist="23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61" name="CustomShape 3"/>
          <p:cNvSpPr/>
          <p:nvPr/>
        </p:nvSpPr>
        <p:spPr>
          <a:xfrm>
            <a:off x="2879640" y="1435680"/>
            <a:ext cx="6447600" cy="19206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/>
          <a:p>
            <a:pPr>
              <a:lnSpc>
                <a:spcPct val="100000"/>
              </a:lnSpc>
            </a:pPr>
            <a:r>
              <a:rPr b="0" lang="it-IT" sz="1800" spc="-1" strike="noStrike">
                <a:solidFill>
                  <a:srgbClr val="000000"/>
                </a:solidFill>
                <a:latin typeface="Courier New"/>
              </a:rPr>
              <a:t>String[] frutti = { "mele", "pere", "banane" };</a:t>
            </a:r>
            <a:br/>
            <a:br/>
            <a:r>
              <a:rPr b="0" lang="it-IT" sz="1800" spc="-1" strike="noStrike">
                <a:solidFill>
                  <a:srgbClr val="000000"/>
                </a:solidFill>
                <a:latin typeface="Courier New"/>
              </a:rPr>
              <a:t>try {</a:t>
            </a:r>
            <a:br/>
            <a:r>
              <a:rPr b="0" lang="it-IT" sz="1800" spc="-1" strike="noStrike">
                <a:solidFill>
                  <a:srgbClr val="000000"/>
                </a:solidFill>
                <a:latin typeface="Courier New"/>
              </a:rPr>
              <a:t>    System.out.println(frutti[3]);</a:t>
            </a:r>
            <a:br/>
            <a:r>
              <a:rPr b="0" lang="it-IT" sz="1800" spc="-1" strike="noStrike">
                <a:solidFill>
                  <a:srgbClr val="000000"/>
                </a:solidFill>
                <a:latin typeface="Courier New"/>
              </a:rPr>
              <a:t>} catch (ArrayIndexOutOfBoundsException e) {</a:t>
            </a:r>
            <a:br/>
            <a:r>
              <a:rPr b="0" lang="it-IT" sz="1800" spc="-1" strike="noStrike">
                <a:solidFill>
                  <a:srgbClr val="000000"/>
                </a:solidFill>
                <a:latin typeface="Courier New"/>
              </a:rPr>
              <a:t>    System.out.println("Indice non valido");</a:t>
            </a:r>
            <a:br/>
            <a:r>
              <a:rPr b="0" lang="it-IT" sz="1800" spc="-1" strike="noStrike">
                <a:solidFill>
                  <a:srgbClr val="000000"/>
                </a:solidFill>
                <a:latin typeface="Courier New"/>
              </a:rPr>
              <a:t>}</a:t>
            </a:r>
            <a:endParaRPr b="0" lang="it-IT" sz="1800" spc="-1" strike="noStrike">
              <a:latin typeface="Arial"/>
            </a:endParaRPr>
          </a:p>
        </p:txBody>
      </p:sp>
      <p:sp>
        <p:nvSpPr>
          <p:cNvPr id="62" name="CustomShape 4"/>
          <p:cNvSpPr/>
          <p:nvPr/>
        </p:nvSpPr>
        <p:spPr>
          <a:xfrm>
            <a:off x="4557240" y="5989320"/>
            <a:ext cx="3137760" cy="272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/>
          <a:p>
            <a:pPr>
              <a:lnSpc>
                <a:spcPct val="100000"/>
              </a:lnSpc>
            </a:pPr>
            <a:r>
              <a:rPr b="0" i="1" lang="it-IT" sz="1200" spc="-1" strike="noStrike">
                <a:solidFill>
                  <a:srgbClr val="232323"/>
                </a:solidFill>
                <a:latin typeface="Arial"/>
              </a:rPr>
              <a:t>L'array ha indici 0, 1 e 2: frutti[3] non esiste.</a:t>
            </a:r>
            <a:endParaRPr b="0" lang="it-IT" sz="1200" spc="-1" strike="noStrike">
              <a:latin typeface="Arial"/>
            </a:endParaRPr>
          </a:p>
        </p:txBody>
      </p:sp>
    </p:spTree>
  </p:cSld>
  <p:timing>
    <p:tnLst>
      <p:par>
        <p:cTn id="13" dur="indefinite" restart="never" nodeType="tmRoot">
          <p:childTnLst>
            <p:seq>
              <p:cTn id="14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CustomShape 1"/>
          <p:cNvSpPr/>
          <p:nvPr/>
        </p:nvSpPr>
        <p:spPr>
          <a:xfrm>
            <a:off x="3868560" y="320040"/>
            <a:ext cx="4424040" cy="5169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/>
          <a:p>
            <a:pPr>
              <a:lnSpc>
                <a:spcPct val="100000"/>
              </a:lnSpc>
            </a:pPr>
            <a:r>
              <a:rPr b="1" lang="it-IT" sz="2800" spc="-1" strike="noStrike">
                <a:solidFill>
                  <a:srgbClr val="000000"/>
                </a:solidFill>
                <a:latin typeface="Arial"/>
              </a:rPr>
              <a:t>NumberFormatException</a:t>
            </a:r>
            <a:endParaRPr b="0" lang="it-IT" sz="2800" spc="-1" strike="noStrike">
              <a:latin typeface="Arial"/>
            </a:endParaRPr>
          </a:p>
        </p:txBody>
      </p:sp>
      <p:sp>
        <p:nvSpPr>
          <p:cNvPr id="64" name="CustomShape 2"/>
          <p:cNvSpPr/>
          <p:nvPr/>
        </p:nvSpPr>
        <p:spPr>
          <a:xfrm>
            <a:off x="685800" y="1325880"/>
            <a:ext cx="10835280" cy="4571640"/>
          </a:xfrm>
          <a:prstGeom prst="roundRect">
            <a:avLst>
              <a:gd name="adj" fmla="val 16667"/>
            </a:avLst>
          </a:prstGeom>
          <a:solidFill>
            <a:srgbClr val="f5f5f5"/>
          </a:solidFill>
          <a:ln w="12600">
            <a:solidFill>
              <a:srgbClr val="dcdcdc"/>
            </a:solidFill>
            <a:round/>
          </a:ln>
          <a:effectLst>
            <a:outerShdw blurRad="40000" dir="5400000" dist="23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65" name="CustomShape 3"/>
          <p:cNvSpPr/>
          <p:nvPr/>
        </p:nvSpPr>
        <p:spPr>
          <a:xfrm>
            <a:off x="3176640" y="1435680"/>
            <a:ext cx="5853240" cy="26773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/>
          <a:p>
            <a:pPr>
              <a:lnSpc>
                <a:spcPct val="100000"/>
              </a:lnSpc>
            </a:pPr>
            <a:r>
              <a:rPr b="0" lang="it-IT" sz="1600" spc="-1" strike="noStrike">
                <a:solidFill>
                  <a:srgbClr val="000000"/>
                </a:solidFill>
                <a:latin typeface="Courier New"/>
              </a:rPr>
              <a:t>private static void leggiNumero(String string) {</a:t>
            </a:r>
            <a:br/>
            <a:r>
              <a:rPr b="0" lang="it-IT" sz="1600" spc="-1" strike="noStrike">
                <a:solidFill>
                  <a:srgbClr val="000000"/>
                </a:solidFill>
                <a:latin typeface="Courier New"/>
              </a:rPr>
              <a:t>    try {</a:t>
            </a:r>
            <a:br/>
            <a:r>
              <a:rPr b="0" lang="it-IT" sz="1600" spc="-1" strike="noStrike">
                <a:solidFill>
                  <a:srgbClr val="000000"/>
                </a:solidFill>
                <a:latin typeface="Courier New"/>
              </a:rPr>
              <a:t>        int i = Integer.parseInt(string);</a:t>
            </a:r>
            <a:br/>
            <a:r>
              <a:rPr b="0" lang="it-IT" sz="1600" spc="-1" strike="noStrike">
                <a:solidFill>
                  <a:srgbClr val="000000"/>
                </a:solidFill>
                <a:latin typeface="Courier New"/>
              </a:rPr>
              <a:t>        System.out.println("i=" + i);</a:t>
            </a:r>
            <a:br/>
            <a:r>
              <a:rPr b="0" lang="it-IT" sz="1600" spc="-1" strike="noStrike">
                <a:solidFill>
                  <a:srgbClr val="000000"/>
                </a:solidFill>
                <a:latin typeface="Courier New"/>
              </a:rPr>
              <a:t>    } catch (NumberFormatException e) {</a:t>
            </a:r>
            <a:br/>
            <a:r>
              <a:rPr b="0" lang="it-IT" sz="1600" spc="-1" strike="noStrike">
                <a:solidFill>
                  <a:srgbClr val="000000"/>
                </a:solidFill>
                <a:latin typeface="Courier New"/>
              </a:rPr>
              <a:t>        System.out.println(e.getMessage());</a:t>
            </a:r>
            <a:br/>
            <a:r>
              <a:rPr b="0" lang="it-IT" sz="1600" spc="-1" strike="noStrike">
                <a:solidFill>
                  <a:srgbClr val="000000"/>
                </a:solidFill>
                <a:latin typeface="Courier New"/>
              </a:rPr>
              <a:t>    }</a:t>
            </a:r>
            <a:br/>
            <a:r>
              <a:rPr b="0" lang="it-IT" sz="1600" spc="-1" strike="noStrike">
                <a:solidFill>
                  <a:srgbClr val="000000"/>
                </a:solidFill>
                <a:latin typeface="Courier New"/>
              </a:rPr>
              <a:t>}</a:t>
            </a:r>
            <a:br/>
            <a:br/>
            <a:r>
              <a:rPr b="0" lang="it-IT" sz="1600" spc="-1" strike="noStrike">
                <a:solidFill>
                  <a:srgbClr val="000000"/>
                </a:solidFill>
                <a:latin typeface="Courier New"/>
              </a:rPr>
              <a:t>leggiNumero("123");   // valido</a:t>
            </a:r>
            <a:br/>
            <a:r>
              <a:rPr b="0" lang="it-IT" sz="1600" spc="-1" strike="noStrike">
                <a:solidFill>
                  <a:srgbClr val="000000"/>
                </a:solidFill>
                <a:latin typeface="Courier New"/>
              </a:rPr>
              <a:t>leggiNumero("i23");   // eccezione</a:t>
            </a:r>
            <a:endParaRPr b="0" lang="it-IT" sz="1600" spc="-1" strike="noStrike">
              <a:latin typeface="Arial"/>
            </a:endParaRPr>
          </a:p>
        </p:txBody>
      </p:sp>
      <p:sp>
        <p:nvSpPr>
          <p:cNvPr id="66" name="CustomShape 4"/>
          <p:cNvSpPr/>
          <p:nvPr/>
        </p:nvSpPr>
        <p:spPr>
          <a:xfrm>
            <a:off x="4557240" y="5989320"/>
            <a:ext cx="3137760" cy="272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/>
          <a:p>
            <a:pPr>
              <a:lnSpc>
                <a:spcPct val="100000"/>
              </a:lnSpc>
            </a:pPr>
            <a:r>
              <a:rPr b="0" i="1" lang="it-IT" sz="1200" spc="-1" strike="noStrike">
                <a:solidFill>
                  <a:srgbClr val="232323"/>
                </a:solidFill>
                <a:latin typeface="Arial"/>
              </a:rPr>
              <a:t>Esempio 03_NumberFormatException.java.</a:t>
            </a:r>
            <a:endParaRPr b="0" lang="it-IT" sz="1200" spc="-1" strike="noStrike">
              <a:latin typeface="Arial"/>
            </a:endParaRPr>
          </a:p>
        </p:txBody>
      </p:sp>
    </p:spTree>
  </p:cSld>
  <p:timing>
    <p:tnLst>
      <p:par>
        <p:cTn id="15" dur="indefinite" restart="never" nodeType="tmRoot">
          <p:childTnLst>
            <p:seq>
              <p:cTn id="16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CustomShape 1"/>
          <p:cNvSpPr/>
          <p:nvPr/>
        </p:nvSpPr>
        <p:spPr>
          <a:xfrm>
            <a:off x="2772000" y="320040"/>
            <a:ext cx="6616800" cy="5169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/>
          <a:p>
            <a:pPr>
              <a:lnSpc>
                <a:spcPct val="100000"/>
              </a:lnSpc>
            </a:pPr>
            <a:r>
              <a:rPr b="1" lang="it-IT" sz="2800" spc="-1" strike="noStrike">
                <a:solidFill>
                  <a:srgbClr val="000000"/>
                </a:solidFill>
                <a:latin typeface="Arial"/>
              </a:rPr>
              <a:t>InputMismatchException con Scanner</a:t>
            </a:r>
            <a:endParaRPr b="0" lang="it-IT" sz="2800" spc="-1" strike="noStrike">
              <a:latin typeface="Arial"/>
            </a:endParaRPr>
          </a:p>
        </p:txBody>
      </p:sp>
      <p:sp>
        <p:nvSpPr>
          <p:cNvPr id="68" name="CustomShape 2"/>
          <p:cNvSpPr/>
          <p:nvPr/>
        </p:nvSpPr>
        <p:spPr>
          <a:xfrm>
            <a:off x="685800" y="1325880"/>
            <a:ext cx="10835280" cy="4480200"/>
          </a:xfrm>
          <a:prstGeom prst="roundRect">
            <a:avLst>
              <a:gd name="adj" fmla="val 16667"/>
            </a:avLst>
          </a:prstGeom>
          <a:solidFill>
            <a:srgbClr val="f5f5f5"/>
          </a:solidFill>
          <a:ln w="12600">
            <a:solidFill>
              <a:srgbClr val="dcdcdc"/>
            </a:solidFill>
            <a:round/>
          </a:ln>
          <a:effectLst>
            <a:outerShdw blurRad="40000" dir="5400000" dist="23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69" name="CustomShape 3"/>
          <p:cNvSpPr/>
          <p:nvPr/>
        </p:nvSpPr>
        <p:spPr>
          <a:xfrm>
            <a:off x="3317760" y="1435680"/>
            <a:ext cx="5571360" cy="2592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/>
          <a:p>
            <a:pPr>
              <a:lnSpc>
                <a:spcPct val="100000"/>
              </a:lnSpc>
            </a:pPr>
            <a:r>
              <a:rPr b="0" lang="it-IT" sz="1700" spc="-1" strike="noStrike">
                <a:solidFill>
                  <a:srgbClr val="000000"/>
                </a:solidFill>
                <a:latin typeface="Courier New"/>
              </a:rPr>
              <a:t>Scanner input = new Scanner(System.in);</a:t>
            </a:r>
            <a:br/>
            <a:r>
              <a:rPr b="0" lang="it-IT" sz="1700" spc="-1" strike="noStrike">
                <a:solidFill>
                  <a:srgbClr val="000000"/>
                </a:solidFill>
                <a:latin typeface="Courier New"/>
              </a:rPr>
              <a:t>System.out.println("Inserisci un intero");</a:t>
            </a:r>
            <a:br/>
            <a:br/>
            <a:r>
              <a:rPr b="0" lang="it-IT" sz="1700" spc="-1" strike="noStrike">
                <a:solidFill>
                  <a:srgbClr val="000000"/>
                </a:solidFill>
                <a:latin typeface="Courier New"/>
              </a:rPr>
              <a:t>try {</a:t>
            </a:r>
            <a:br/>
            <a:r>
              <a:rPr b="0" lang="it-IT" sz="1700" spc="-1" strike="noStrike">
                <a:solidFill>
                  <a:srgbClr val="000000"/>
                </a:solidFill>
                <a:latin typeface="Courier New"/>
              </a:rPr>
              <a:t>    int x = input.nextInt();</a:t>
            </a:r>
            <a:br/>
            <a:r>
              <a:rPr b="0" lang="it-IT" sz="1700" spc="-1" strike="noStrike">
                <a:solidFill>
                  <a:srgbClr val="000000"/>
                </a:solidFill>
                <a:latin typeface="Courier New"/>
              </a:rPr>
              <a:t>    System.out.println(x);</a:t>
            </a:r>
            <a:br/>
            <a:r>
              <a:rPr b="0" lang="it-IT" sz="1700" spc="-1" strike="noStrike">
                <a:solidFill>
                  <a:srgbClr val="000000"/>
                </a:solidFill>
                <a:latin typeface="Courier New"/>
              </a:rPr>
              <a:t>} catch (InputMismatchException e) {</a:t>
            </a:r>
            <a:br/>
            <a:r>
              <a:rPr b="0" lang="it-IT" sz="1700" spc="-1" strike="noStrike">
                <a:solidFill>
                  <a:srgbClr val="000000"/>
                </a:solidFill>
                <a:latin typeface="Courier New"/>
              </a:rPr>
              <a:t>    input.nextLine();</a:t>
            </a:r>
            <a:br/>
            <a:r>
              <a:rPr b="0" lang="it-IT" sz="1700" spc="-1" strike="noStrike">
                <a:solidFill>
                  <a:srgbClr val="000000"/>
                </a:solidFill>
                <a:latin typeface="Courier New"/>
              </a:rPr>
              <a:t>    System.out.println("Input non valido");</a:t>
            </a:r>
            <a:br/>
            <a:r>
              <a:rPr b="0" lang="it-IT" sz="1700" spc="-1" strike="noStrike">
                <a:solidFill>
                  <a:srgbClr val="000000"/>
                </a:solidFill>
                <a:latin typeface="Courier New"/>
              </a:rPr>
              <a:t>}</a:t>
            </a:r>
            <a:endParaRPr b="0" lang="it-IT" sz="1700" spc="-1" strike="noStrike">
              <a:latin typeface="Arial"/>
            </a:endParaRPr>
          </a:p>
        </p:txBody>
      </p:sp>
      <p:sp>
        <p:nvSpPr>
          <p:cNvPr id="70" name="CustomShape 4"/>
          <p:cNvSpPr/>
          <p:nvPr/>
        </p:nvSpPr>
        <p:spPr>
          <a:xfrm>
            <a:off x="2790360" y="5989320"/>
            <a:ext cx="6671880" cy="272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/>
          <a:p>
            <a:pPr>
              <a:lnSpc>
                <a:spcPct val="100000"/>
              </a:lnSpc>
            </a:pPr>
            <a:r>
              <a:rPr b="0" i="1" lang="it-IT" sz="1200" spc="-1" strike="noStrike">
                <a:solidFill>
                  <a:srgbClr val="232323"/>
                </a:solidFill>
                <a:latin typeface="Arial"/>
              </a:rPr>
              <a:t>Il file 04_InputMIsmatchException.java mostra anche il consumo dell'input errato con nextLine().</a:t>
            </a:r>
            <a:endParaRPr b="0" lang="it-IT" sz="1200" spc="-1" strike="noStrike">
              <a:latin typeface="Arial"/>
            </a:endParaRPr>
          </a:p>
        </p:txBody>
      </p:sp>
    </p:spTree>
  </p:cSld>
  <p:timing>
    <p:tnLst>
      <p:par>
        <p:cTn id="17" dur="indefinite" restart="never" nodeType="tmRoot">
          <p:childTnLst>
            <p:seq>
              <p:cTn id="18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CustomShape 1"/>
          <p:cNvSpPr/>
          <p:nvPr/>
        </p:nvSpPr>
        <p:spPr>
          <a:xfrm>
            <a:off x="5199840" y="320040"/>
            <a:ext cx="1761480" cy="5169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/>
          <a:p>
            <a:pPr>
              <a:lnSpc>
                <a:spcPct val="100000"/>
              </a:lnSpc>
            </a:pPr>
            <a:r>
              <a:rPr b="1" lang="it-IT" sz="2800" spc="-1" strike="noStrike">
                <a:solidFill>
                  <a:srgbClr val="000000"/>
                </a:solidFill>
                <a:latin typeface="Arial"/>
              </a:rPr>
              <a:t>Più catch</a:t>
            </a:r>
            <a:endParaRPr b="0" lang="it-IT" sz="2800" spc="-1" strike="noStrike">
              <a:latin typeface="Arial"/>
            </a:endParaRPr>
          </a:p>
        </p:txBody>
      </p:sp>
      <p:sp>
        <p:nvSpPr>
          <p:cNvPr id="72" name="CustomShape 2"/>
          <p:cNvSpPr/>
          <p:nvPr/>
        </p:nvSpPr>
        <p:spPr>
          <a:xfrm>
            <a:off x="685800" y="1325880"/>
            <a:ext cx="10835280" cy="4663080"/>
          </a:xfrm>
          <a:prstGeom prst="roundRect">
            <a:avLst>
              <a:gd name="adj" fmla="val 16667"/>
            </a:avLst>
          </a:prstGeom>
          <a:solidFill>
            <a:srgbClr val="f5f5f5"/>
          </a:solidFill>
          <a:ln w="12600">
            <a:solidFill>
              <a:srgbClr val="dcdcdc"/>
            </a:solidFill>
            <a:round/>
          </a:ln>
          <a:effectLst>
            <a:outerShdw blurRad="40000" dir="5400000" dist="23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73" name="CustomShape 3"/>
          <p:cNvSpPr/>
          <p:nvPr/>
        </p:nvSpPr>
        <p:spPr>
          <a:xfrm>
            <a:off x="3054960" y="1435680"/>
            <a:ext cx="6096960" cy="34074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/>
          <a:p>
            <a:pPr>
              <a:lnSpc>
                <a:spcPct val="100000"/>
              </a:lnSpc>
            </a:pPr>
            <a:r>
              <a:rPr b="0" lang="it-IT" sz="1600" spc="-1" strike="noStrike">
                <a:solidFill>
                  <a:srgbClr val="000000"/>
                </a:solidFill>
                <a:latin typeface="Courier New"/>
              </a:rPr>
              <a:t>try {</a:t>
            </a:r>
            <a:br/>
            <a:r>
              <a:rPr b="0" lang="it-IT" sz="1600" spc="-1" strike="noStrike">
                <a:solidFill>
                  <a:srgbClr val="000000"/>
                </a:solidFill>
                <a:latin typeface="Courier New"/>
              </a:rPr>
              <a:t>    // codice che può generare eccezioni diverse</a:t>
            </a:r>
            <a:br/>
            <a:r>
              <a:rPr b="0" lang="it-IT" sz="1600" spc="-1" strike="noStrike">
                <a:solidFill>
                  <a:srgbClr val="000000"/>
                </a:solidFill>
                <a:latin typeface="Courier New"/>
              </a:rPr>
              <a:t>    System.out.println(10 / 0);</a:t>
            </a:r>
            <a:br/>
            <a:r>
              <a:rPr b="0" lang="it-IT" sz="1600" spc="-1" strike="noStrike">
                <a:solidFill>
                  <a:srgbClr val="000000"/>
                </a:solidFill>
                <a:latin typeface="Courier New"/>
              </a:rPr>
              <a:t>    System.out.println(frutti[3]);</a:t>
            </a:r>
            <a:br/>
            <a:r>
              <a:rPr b="0" lang="it-IT" sz="1600" spc="-1" strike="noStrike">
                <a:solidFill>
                  <a:srgbClr val="000000"/>
                </a:solidFill>
                <a:latin typeface="Courier New"/>
              </a:rPr>
              <a:t>}</a:t>
            </a:r>
            <a:br/>
            <a:r>
              <a:rPr b="0" lang="it-IT" sz="1600" spc="-1" strike="noStrike">
                <a:solidFill>
                  <a:srgbClr val="000000"/>
                </a:solidFill>
                <a:latin typeface="Courier New"/>
              </a:rPr>
              <a:t>catch (ArithmeticException e) {</a:t>
            </a:r>
            <a:br/>
            <a:r>
              <a:rPr b="0" lang="it-IT" sz="1600" spc="-1" strike="noStrike">
                <a:solidFill>
                  <a:srgbClr val="000000"/>
                </a:solidFill>
                <a:latin typeface="Courier New"/>
              </a:rPr>
              <a:t>    System.out.println("Divisione per zero");</a:t>
            </a:r>
            <a:br/>
            <a:r>
              <a:rPr b="0" lang="it-IT" sz="1600" spc="-1" strike="noStrike">
                <a:solidFill>
                  <a:srgbClr val="000000"/>
                </a:solidFill>
                <a:latin typeface="Courier New"/>
              </a:rPr>
              <a:t>}</a:t>
            </a:r>
            <a:br/>
            <a:r>
              <a:rPr b="0" lang="it-IT" sz="1600" spc="-1" strike="noStrike">
                <a:solidFill>
                  <a:srgbClr val="000000"/>
                </a:solidFill>
                <a:latin typeface="Courier New"/>
              </a:rPr>
              <a:t>catch (ArrayIndexOutOfBoundsException e) {</a:t>
            </a:r>
            <a:br/>
            <a:r>
              <a:rPr b="0" lang="it-IT" sz="1600" spc="-1" strike="noStrike">
                <a:solidFill>
                  <a:srgbClr val="000000"/>
                </a:solidFill>
                <a:latin typeface="Courier New"/>
              </a:rPr>
              <a:t>    System.out.println("Indice array non valido");</a:t>
            </a:r>
            <a:br/>
            <a:r>
              <a:rPr b="0" lang="it-IT" sz="1600" spc="-1" strike="noStrike">
                <a:solidFill>
                  <a:srgbClr val="000000"/>
                </a:solidFill>
                <a:latin typeface="Courier New"/>
              </a:rPr>
              <a:t>}</a:t>
            </a:r>
            <a:br/>
            <a:r>
              <a:rPr b="0" lang="it-IT" sz="1600" spc="-1" strike="noStrike">
                <a:solidFill>
                  <a:srgbClr val="000000"/>
                </a:solidFill>
                <a:latin typeface="Courier New"/>
              </a:rPr>
              <a:t>catch (Exception e) {</a:t>
            </a:r>
            <a:br/>
            <a:r>
              <a:rPr b="0" lang="it-IT" sz="1600" spc="-1" strike="noStrike">
                <a:solidFill>
                  <a:srgbClr val="000000"/>
                </a:solidFill>
                <a:latin typeface="Courier New"/>
              </a:rPr>
              <a:t>    System.out.println("Eccezione generica");</a:t>
            </a:r>
            <a:br/>
            <a:r>
              <a:rPr b="0" lang="it-IT" sz="1600" spc="-1" strike="noStrike">
                <a:solidFill>
                  <a:srgbClr val="000000"/>
                </a:solidFill>
                <a:latin typeface="Courier New"/>
              </a:rPr>
              <a:t>}</a:t>
            </a:r>
            <a:endParaRPr b="0" lang="it-IT" sz="1600" spc="-1" strike="noStrike">
              <a:latin typeface="Arial"/>
            </a:endParaRPr>
          </a:p>
        </p:txBody>
      </p:sp>
      <p:sp>
        <p:nvSpPr>
          <p:cNvPr id="74" name="CustomShape 4"/>
          <p:cNvSpPr/>
          <p:nvPr/>
        </p:nvSpPr>
        <p:spPr>
          <a:xfrm>
            <a:off x="3779280" y="5989320"/>
            <a:ext cx="4693680" cy="272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/>
          <a:p>
            <a:pPr>
              <a:lnSpc>
                <a:spcPct val="100000"/>
              </a:lnSpc>
            </a:pPr>
            <a:r>
              <a:rPr b="0" i="1" lang="it-IT" sz="1200" spc="-1" strike="noStrike">
                <a:solidFill>
                  <a:srgbClr val="232323"/>
                </a:solidFill>
                <a:latin typeface="Arial"/>
              </a:rPr>
              <a:t>Prima si gestiscono i tipi specifici; Exception è il caso più generale.</a:t>
            </a:r>
            <a:endParaRPr b="0" lang="it-IT" sz="1200" spc="-1" strike="noStrike">
              <a:latin typeface="Arial"/>
            </a:endParaRPr>
          </a:p>
        </p:txBody>
      </p:sp>
    </p:spTree>
  </p:cSld>
  <p:timing>
    <p:tnLst>
      <p:par>
        <p:cTn id="19" dur="indefinite" restart="never" nodeType="tmRoot">
          <p:childTnLst>
            <p:seq>
              <p:cTn id="20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CustomShape 1"/>
          <p:cNvSpPr/>
          <p:nvPr/>
        </p:nvSpPr>
        <p:spPr>
          <a:xfrm>
            <a:off x="4271040" y="320040"/>
            <a:ext cx="3619080" cy="5169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/>
          <a:p>
            <a:pPr>
              <a:lnSpc>
                <a:spcPct val="100000"/>
              </a:lnSpc>
            </a:pPr>
            <a:r>
              <a:rPr b="1" lang="it-IT" sz="2800" spc="-1" strike="noStrike">
                <a:solidFill>
                  <a:srgbClr val="000000"/>
                </a:solidFill>
                <a:latin typeface="Arial"/>
              </a:rPr>
              <a:t>Il catch più generico</a:t>
            </a:r>
            <a:endParaRPr b="0" lang="it-IT" sz="2800" spc="-1" strike="noStrike">
              <a:latin typeface="Arial"/>
            </a:endParaRPr>
          </a:p>
        </p:txBody>
      </p:sp>
      <p:sp>
        <p:nvSpPr>
          <p:cNvPr id="76" name="CustomShape 2"/>
          <p:cNvSpPr/>
          <p:nvPr/>
        </p:nvSpPr>
        <p:spPr>
          <a:xfrm>
            <a:off x="731520" y="1234440"/>
            <a:ext cx="10789560" cy="17517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it-IT" sz="2100" spc="-1" strike="noStrike">
                <a:solidFill>
                  <a:srgbClr val="000000"/>
                </a:solidFill>
                <a:latin typeface="Arial"/>
              </a:rPr>
              <a:t>Exception è una superclasse molto generale per le eccezioni controllabili.</a:t>
            </a:r>
            <a:endParaRPr b="0" lang="it-IT" sz="21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it-IT" sz="2100" spc="-1" strike="noStrike">
                <a:solidFill>
                  <a:srgbClr val="000000"/>
                </a:solidFill>
                <a:latin typeface="Arial"/>
              </a:rPr>
              <a:t>Un catch(Exception e) può intercettare molti tipi di eccezione.</a:t>
            </a:r>
            <a:endParaRPr b="0" lang="it-IT" sz="21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it-IT" sz="2100" spc="-1" strike="noStrike">
                <a:solidFill>
                  <a:srgbClr val="000000"/>
                </a:solidFill>
                <a:latin typeface="Arial"/>
              </a:rPr>
              <a:t>È utile come fallback, ma un messaggio specifico è spesso più informativo.</a:t>
            </a:r>
            <a:endParaRPr b="0" lang="it-IT" sz="21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it-IT" sz="2100" spc="-1" strike="noStrike">
                <a:solidFill>
                  <a:srgbClr val="000000"/>
                </a:solidFill>
                <a:latin typeface="Arial"/>
              </a:rPr>
              <a:t>Nel codice degli esercizi viene usato insieme ai catch più specifici.</a:t>
            </a:r>
            <a:endParaRPr b="0" lang="it-IT" sz="2100" spc="-1" strike="noStrike">
              <a:latin typeface="Arial"/>
            </a:endParaRPr>
          </a:p>
        </p:txBody>
      </p:sp>
      <p:sp>
        <p:nvSpPr>
          <p:cNvPr id="77" name="CustomShape 3"/>
          <p:cNvSpPr/>
          <p:nvPr/>
        </p:nvSpPr>
        <p:spPr>
          <a:xfrm>
            <a:off x="648000" y="4286520"/>
            <a:ext cx="10835280" cy="2121480"/>
          </a:xfrm>
          <a:prstGeom prst="roundRect">
            <a:avLst>
              <a:gd name="adj" fmla="val 16667"/>
            </a:avLst>
          </a:prstGeom>
          <a:solidFill>
            <a:srgbClr val="f5f5f5"/>
          </a:solidFill>
          <a:ln w="12600">
            <a:solidFill>
              <a:srgbClr val="dcdcdc"/>
            </a:solidFill>
            <a:round/>
          </a:ln>
          <a:effectLst>
            <a:outerShdw blurRad="40000" dir="5400000" dist="23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78" name="CustomShape 4"/>
          <p:cNvSpPr/>
          <p:nvPr/>
        </p:nvSpPr>
        <p:spPr>
          <a:xfrm>
            <a:off x="3359520" y="4498920"/>
            <a:ext cx="5487480" cy="14598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/>
          <a:p>
            <a:pPr>
              <a:lnSpc>
                <a:spcPct val="100000"/>
              </a:lnSpc>
            </a:pPr>
            <a:r>
              <a:rPr b="0" lang="it-IT" sz="1600" spc="-1" strike="noStrike">
                <a:solidFill>
                  <a:srgbClr val="000000"/>
                </a:solidFill>
                <a:latin typeface="Courier New"/>
              </a:rPr>
              <a:t>catch (ArrayIndexOutOfBoundsException e) {</a:t>
            </a:r>
            <a:br/>
            <a:r>
              <a:rPr b="0" lang="it-IT" sz="1600" spc="-1" strike="noStrike">
                <a:solidFill>
                  <a:srgbClr val="000000"/>
                </a:solidFill>
                <a:latin typeface="Courier New"/>
              </a:rPr>
              <a:t>    System.out.println("Indice non valido");</a:t>
            </a:r>
            <a:br/>
            <a:r>
              <a:rPr b="0" lang="it-IT" sz="1600" spc="-1" strike="noStrike">
                <a:solidFill>
                  <a:srgbClr val="000000"/>
                </a:solidFill>
                <a:latin typeface="Courier New"/>
              </a:rPr>
              <a:t>}</a:t>
            </a:r>
            <a:br/>
            <a:r>
              <a:rPr b="0" lang="it-IT" sz="1600" spc="-1" strike="noStrike">
                <a:solidFill>
                  <a:srgbClr val="000000"/>
                </a:solidFill>
                <a:latin typeface="Courier New"/>
              </a:rPr>
              <a:t>catch (Exception e) {</a:t>
            </a:r>
            <a:br/>
            <a:r>
              <a:rPr b="0" lang="it-IT" sz="1600" spc="-1" strike="noStrike">
                <a:solidFill>
                  <a:srgbClr val="000000"/>
                </a:solidFill>
                <a:latin typeface="Courier New"/>
              </a:rPr>
              <a:t>    System.out.println("Eccezione generica");</a:t>
            </a:r>
            <a:br/>
            <a:r>
              <a:rPr b="0" lang="it-IT" sz="1600" spc="-1" strike="noStrike">
                <a:solidFill>
                  <a:srgbClr val="000000"/>
                </a:solidFill>
                <a:latin typeface="Courier New"/>
              </a:rPr>
              <a:t>}</a:t>
            </a:r>
            <a:endParaRPr b="0" lang="it-IT" sz="1600" spc="-1" strike="noStrike">
              <a:latin typeface="Arial"/>
            </a:endParaRPr>
          </a:p>
        </p:txBody>
      </p:sp>
    </p:spTree>
  </p:cSld>
  <p:timing>
    <p:tnLst>
      <p:par>
        <p:cTn id="21" dur="indefinite" restart="never" nodeType="tmRoot">
          <p:childTnLst>
            <p:seq>
              <p:cTn id="22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CustomShape 1"/>
          <p:cNvSpPr/>
          <p:nvPr/>
        </p:nvSpPr>
        <p:spPr>
          <a:xfrm>
            <a:off x="5475600" y="320040"/>
            <a:ext cx="1209960" cy="5169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/>
          <a:p>
            <a:pPr>
              <a:lnSpc>
                <a:spcPct val="100000"/>
              </a:lnSpc>
            </a:pPr>
            <a:r>
              <a:rPr b="1" lang="it-IT" sz="2800" spc="-1" strike="noStrike">
                <a:solidFill>
                  <a:srgbClr val="000000"/>
                </a:solidFill>
                <a:latin typeface="Arial"/>
              </a:rPr>
              <a:t>finally</a:t>
            </a:r>
            <a:endParaRPr b="0" lang="it-IT" sz="2800" spc="-1" strike="noStrike">
              <a:latin typeface="Arial"/>
            </a:endParaRPr>
          </a:p>
        </p:txBody>
      </p:sp>
      <p:sp>
        <p:nvSpPr>
          <p:cNvPr id="80" name="CustomShape 2"/>
          <p:cNvSpPr/>
          <p:nvPr/>
        </p:nvSpPr>
        <p:spPr>
          <a:xfrm>
            <a:off x="731520" y="1234440"/>
            <a:ext cx="10789560" cy="17517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it-IT" sz="2100" spc="-1" strike="noStrike">
                <a:solidFill>
                  <a:srgbClr val="000000"/>
                </a:solidFill>
                <a:latin typeface="Arial"/>
              </a:rPr>
              <a:t>Il blocco finally viene eseguito al termine della gestione del try/catch.</a:t>
            </a:r>
            <a:endParaRPr b="0" lang="it-IT" sz="21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it-IT" sz="2100" spc="-1" strike="noStrike">
                <a:solidFill>
                  <a:srgbClr val="000000"/>
                </a:solidFill>
                <a:latin typeface="Arial"/>
              </a:rPr>
              <a:t>È presente negli esercizi per eseguire operazioni che devono avvenire comunque.</a:t>
            </a:r>
            <a:endParaRPr b="0" lang="it-IT" sz="21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it-IT" sz="2100" spc="-1" strike="noStrike">
                <a:solidFill>
                  <a:srgbClr val="000000"/>
                </a:solidFill>
                <a:latin typeface="Arial"/>
              </a:rPr>
              <a:t>Esempio concreto: chiudere lo Scanner dopo la lettura.</a:t>
            </a:r>
            <a:endParaRPr b="0" lang="it-IT" sz="21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it-IT" sz="2100" spc="-1" strike="noStrike">
                <a:solidFill>
                  <a:srgbClr val="000000"/>
                </a:solidFill>
                <a:latin typeface="Arial"/>
              </a:rPr>
              <a:t>Può essere presente anche senza catch, in combinazioni appropriate di try/finally.</a:t>
            </a:r>
            <a:endParaRPr b="0" lang="it-IT" sz="2100" spc="-1" strike="noStrike">
              <a:latin typeface="Arial"/>
            </a:endParaRPr>
          </a:p>
        </p:txBody>
      </p:sp>
      <p:sp>
        <p:nvSpPr>
          <p:cNvPr id="81" name="CustomShape 3"/>
          <p:cNvSpPr/>
          <p:nvPr/>
        </p:nvSpPr>
        <p:spPr>
          <a:xfrm>
            <a:off x="685800" y="4251960"/>
            <a:ext cx="10835280" cy="2300040"/>
          </a:xfrm>
          <a:prstGeom prst="roundRect">
            <a:avLst>
              <a:gd name="adj" fmla="val 16667"/>
            </a:avLst>
          </a:prstGeom>
          <a:solidFill>
            <a:srgbClr val="f5f5f5"/>
          </a:solidFill>
          <a:ln w="12600">
            <a:solidFill>
              <a:srgbClr val="dcdcdc"/>
            </a:solidFill>
            <a:round/>
          </a:ln>
          <a:effectLst>
            <a:outerShdw blurRad="40000" dir="5400000" dist="23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82" name="CustomShape 4"/>
          <p:cNvSpPr/>
          <p:nvPr/>
        </p:nvSpPr>
        <p:spPr>
          <a:xfrm>
            <a:off x="3317760" y="4361760"/>
            <a:ext cx="5571360" cy="18140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/>
          <a:p>
            <a:pPr>
              <a:lnSpc>
                <a:spcPct val="100000"/>
              </a:lnSpc>
            </a:pPr>
            <a:r>
              <a:rPr b="0" lang="it-IT" sz="1700" spc="-1" strike="noStrike">
                <a:solidFill>
                  <a:srgbClr val="000000"/>
                </a:solidFill>
                <a:latin typeface="Courier New"/>
              </a:rPr>
              <a:t>try {</a:t>
            </a:r>
            <a:br/>
            <a:r>
              <a:rPr b="0" lang="it-IT" sz="1700" spc="-1" strike="noStrike">
                <a:solidFill>
                  <a:srgbClr val="000000"/>
                </a:solidFill>
                <a:latin typeface="Courier New"/>
              </a:rPr>
              <a:t>    // lettura</a:t>
            </a:r>
            <a:br/>
            <a:r>
              <a:rPr b="0" lang="it-IT" sz="1700" spc="-1" strike="noStrike">
                <a:solidFill>
                  <a:srgbClr val="000000"/>
                </a:solidFill>
                <a:latin typeface="Courier New"/>
              </a:rPr>
              <a:t>} catch (InputMismatchException e) {</a:t>
            </a:r>
            <a:br/>
            <a:r>
              <a:rPr b="0" lang="it-IT" sz="1700" spc="-1" strike="noStrike">
                <a:solidFill>
                  <a:srgbClr val="000000"/>
                </a:solidFill>
                <a:latin typeface="Courier New"/>
              </a:rPr>
              <a:t>    System.out.println("Input non valido");</a:t>
            </a:r>
            <a:br/>
            <a:r>
              <a:rPr b="0" lang="it-IT" sz="1700" spc="-1" strike="noStrike">
                <a:solidFill>
                  <a:srgbClr val="000000"/>
                </a:solidFill>
                <a:latin typeface="Courier New"/>
              </a:rPr>
              <a:t>} finally {</a:t>
            </a:r>
            <a:br/>
            <a:r>
              <a:rPr b="0" lang="it-IT" sz="1700" spc="-1" strike="noStrike">
                <a:solidFill>
                  <a:srgbClr val="000000"/>
                </a:solidFill>
                <a:latin typeface="Courier New"/>
              </a:rPr>
              <a:t>    sc.close();</a:t>
            </a:r>
            <a:br/>
            <a:r>
              <a:rPr b="0" lang="it-IT" sz="1700" spc="-1" strike="noStrike">
                <a:solidFill>
                  <a:srgbClr val="000000"/>
                </a:solidFill>
                <a:latin typeface="Courier New"/>
              </a:rPr>
              <a:t>}</a:t>
            </a:r>
            <a:endParaRPr b="0" lang="it-IT" sz="1700" spc="-1" strike="noStrike">
              <a:latin typeface="Arial"/>
            </a:endParaRPr>
          </a:p>
        </p:txBody>
      </p:sp>
    </p:spTree>
  </p:cSld>
  <p:timing>
    <p:tnLst>
      <p:par>
        <p:cTn id="23" dur="indefinite" restart="never" nodeType="tmRoot">
          <p:childTnLst>
            <p:seq>
              <p:cTn id="24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CustomShape 1"/>
          <p:cNvSpPr/>
          <p:nvPr/>
        </p:nvSpPr>
        <p:spPr>
          <a:xfrm>
            <a:off x="2619000" y="320040"/>
            <a:ext cx="6923160" cy="5169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/>
          <a:p>
            <a:pPr>
              <a:lnSpc>
                <a:spcPct val="100000"/>
              </a:lnSpc>
            </a:pPr>
            <a:r>
              <a:rPr b="1" lang="it-IT" sz="2800" spc="-1" strike="noStrike">
                <a:solidFill>
                  <a:srgbClr val="000000"/>
                </a:solidFill>
                <a:latin typeface="Arial"/>
              </a:rPr>
              <a:t>try / catch / finally: ordine di esecuzione</a:t>
            </a:r>
            <a:endParaRPr b="0" lang="it-IT" sz="2800" spc="-1" strike="noStrike">
              <a:latin typeface="Arial"/>
            </a:endParaRPr>
          </a:p>
        </p:txBody>
      </p:sp>
      <p:sp>
        <p:nvSpPr>
          <p:cNvPr id="84" name="CustomShape 2"/>
          <p:cNvSpPr/>
          <p:nvPr/>
        </p:nvSpPr>
        <p:spPr>
          <a:xfrm>
            <a:off x="685800" y="1325880"/>
            <a:ext cx="10835280" cy="3840120"/>
          </a:xfrm>
          <a:prstGeom prst="roundRect">
            <a:avLst>
              <a:gd name="adj" fmla="val 16667"/>
            </a:avLst>
          </a:prstGeom>
          <a:solidFill>
            <a:srgbClr val="f5f5f5"/>
          </a:solidFill>
          <a:ln w="12600">
            <a:solidFill>
              <a:srgbClr val="dcdcdc"/>
            </a:solidFill>
            <a:round/>
          </a:ln>
          <a:effectLst>
            <a:outerShdw blurRad="40000" dir="5400000" dist="23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85" name="CustomShape 3"/>
          <p:cNvSpPr/>
          <p:nvPr/>
        </p:nvSpPr>
        <p:spPr>
          <a:xfrm>
            <a:off x="3771000" y="1435680"/>
            <a:ext cx="4664520" cy="27435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/>
          <a:p>
            <a:pPr>
              <a:lnSpc>
                <a:spcPct val="100000"/>
              </a:lnSpc>
            </a:pPr>
            <a:r>
              <a:rPr b="0" lang="it-IT" sz="1800" spc="-1" strike="noStrike">
                <a:solidFill>
                  <a:srgbClr val="000000"/>
                </a:solidFill>
                <a:latin typeface="Courier New"/>
              </a:rPr>
              <a:t>try {</a:t>
            </a:r>
            <a:br/>
            <a:r>
              <a:rPr b="0" lang="it-IT" sz="1800" spc="-1" strike="noStrike">
                <a:solidFill>
                  <a:srgbClr val="000000"/>
                </a:solidFill>
                <a:latin typeface="Courier New"/>
              </a:rPr>
              <a:t>    System.out.println("TRY");</a:t>
            </a:r>
            <a:br/>
            <a:r>
              <a:rPr b="0" lang="it-IT" sz="1800" spc="-1" strike="noStrike">
                <a:solidFill>
                  <a:srgbClr val="000000"/>
                </a:solidFill>
                <a:latin typeface="Courier New"/>
              </a:rPr>
              <a:t>    throw new Exception("CIAO");</a:t>
            </a:r>
            <a:br/>
            <a:r>
              <a:rPr b="0" lang="it-IT" sz="1800" spc="-1" strike="noStrike">
                <a:solidFill>
                  <a:srgbClr val="000000"/>
                </a:solidFill>
                <a:latin typeface="Courier New"/>
              </a:rPr>
              <a:t>}</a:t>
            </a:r>
            <a:br/>
            <a:r>
              <a:rPr b="0" lang="it-IT" sz="1800" spc="-1" strike="noStrike">
                <a:solidFill>
                  <a:srgbClr val="000000"/>
                </a:solidFill>
                <a:latin typeface="Courier New"/>
              </a:rPr>
              <a:t>catch (Exception e) {</a:t>
            </a:r>
            <a:br/>
            <a:r>
              <a:rPr b="0" lang="it-IT" sz="1800" spc="-1" strike="noStrike">
                <a:solidFill>
                  <a:srgbClr val="000000"/>
                </a:solidFill>
                <a:latin typeface="Courier New"/>
              </a:rPr>
              <a:t>    System.out.println("CATCH");</a:t>
            </a:r>
            <a:br/>
            <a:r>
              <a:rPr b="0" lang="it-IT" sz="1800" spc="-1" strike="noStrike">
                <a:solidFill>
                  <a:srgbClr val="000000"/>
                </a:solidFill>
                <a:latin typeface="Courier New"/>
              </a:rPr>
              <a:t>}</a:t>
            </a:r>
            <a:br/>
            <a:r>
              <a:rPr b="0" lang="it-IT" sz="1800" spc="-1" strike="noStrike">
                <a:solidFill>
                  <a:srgbClr val="000000"/>
                </a:solidFill>
                <a:latin typeface="Courier New"/>
              </a:rPr>
              <a:t>finally {</a:t>
            </a:r>
            <a:br/>
            <a:r>
              <a:rPr b="0" lang="it-IT" sz="1800" spc="-1" strike="noStrike">
                <a:solidFill>
                  <a:srgbClr val="000000"/>
                </a:solidFill>
                <a:latin typeface="Courier New"/>
              </a:rPr>
              <a:t>    System.out.println("FINALLY");</a:t>
            </a:r>
            <a:br/>
            <a:r>
              <a:rPr b="0" lang="it-IT" sz="1800" spc="-1" strike="noStrike">
                <a:solidFill>
                  <a:srgbClr val="000000"/>
                </a:solidFill>
                <a:latin typeface="Courier New"/>
              </a:rPr>
              <a:t>}</a:t>
            </a:r>
            <a:endParaRPr b="0" lang="it-IT" sz="1800" spc="-1" strike="noStrike">
              <a:latin typeface="Arial"/>
            </a:endParaRPr>
          </a:p>
        </p:txBody>
      </p:sp>
      <p:sp>
        <p:nvSpPr>
          <p:cNvPr id="86" name="CustomShape 4"/>
          <p:cNvSpPr/>
          <p:nvPr/>
        </p:nvSpPr>
        <p:spPr>
          <a:xfrm>
            <a:off x="731520" y="5257800"/>
            <a:ext cx="10789560" cy="9468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it-IT" sz="1600" spc="-1" strike="noStrike">
                <a:solidFill>
                  <a:srgbClr val="000000"/>
                </a:solidFill>
                <a:latin typeface="Arial"/>
              </a:rPr>
              <a:t>Nel caso normale: TRY → CATCH (se necessario) → FINALLY.</a:t>
            </a:r>
            <a:endParaRPr b="0" lang="it-IT" sz="16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it-IT" sz="1600" spc="-1" strike="noStrike">
                <a:solidFill>
                  <a:srgbClr val="000000"/>
                </a:solidFill>
                <a:latin typeface="Arial"/>
              </a:rPr>
              <a:t>Gli esercizi mostrano anche try/catch/finally annidati: il finally interno viene eseguito prima di proseguire con quello esterno.</a:t>
            </a:r>
            <a:endParaRPr b="0" lang="it-IT" sz="1600" spc="-1" strike="noStrike">
              <a:latin typeface="Arial"/>
            </a:endParaRPr>
          </a:p>
        </p:txBody>
      </p:sp>
    </p:spTree>
  </p:cSld>
  <p:timing>
    <p:tnLst>
      <p:par>
        <p:cTn id="25" dur="indefinite" restart="never" nodeType="tmRoot">
          <p:childTnLst>
            <p:seq>
              <p:cTn id="26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CustomShape 1"/>
          <p:cNvSpPr/>
          <p:nvPr/>
        </p:nvSpPr>
        <p:spPr>
          <a:xfrm>
            <a:off x="2905200" y="320040"/>
            <a:ext cx="6350400" cy="5169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/>
          <a:p>
            <a:pPr>
              <a:lnSpc>
                <a:spcPct val="100000"/>
              </a:lnSpc>
            </a:pPr>
            <a:r>
              <a:rPr b="1" lang="it-IT" sz="2800" spc="-1" strike="noStrike">
                <a:solidFill>
                  <a:srgbClr val="000000"/>
                </a:solidFill>
                <a:latin typeface="Arial"/>
              </a:rPr>
              <a:t>Lanciare un'eccezione manualmente</a:t>
            </a:r>
            <a:endParaRPr b="0" lang="it-IT" sz="2800" spc="-1" strike="noStrike">
              <a:latin typeface="Arial"/>
            </a:endParaRPr>
          </a:p>
        </p:txBody>
      </p:sp>
      <p:sp>
        <p:nvSpPr>
          <p:cNvPr id="88" name="CustomShape 2"/>
          <p:cNvSpPr/>
          <p:nvPr/>
        </p:nvSpPr>
        <p:spPr>
          <a:xfrm>
            <a:off x="731520" y="1234440"/>
            <a:ext cx="10789560" cy="16246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it-IT" sz="2100" spc="-1" strike="noStrike">
                <a:solidFill>
                  <a:srgbClr val="000000"/>
                </a:solidFill>
                <a:latin typeface="Arial"/>
              </a:rPr>
              <a:t>Non tutte le eccezioni nascono automaticamente dalla JVM.</a:t>
            </a:r>
            <a:endParaRPr b="0" lang="it-IT" sz="21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it-IT" sz="2100" spc="-1" strike="noStrike">
                <a:solidFill>
                  <a:srgbClr val="000000"/>
                </a:solidFill>
                <a:latin typeface="Arial"/>
              </a:rPr>
              <a:t>Con throw possiamo creare e lanciare esplicitamente un'eccezione.</a:t>
            </a:r>
            <a:endParaRPr b="0" lang="it-IT" sz="21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it-IT" sz="2100" spc="-1" strike="noStrike">
                <a:solidFill>
                  <a:srgbClr val="000000"/>
                </a:solidFill>
                <a:latin typeface="Arial"/>
              </a:rPr>
              <a:t>È utile quando una condizione rende l'operazione non ammissibile secondo le regole dell'applicazione.</a:t>
            </a:r>
            <a:endParaRPr b="0" lang="it-IT" sz="2100" spc="-1" strike="noStrike">
              <a:latin typeface="Arial"/>
            </a:endParaRPr>
          </a:p>
        </p:txBody>
      </p:sp>
      <p:sp>
        <p:nvSpPr>
          <p:cNvPr id="89" name="CustomShape 3"/>
          <p:cNvSpPr/>
          <p:nvPr/>
        </p:nvSpPr>
        <p:spPr>
          <a:xfrm>
            <a:off x="685800" y="3840480"/>
            <a:ext cx="10835280" cy="2135520"/>
          </a:xfrm>
          <a:prstGeom prst="roundRect">
            <a:avLst>
              <a:gd name="adj" fmla="val 16667"/>
            </a:avLst>
          </a:prstGeom>
          <a:solidFill>
            <a:srgbClr val="f5f5f5"/>
          </a:solidFill>
          <a:ln w="12600">
            <a:solidFill>
              <a:srgbClr val="dcdcdc"/>
            </a:solidFill>
            <a:round/>
          </a:ln>
          <a:effectLst>
            <a:outerShdw blurRad="40000" dir="5400000" dist="23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90" name="CustomShape 4"/>
          <p:cNvSpPr/>
          <p:nvPr/>
        </p:nvSpPr>
        <p:spPr>
          <a:xfrm>
            <a:off x="3317760" y="3950280"/>
            <a:ext cx="5571360" cy="18140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/>
          <a:p>
            <a:pPr>
              <a:lnSpc>
                <a:spcPct val="100000"/>
              </a:lnSpc>
            </a:pPr>
            <a:r>
              <a:rPr b="0" lang="it-IT" sz="1700" spc="-1" strike="noStrike">
                <a:solidFill>
                  <a:srgbClr val="000000"/>
                </a:solidFill>
                <a:latin typeface="Courier New"/>
              </a:rPr>
              <a:t>try {</a:t>
            </a:r>
            <a:br/>
            <a:r>
              <a:rPr b="0" lang="it-IT" sz="1700" spc="-1" strike="noStrike">
                <a:solidFill>
                  <a:srgbClr val="000000"/>
                </a:solidFill>
                <a:latin typeface="Courier New"/>
              </a:rPr>
              <a:t>    throw new Exception(</a:t>
            </a:r>
            <a:br/>
            <a:r>
              <a:rPr b="0" lang="it-IT" sz="1700" spc="-1" strike="noStrike">
                <a:solidFill>
                  <a:srgbClr val="000000"/>
                </a:solidFill>
                <a:latin typeface="Courier New"/>
              </a:rPr>
              <a:t>        "Sono un'eccezione lanciata a mano"</a:t>
            </a:r>
            <a:br/>
            <a:r>
              <a:rPr b="0" lang="it-IT" sz="1700" spc="-1" strike="noStrike">
                <a:solidFill>
                  <a:srgbClr val="000000"/>
                </a:solidFill>
                <a:latin typeface="Courier New"/>
              </a:rPr>
              <a:t>    );</a:t>
            </a:r>
            <a:br/>
            <a:r>
              <a:rPr b="0" lang="it-IT" sz="1700" spc="-1" strike="noStrike">
                <a:solidFill>
                  <a:srgbClr val="000000"/>
                </a:solidFill>
                <a:latin typeface="Courier New"/>
              </a:rPr>
              <a:t>} catch (Exception e) {</a:t>
            </a:r>
            <a:br/>
            <a:r>
              <a:rPr b="0" lang="it-IT" sz="1700" spc="-1" strike="noStrike">
                <a:solidFill>
                  <a:srgbClr val="000000"/>
                </a:solidFill>
                <a:latin typeface="Courier New"/>
              </a:rPr>
              <a:t>    System.out.println(e.getMessage());</a:t>
            </a:r>
            <a:br/>
            <a:r>
              <a:rPr b="0" lang="it-IT" sz="1700" spc="-1" strike="noStrike">
                <a:solidFill>
                  <a:srgbClr val="000000"/>
                </a:solidFill>
                <a:latin typeface="Courier New"/>
              </a:rPr>
              <a:t>}</a:t>
            </a:r>
            <a:endParaRPr b="0" lang="it-IT" sz="1700" spc="-1" strike="noStrike">
              <a:latin typeface="Arial"/>
            </a:endParaRPr>
          </a:p>
        </p:txBody>
      </p:sp>
    </p:spTree>
  </p:cSld>
  <p:timing>
    <p:tnLst>
      <p:par>
        <p:cTn id="27" dur="indefinite" restart="never" nodeType="tmRoot">
          <p:childTnLst>
            <p:seq>
              <p:cTn id="28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CustomShape 1"/>
          <p:cNvSpPr/>
          <p:nvPr/>
        </p:nvSpPr>
        <p:spPr>
          <a:xfrm>
            <a:off x="2786400" y="320040"/>
            <a:ext cx="6588000" cy="5169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/>
          <a:p>
            <a:pPr>
              <a:lnSpc>
                <a:spcPct val="100000"/>
              </a:lnSpc>
            </a:pPr>
            <a:r>
              <a:rPr b="1" lang="it-IT" sz="2800" spc="-1" strike="noStrike">
                <a:solidFill>
                  <a:srgbClr val="000000"/>
                </a:solidFill>
                <a:latin typeface="Arial"/>
              </a:rPr>
              <a:t>throws: il metodo dichiara l'eccezione</a:t>
            </a:r>
            <a:endParaRPr b="0" lang="it-IT" sz="2800" spc="-1" strike="noStrike">
              <a:latin typeface="Arial"/>
            </a:endParaRPr>
          </a:p>
        </p:txBody>
      </p:sp>
      <p:sp>
        <p:nvSpPr>
          <p:cNvPr id="92" name="CustomShape 2"/>
          <p:cNvSpPr/>
          <p:nvPr/>
        </p:nvSpPr>
        <p:spPr>
          <a:xfrm>
            <a:off x="685800" y="1325880"/>
            <a:ext cx="10835280" cy="3642120"/>
          </a:xfrm>
          <a:prstGeom prst="roundRect">
            <a:avLst>
              <a:gd name="adj" fmla="val 16667"/>
            </a:avLst>
          </a:prstGeom>
          <a:solidFill>
            <a:srgbClr val="f5f5f5"/>
          </a:solidFill>
          <a:ln w="12600">
            <a:solidFill>
              <a:srgbClr val="dcdcdc"/>
            </a:solidFill>
            <a:round/>
          </a:ln>
          <a:effectLst>
            <a:outerShdw blurRad="40000" dir="5400000" dist="23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93" name="CustomShape 3"/>
          <p:cNvSpPr/>
          <p:nvPr/>
        </p:nvSpPr>
        <p:spPr>
          <a:xfrm>
            <a:off x="3054960" y="1435680"/>
            <a:ext cx="6096960" cy="24339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/>
          <a:p>
            <a:pPr>
              <a:lnSpc>
                <a:spcPct val="100000"/>
              </a:lnSpc>
            </a:pPr>
            <a:r>
              <a:rPr b="0" lang="it-IT" sz="1600" spc="-1" strike="noStrike">
                <a:solidFill>
                  <a:srgbClr val="000000"/>
                </a:solidFill>
                <a:latin typeface="Courier New"/>
              </a:rPr>
              <a:t>public double div(double numeratore,</a:t>
            </a:r>
            <a:br/>
            <a:r>
              <a:rPr b="0" lang="it-IT" sz="1600" spc="-1" strike="noStrike">
                <a:solidFill>
                  <a:srgbClr val="000000"/>
                </a:solidFill>
                <a:latin typeface="Courier New"/>
              </a:rPr>
              <a:t>                    double denominatore)</a:t>
            </a:r>
            <a:br/>
            <a:r>
              <a:rPr b="0" lang="it-IT" sz="1600" spc="-1" strike="noStrike">
                <a:solidFill>
                  <a:srgbClr val="000000"/>
                </a:solidFill>
                <a:latin typeface="Courier New"/>
              </a:rPr>
              <a:t>                    throws Exception {</a:t>
            </a:r>
            <a:br/>
            <a:br/>
            <a:r>
              <a:rPr b="0" lang="it-IT" sz="1600" spc="-1" strike="noStrike">
                <a:solidFill>
                  <a:srgbClr val="000000"/>
                </a:solidFill>
                <a:latin typeface="Courier New"/>
              </a:rPr>
              <a:t>    if (denominatore == 0) {</a:t>
            </a:r>
            <a:br/>
            <a:r>
              <a:rPr b="0" lang="it-IT" sz="1600" spc="-1" strike="noStrike">
                <a:solidFill>
                  <a:srgbClr val="000000"/>
                </a:solidFill>
                <a:latin typeface="Courier New"/>
              </a:rPr>
              <a:t>        throw new Exception("Divisione per zero");</a:t>
            </a:r>
            <a:br/>
            <a:r>
              <a:rPr b="0" lang="it-IT" sz="1600" spc="-1" strike="noStrike">
                <a:solidFill>
                  <a:srgbClr val="000000"/>
                </a:solidFill>
                <a:latin typeface="Courier New"/>
              </a:rPr>
              <a:t>    }</a:t>
            </a:r>
            <a:br/>
            <a:br/>
            <a:r>
              <a:rPr b="0" lang="it-IT" sz="1600" spc="-1" strike="noStrike">
                <a:solidFill>
                  <a:srgbClr val="000000"/>
                </a:solidFill>
                <a:latin typeface="Courier New"/>
              </a:rPr>
              <a:t>    return numeratore / denominatore;</a:t>
            </a:r>
            <a:br/>
            <a:r>
              <a:rPr b="0" lang="it-IT" sz="1600" spc="-1" strike="noStrike">
                <a:solidFill>
                  <a:srgbClr val="000000"/>
                </a:solidFill>
                <a:latin typeface="Courier New"/>
              </a:rPr>
              <a:t>}</a:t>
            </a:r>
            <a:endParaRPr b="0" lang="it-IT" sz="1600" spc="-1" strike="noStrike">
              <a:latin typeface="Arial"/>
            </a:endParaRPr>
          </a:p>
        </p:txBody>
      </p:sp>
      <p:sp>
        <p:nvSpPr>
          <p:cNvPr id="94" name="CustomShape 4"/>
          <p:cNvSpPr/>
          <p:nvPr/>
        </p:nvSpPr>
        <p:spPr>
          <a:xfrm>
            <a:off x="731520" y="5303520"/>
            <a:ext cx="10789560" cy="7041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it-IT" sz="1600" spc="-1" strike="noStrike">
                <a:solidFill>
                  <a:srgbClr val="000000"/>
                </a:solidFill>
                <a:latin typeface="Arial"/>
              </a:rPr>
              <a:t>throws dichiara che il metodo può produrre quell'eccezione.</a:t>
            </a:r>
            <a:endParaRPr b="0" lang="it-IT" sz="16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it-IT" sz="1600" spc="-1" strike="noStrike">
                <a:solidFill>
                  <a:srgbClr val="000000"/>
                </a:solidFill>
                <a:latin typeface="Arial"/>
              </a:rPr>
              <a:t>Nel chiamante, l'eccezione viene poi gestita con try/catch.</a:t>
            </a:r>
            <a:endParaRPr b="0" lang="it-IT" sz="1600" spc="-1" strike="noStrike">
              <a:latin typeface="Arial"/>
            </a:endParaRPr>
          </a:p>
        </p:txBody>
      </p:sp>
    </p:spTree>
  </p:cSld>
  <p:timing>
    <p:tnLst>
      <p:par>
        <p:cTn id="29" dur="indefinite" restart="never" nodeType="tmRoot">
          <p:childTnLst>
            <p:seq>
              <p:cTn id="30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CustomShape 1"/>
          <p:cNvSpPr/>
          <p:nvPr/>
        </p:nvSpPr>
        <p:spPr>
          <a:xfrm>
            <a:off x="3035520" y="320040"/>
            <a:ext cx="6089760" cy="5169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/>
          <a:p>
            <a:pPr>
              <a:lnSpc>
                <a:spcPct val="100000"/>
              </a:lnSpc>
            </a:pPr>
            <a:r>
              <a:rPr b="1" lang="it-IT" sz="2800" spc="-1" strike="noStrike">
                <a:solidFill>
                  <a:srgbClr val="000000"/>
                </a:solidFill>
                <a:latin typeface="Arial"/>
              </a:rPr>
              <a:t>Separare il controllo dalla gestione</a:t>
            </a:r>
            <a:endParaRPr b="0" lang="it-IT" sz="2800" spc="-1" strike="noStrike">
              <a:latin typeface="Arial"/>
            </a:endParaRPr>
          </a:p>
        </p:txBody>
      </p:sp>
      <p:sp>
        <p:nvSpPr>
          <p:cNvPr id="96" name="CustomShape 2"/>
          <p:cNvSpPr/>
          <p:nvPr/>
        </p:nvSpPr>
        <p:spPr>
          <a:xfrm>
            <a:off x="685800" y="1325880"/>
            <a:ext cx="10835280" cy="3748680"/>
          </a:xfrm>
          <a:prstGeom prst="roundRect">
            <a:avLst>
              <a:gd name="adj" fmla="val 16667"/>
            </a:avLst>
          </a:prstGeom>
          <a:solidFill>
            <a:srgbClr val="f5f5f5"/>
          </a:solidFill>
          <a:ln w="12600">
            <a:solidFill>
              <a:srgbClr val="dcdcdc"/>
            </a:solidFill>
            <a:round/>
          </a:ln>
          <a:effectLst>
            <a:outerShdw blurRad="40000" dir="5400000" dist="23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97" name="CustomShape 3"/>
          <p:cNvSpPr/>
          <p:nvPr/>
        </p:nvSpPr>
        <p:spPr>
          <a:xfrm>
            <a:off x="2605320" y="1435680"/>
            <a:ext cx="6996240" cy="20739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/>
          <a:p>
            <a:pPr>
              <a:lnSpc>
                <a:spcPct val="100000"/>
              </a:lnSpc>
            </a:pPr>
            <a:r>
              <a:rPr b="0" lang="it-IT" sz="1700" spc="-1" strike="noStrike">
                <a:solidFill>
                  <a:srgbClr val="000000"/>
                </a:solidFill>
                <a:latin typeface="Courier New"/>
              </a:rPr>
              <a:t>Divisione d = new Divisione();</a:t>
            </a:r>
            <a:br/>
            <a:br/>
            <a:r>
              <a:rPr b="0" lang="it-IT" sz="1700" spc="-1" strike="noStrike">
                <a:solidFill>
                  <a:srgbClr val="000000"/>
                </a:solidFill>
                <a:latin typeface="Courier New"/>
              </a:rPr>
              <a:t>try {</a:t>
            </a:r>
            <a:br/>
            <a:r>
              <a:rPr b="0" lang="it-IT" sz="1700" spc="-1" strike="noStrike">
                <a:solidFill>
                  <a:srgbClr val="000000"/>
                </a:solidFill>
                <a:latin typeface="Courier New"/>
              </a:rPr>
              <a:t>    double r = d.div(100, 0);</a:t>
            </a:r>
            <a:br/>
            <a:r>
              <a:rPr b="0" lang="it-IT" sz="1700" spc="-1" strike="noStrike">
                <a:solidFill>
                  <a:srgbClr val="000000"/>
                </a:solidFill>
                <a:latin typeface="Courier New"/>
              </a:rPr>
              <a:t>    System.out.println("Risultato: " + r);</a:t>
            </a:r>
            <a:br/>
            <a:r>
              <a:rPr b="0" lang="it-IT" sz="1700" spc="-1" strike="noStrike">
                <a:solidFill>
                  <a:srgbClr val="000000"/>
                </a:solidFill>
                <a:latin typeface="Courier New"/>
              </a:rPr>
              <a:t>} catch (Exception e) {</a:t>
            </a:r>
            <a:br/>
            <a:r>
              <a:rPr b="0" lang="it-IT" sz="1700" spc="-1" strike="noStrike">
                <a:solidFill>
                  <a:srgbClr val="000000"/>
                </a:solidFill>
                <a:latin typeface="Courier New"/>
              </a:rPr>
              <a:t>    System.out.println("Non puoi dividere per zero.");</a:t>
            </a:r>
            <a:br/>
            <a:r>
              <a:rPr b="0" lang="it-IT" sz="1700" spc="-1" strike="noStrike">
                <a:solidFill>
                  <a:srgbClr val="000000"/>
                </a:solidFill>
                <a:latin typeface="Courier New"/>
              </a:rPr>
              <a:t>}</a:t>
            </a:r>
            <a:endParaRPr b="0" lang="it-IT" sz="1700" spc="-1" strike="noStrike">
              <a:latin typeface="Arial"/>
            </a:endParaRPr>
          </a:p>
        </p:txBody>
      </p:sp>
      <p:sp>
        <p:nvSpPr>
          <p:cNvPr id="98" name="CustomShape 4"/>
          <p:cNvSpPr/>
          <p:nvPr/>
        </p:nvSpPr>
        <p:spPr>
          <a:xfrm>
            <a:off x="731520" y="5166360"/>
            <a:ext cx="10789560" cy="7041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it-IT" sz="1600" spc="-1" strike="noStrike">
                <a:solidFill>
                  <a:srgbClr val="000000"/>
                </a:solidFill>
                <a:latin typeface="Arial"/>
              </a:rPr>
              <a:t>Il metodo div() decide quando la condizione è invalida.</a:t>
            </a:r>
            <a:endParaRPr b="0" lang="it-IT" sz="16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it-IT" sz="1600" spc="-1" strike="noStrike">
                <a:solidFill>
                  <a:srgbClr val="000000"/>
                </a:solidFill>
                <a:latin typeface="Arial"/>
              </a:rPr>
              <a:t>Il chiamante decide come presentare o gestire il problema.</a:t>
            </a:r>
            <a:endParaRPr b="0" lang="it-IT" sz="1600" spc="-1" strike="noStrike">
              <a:latin typeface="Arial"/>
            </a:endParaRPr>
          </a:p>
        </p:txBody>
      </p:sp>
    </p:spTree>
  </p:cSld>
  <p:timing>
    <p:tnLst>
      <p:par>
        <p:cTn id="31" dur="indefinite" restart="never" nodeType="tmRoot">
          <p:childTnLst>
            <p:seq>
              <p:cTn id="32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CustomShape 1"/>
          <p:cNvSpPr/>
          <p:nvPr/>
        </p:nvSpPr>
        <p:spPr>
          <a:xfrm>
            <a:off x="3894480" y="320040"/>
            <a:ext cx="4372200" cy="5169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/>
          <a:p>
            <a:pPr>
              <a:lnSpc>
                <a:spcPct val="100000"/>
              </a:lnSpc>
            </a:pPr>
            <a:r>
              <a:rPr b="1" lang="it-IT" sz="2800" spc="-1" strike="noStrike">
                <a:solidFill>
                  <a:srgbClr val="000000"/>
                </a:solidFill>
                <a:latin typeface="Arial"/>
              </a:rPr>
              <a:t>Eccezioni personalizzate</a:t>
            </a:r>
            <a:endParaRPr b="0" lang="it-IT" sz="2800" spc="-1" strike="noStrike">
              <a:latin typeface="Arial"/>
            </a:endParaRPr>
          </a:p>
        </p:txBody>
      </p:sp>
      <p:sp>
        <p:nvSpPr>
          <p:cNvPr id="100" name="CustomShape 2"/>
          <p:cNvSpPr/>
          <p:nvPr/>
        </p:nvSpPr>
        <p:spPr>
          <a:xfrm>
            <a:off x="731520" y="1234440"/>
            <a:ext cx="10789560" cy="13046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it-IT" sz="2100" spc="-1" strike="noStrike">
                <a:solidFill>
                  <a:srgbClr val="000000"/>
                </a:solidFill>
                <a:latin typeface="Arial"/>
              </a:rPr>
              <a:t>Possiamo definire una nostra classe di eccezione estendendo Exception.</a:t>
            </a:r>
            <a:endParaRPr b="0" lang="it-IT" sz="21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it-IT" sz="2100" spc="-1" strike="noStrike">
                <a:solidFill>
                  <a:srgbClr val="000000"/>
                </a:solidFill>
                <a:latin typeface="Arial"/>
              </a:rPr>
              <a:t>La classe può avere costruttori, messaggi e anche metodi aggiuntivi.</a:t>
            </a:r>
            <a:endParaRPr b="0" lang="it-IT" sz="21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it-IT" sz="2100" spc="-1" strike="noStrike">
                <a:solidFill>
                  <a:srgbClr val="000000"/>
                </a:solidFill>
                <a:latin typeface="Arial"/>
              </a:rPr>
              <a:t>In questo modo il tipo dell'errore diventa parte del modello dell'applicazione.</a:t>
            </a:r>
            <a:endParaRPr b="0" lang="it-IT" sz="2100" spc="-1" strike="noStrike">
              <a:latin typeface="Arial"/>
            </a:endParaRPr>
          </a:p>
        </p:txBody>
      </p:sp>
      <p:sp>
        <p:nvSpPr>
          <p:cNvPr id="101" name="CustomShape 3"/>
          <p:cNvSpPr/>
          <p:nvPr/>
        </p:nvSpPr>
        <p:spPr>
          <a:xfrm>
            <a:off x="685800" y="3886200"/>
            <a:ext cx="10835280" cy="1828440"/>
          </a:xfrm>
          <a:prstGeom prst="roundRect">
            <a:avLst>
              <a:gd name="adj" fmla="val 16667"/>
            </a:avLst>
          </a:prstGeom>
          <a:solidFill>
            <a:srgbClr val="f5f5f5"/>
          </a:solidFill>
          <a:ln w="12600">
            <a:solidFill>
              <a:srgbClr val="dcdcdc"/>
            </a:solidFill>
            <a:round/>
          </a:ln>
          <a:effectLst>
            <a:outerShdw blurRad="40000" dir="5400000" dist="23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02" name="CustomShape 4"/>
          <p:cNvSpPr/>
          <p:nvPr/>
        </p:nvSpPr>
        <p:spPr>
          <a:xfrm>
            <a:off x="2605320" y="3996000"/>
            <a:ext cx="6996240" cy="18140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/>
          <a:p>
            <a:pPr>
              <a:lnSpc>
                <a:spcPct val="100000"/>
              </a:lnSpc>
            </a:pPr>
            <a:r>
              <a:rPr b="0" lang="it-IT" sz="1700" spc="-1" strike="noStrike">
                <a:solidFill>
                  <a:srgbClr val="000000"/>
                </a:solidFill>
                <a:latin typeface="Courier New"/>
              </a:rPr>
              <a:t>public class DivisionePerZeroException</a:t>
            </a:r>
            <a:br/>
            <a:r>
              <a:rPr b="0" lang="it-IT" sz="1700" spc="-1" strike="noStrike">
                <a:solidFill>
                  <a:srgbClr val="000000"/>
                </a:solidFill>
                <a:latin typeface="Courier New"/>
              </a:rPr>
              <a:t>        extends Exception {</a:t>
            </a:r>
            <a:br/>
            <a:br/>
            <a:r>
              <a:rPr b="0" lang="it-IT" sz="1700" spc="-1" strike="noStrike">
                <a:solidFill>
                  <a:srgbClr val="000000"/>
                </a:solidFill>
                <a:latin typeface="Courier New"/>
              </a:rPr>
              <a:t>    public DivisionePerZeroException(String message) {</a:t>
            </a:r>
            <a:br/>
            <a:r>
              <a:rPr b="0" lang="it-IT" sz="1700" spc="-1" strike="noStrike">
                <a:solidFill>
                  <a:srgbClr val="000000"/>
                </a:solidFill>
                <a:latin typeface="Courier New"/>
              </a:rPr>
              <a:t>        super(message);</a:t>
            </a:r>
            <a:br/>
            <a:r>
              <a:rPr b="0" lang="it-IT" sz="1700" spc="-1" strike="noStrike">
                <a:solidFill>
                  <a:srgbClr val="000000"/>
                </a:solidFill>
                <a:latin typeface="Courier New"/>
              </a:rPr>
              <a:t>    }</a:t>
            </a:r>
            <a:br/>
            <a:r>
              <a:rPr b="0" lang="it-IT" sz="1700" spc="-1" strike="noStrike">
                <a:solidFill>
                  <a:srgbClr val="000000"/>
                </a:solidFill>
                <a:latin typeface="Courier New"/>
              </a:rPr>
              <a:t>}</a:t>
            </a:r>
            <a:endParaRPr b="0" lang="it-IT" sz="1700" spc="-1" strike="noStrike">
              <a:latin typeface="Arial"/>
            </a:endParaRPr>
          </a:p>
        </p:txBody>
      </p:sp>
    </p:spTree>
  </p:cSld>
  <p:timing>
    <p:tnLst>
      <p:par>
        <p:cTn id="33" dur="indefinite" restart="never" nodeType="tmRoot">
          <p:childTnLst>
            <p:seq>
              <p:cTn id="34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CustomShape 1"/>
          <p:cNvSpPr/>
          <p:nvPr/>
        </p:nvSpPr>
        <p:spPr>
          <a:xfrm>
            <a:off x="3061440" y="320040"/>
            <a:ext cx="6037920" cy="5169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/>
          <a:p>
            <a:pPr>
              <a:lnSpc>
                <a:spcPct val="100000"/>
              </a:lnSpc>
            </a:pPr>
            <a:r>
              <a:rPr b="1" lang="it-IT" sz="2800" spc="-1" strike="noStrike">
                <a:solidFill>
                  <a:srgbClr val="000000"/>
                </a:solidFill>
                <a:latin typeface="Arial"/>
              </a:rPr>
              <a:t>Usare un'eccezione personalizzata</a:t>
            </a:r>
            <a:endParaRPr b="0" lang="it-IT" sz="2800" spc="-1" strike="noStrike">
              <a:latin typeface="Arial"/>
            </a:endParaRPr>
          </a:p>
        </p:txBody>
      </p:sp>
      <p:sp>
        <p:nvSpPr>
          <p:cNvPr id="104" name="CustomShape 2"/>
          <p:cNvSpPr/>
          <p:nvPr/>
        </p:nvSpPr>
        <p:spPr>
          <a:xfrm>
            <a:off x="685800" y="1325880"/>
            <a:ext cx="10835280" cy="3426120"/>
          </a:xfrm>
          <a:prstGeom prst="roundRect">
            <a:avLst>
              <a:gd name="adj" fmla="val 16667"/>
            </a:avLst>
          </a:prstGeom>
          <a:solidFill>
            <a:srgbClr val="f5f5f5"/>
          </a:solidFill>
          <a:ln w="12600">
            <a:solidFill>
              <a:srgbClr val="dcdcdc"/>
            </a:solidFill>
            <a:round/>
          </a:ln>
          <a:effectLst>
            <a:outerShdw blurRad="40000" dir="5400000" dist="23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05" name="CustomShape 3"/>
          <p:cNvSpPr/>
          <p:nvPr/>
        </p:nvSpPr>
        <p:spPr>
          <a:xfrm>
            <a:off x="3054960" y="1435680"/>
            <a:ext cx="6096960" cy="24339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/>
          <a:p>
            <a:pPr>
              <a:lnSpc>
                <a:spcPct val="100000"/>
              </a:lnSpc>
            </a:pPr>
            <a:r>
              <a:rPr b="0" lang="it-IT" sz="1600" spc="-1" strike="noStrike">
                <a:solidFill>
                  <a:srgbClr val="000000"/>
                </a:solidFill>
                <a:latin typeface="Courier New"/>
              </a:rPr>
              <a:t>private static int dividi(int i, int j)</a:t>
            </a:r>
            <a:br/>
            <a:r>
              <a:rPr b="0" lang="it-IT" sz="1600" spc="-1" strike="noStrike">
                <a:solidFill>
                  <a:srgbClr val="000000"/>
                </a:solidFill>
                <a:latin typeface="Courier New"/>
              </a:rPr>
              <a:t>        throws DivisionePerZeroException {</a:t>
            </a:r>
            <a:br/>
            <a:br/>
            <a:r>
              <a:rPr b="0" lang="it-IT" sz="1600" spc="-1" strike="noStrike">
                <a:solidFill>
                  <a:srgbClr val="000000"/>
                </a:solidFill>
                <a:latin typeface="Courier New"/>
              </a:rPr>
              <a:t>    if (j == 0) {</a:t>
            </a:r>
            <a:br/>
            <a:r>
              <a:rPr b="0" lang="it-IT" sz="1600" spc="-1" strike="noStrike">
                <a:solidFill>
                  <a:srgbClr val="000000"/>
                </a:solidFill>
                <a:latin typeface="Courier New"/>
              </a:rPr>
              <a:t>        throw new DivisionePerZeroException(</a:t>
            </a:r>
            <a:br/>
            <a:r>
              <a:rPr b="0" lang="it-IT" sz="1600" spc="-1" strike="noStrike">
                <a:solidFill>
                  <a:srgbClr val="000000"/>
                </a:solidFill>
                <a:latin typeface="Courier New"/>
              </a:rPr>
              <a:t>            "divisione per zero non ammissibile");</a:t>
            </a:r>
            <a:br/>
            <a:r>
              <a:rPr b="0" lang="it-IT" sz="1600" spc="-1" strike="noStrike">
                <a:solidFill>
                  <a:srgbClr val="000000"/>
                </a:solidFill>
                <a:latin typeface="Courier New"/>
              </a:rPr>
              <a:t>    }</a:t>
            </a:r>
            <a:br/>
            <a:br/>
            <a:r>
              <a:rPr b="0" lang="it-IT" sz="1600" spc="-1" strike="noStrike">
                <a:solidFill>
                  <a:srgbClr val="000000"/>
                </a:solidFill>
                <a:latin typeface="Courier New"/>
              </a:rPr>
              <a:t>    return i / j;</a:t>
            </a:r>
            <a:br/>
            <a:r>
              <a:rPr b="0" lang="it-IT" sz="1600" spc="-1" strike="noStrike">
                <a:solidFill>
                  <a:srgbClr val="000000"/>
                </a:solidFill>
                <a:latin typeface="Courier New"/>
              </a:rPr>
              <a:t>}</a:t>
            </a:r>
            <a:endParaRPr b="0" lang="it-IT" sz="1600" spc="-1" strike="noStrike">
              <a:latin typeface="Arial"/>
            </a:endParaRPr>
          </a:p>
        </p:txBody>
      </p:sp>
      <p:sp>
        <p:nvSpPr>
          <p:cNvPr id="106" name="CustomShape 4"/>
          <p:cNvSpPr/>
          <p:nvPr/>
        </p:nvSpPr>
        <p:spPr>
          <a:xfrm>
            <a:off x="731520" y="5349240"/>
            <a:ext cx="10789560" cy="7041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it-IT" sz="1600" spc="-1" strike="noStrike">
                <a:solidFill>
                  <a:srgbClr val="000000"/>
                </a:solidFill>
                <a:latin typeface="Arial"/>
              </a:rPr>
              <a:t>Il chiamante può catturare esattamente DivisionePerZeroException.</a:t>
            </a:r>
            <a:endParaRPr b="0" lang="it-IT" sz="16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it-IT" sz="1600" spc="-1" strike="noStrike">
                <a:solidFill>
                  <a:srgbClr val="000000"/>
                </a:solidFill>
                <a:latin typeface="Arial"/>
              </a:rPr>
              <a:t>Il controllo della regola resta vicino all'operazione che la deve garantire.</a:t>
            </a:r>
            <a:endParaRPr b="0" lang="it-IT" sz="1600" spc="-1" strike="noStrike">
              <a:latin typeface="Arial"/>
            </a:endParaRPr>
          </a:p>
        </p:txBody>
      </p:sp>
    </p:spTree>
  </p:cSld>
  <p:timing>
    <p:tnLst>
      <p:par>
        <p:cTn id="35" dur="indefinite" restart="never" nodeType="tmRoot">
          <p:childTnLst>
            <p:seq>
              <p:cTn id="36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CustomShape 1"/>
          <p:cNvSpPr/>
          <p:nvPr/>
        </p:nvSpPr>
        <p:spPr>
          <a:xfrm>
            <a:off x="1910160" y="320040"/>
            <a:ext cx="8340480" cy="5169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/>
          <a:p>
            <a:pPr>
              <a:lnSpc>
                <a:spcPct val="100000"/>
              </a:lnSpc>
            </a:pPr>
            <a:r>
              <a:rPr b="1" lang="it-IT" sz="2800" spc="-1" strike="noStrike">
                <a:solidFill>
                  <a:srgbClr val="000000"/>
                </a:solidFill>
                <a:latin typeface="Arial"/>
              </a:rPr>
              <a:t>Un'eccezione può avere comportamento proprio</a:t>
            </a:r>
            <a:endParaRPr b="0" lang="it-IT" sz="2800" spc="-1" strike="noStrike">
              <a:latin typeface="Arial"/>
            </a:endParaRPr>
          </a:p>
        </p:txBody>
      </p:sp>
      <p:sp>
        <p:nvSpPr>
          <p:cNvPr id="108" name="CustomShape 2"/>
          <p:cNvSpPr/>
          <p:nvPr/>
        </p:nvSpPr>
        <p:spPr>
          <a:xfrm>
            <a:off x="685800" y="1325880"/>
            <a:ext cx="10835280" cy="3498120"/>
          </a:xfrm>
          <a:prstGeom prst="roundRect">
            <a:avLst>
              <a:gd name="adj" fmla="val 16667"/>
            </a:avLst>
          </a:prstGeom>
          <a:solidFill>
            <a:srgbClr val="f5f5f5"/>
          </a:solidFill>
          <a:ln w="12600">
            <a:solidFill>
              <a:srgbClr val="dcdcdc"/>
            </a:solidFill>
            <a:round/>
          </a:ln>
          <a:effectLst>
            <a:outerShdw blurRad="40000" dir="5400000" dist="23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09" name="CustomShape 3"/>
          <p:cNvSpPr/>
          <p:nvPr/>
        </p:nvSpPr>
        <p:spPr>
          <a:xfrm>
            <a:off x="3298680" y="1435680"/>
            <a:ext cx="5609520" cy="26773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/>
          <a:p>
            <a:pPr>
              <a:lnSpc>
                <a:spcPct val="100000"/>
              </a:lnSpc>
            </a:pPr>
            <a:r>
              <a:rPr b="0" lang="it-IT" sz="1600" spc="-1" strike="noStrike">
                <a:solidFill>
                  <a:srgbClr val="000000"/>
                </a:solidFill>
                <a:latin typeface="Courier New"/>
              </a:rPr>
              <a:t>public class MiaEccezionePersonalizzata</a:t>
            </a:r>
            <a:br/>
            <a:r>
              <a:rPr b="0" lang="it-IT" sz="1600" spc="-1" strike="noStrike">
                <a:solidFill>
                  <a:srgbClr val="000000"/>
                </a:solidFill>
                <a:latin typeface="Courier New"/>
              </a:rPr>
              <a:t>        extends Exception {</a:t>
            </a:r>
            <a:br/>
            <a:br/>
            <a:r>
              <a:rPr b="0" lang="it-IT" sz="1600" spc="-1" strike="noStrike">
                <a:solidFill>
                  <a:srgbClr val="000000"/>
                </a:solidFill>
                <a:latin typeface="Courier New"/>
              </a:rPr>
              <a:t>    public MiaEccezionePersonalizzata() {</a:t>
            </a:r>
            <a:br/>
            <a:r>
              <a:rPr b="0" lang="it-IT" sz="1600" spc="-1" strike="noStrike">
                <a:solidFill>
                  <a:srgbClr val="000000"/>
                </a:solidFill>
                <a:latin typeface="Courier New"/>
              </a:rPr>
              <a:t>        super("Mia eccezione");</a:t>
            </a:r>
            <a:br/>
            <a:r>
              <a:rPr b="0" lang="it-IT" sz="1600" spc="-1" strike="noStrike">
                <a:solidFill>
                  <a:srgbClr val="000000"/>
                </a:solidFill>
                <a:latin typeface="Courier New"/>
              </a:rPr>
              <a:t>    }</a:t>
            </a:r>
            <a:br/>
            <a:br/>
            <a:r>
              <a:rPr b="0" lang="it-IT" sz="1600" spc="-1" strike="noStrike">
                <a:solidFill>
                  <a:srgbClr val="000000"/>
                </a:solidFill>
                <a:latin typeface="Courier New"/>
              </a:rPr>
              <a:t>    public String dettagli() {</a:t>
            </a:r>
            <a:br/>
            <a:r>
              <a:rPr b="0" lang="it-IT" sz="1600" spc="-1" strike="noStrike">
                <a:solidFill>
                  <a:srgbClr val="000000"/>
                </a:solidFill>
                <a:latin typeface="Courier New"/>
              </a:rPr>
              <a:t>        return "Dettagli della mia eccezione";</a:t>
            </a:r>
            <a:br/>
            <a:r>
              <a:rPr b="0" lang="it-IT" sz="1600" spc="-1" strike="noStrike">
                <a:solidFill>
                  <a:srgbClr val="000000"/>
                </a:solidFill>
                <a:latin typeface="Courier New"/>
              </a:rPr>
              <a:t>    }</a:t>
            </a:r>
            <a:br/>
            <a:r>
              <a:rPr b="0" lang="it-IT" sz="1600" spc="-1" strike="noStrike">
                <a:solidFill>
                  <a:srgbClr val="000000"/>
                </a:solidFill>
                <a:latin typeface="Courier New"/>
              </a:rPr>
              <a:t>}</a:t>
            </a:r>
            <a:endParaRPr b="0" lang="it-IT" sz="1600" spc="-1" strike="noStrike">
              <a:latin typeface="Arial"/>
            </a:endParaRPr>
          </a:p>
        </p:txBody>
      </p:sp>
      <p:sp>
        <p:nvSpPr>
          <p:cNvPr id="110" name="CustomShape 4"/>
          <p:cNvSpPr/>
          <p:nvPr/>
        </p:nvSpPr>
        <p:spPr>
          <a:xfrm>
            <a:off x="731520" y="5440680"/>
            <a:ext cx="10789560" cy="3337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it-IT" sz="1600" spc="-1" strike="noStrike">
                <a:solidFill>
                  <a:srgbClr val="000000"/>
                </a:solidFill>
                <a:latin typeface="Arial"/>
              </a:rPr>
              <a:t>Nell'esercizio 15 il catch chiama sia getMessage() sia dettagli().</a:t>
            </a:r>
            <a:endParaRPr b="0" lang="it-IT" sz="1600" spc="-1" strike="noStrike">
              <a:latin typeface="Arial"/>
            </a:endParaRPr>
          </a:p>
        </p:txBody>
      </p:sp>
    </p:spTree>
  </p:cSld>
  <p:timing>
    <p:tnLst>
      <p:par>
        <p:cTn id="37" dur="indefinite" restart="never" nodeType="tmRoot">
          <p:childTnLst>
            <p:seq>
              <p:cTn id="38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CustomShape 1"/>
          <p:cNvSpPr/>
          <p:nvPr/>
        </p:nvSpPr>
        <p:spPr>
          <a:xfrm>
            <a:off x="3033360" y="320040"/>
            <a:ext cx="6094080" cy="5169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/>
          <a:p>
            <a:pPr>
              <a:lnSpc>
                <a:spcPct val="100000"/>
              </a:lnSpc>
            </a:pPr>
            <a:r>
              <a:rPr b="1" lang="it-IT" sz="2800" spc="-1" strike="noStrike">
                <a:solidFill>
                  <a:srgbClr val="000000"/>
                </a:solidFill>
                <a:latin typeface="Arial"/>
              </a:rPr>
              <a:t>Caso completo: input + operazione</a:t>
            </a:r>
            <a:endParaRPr b="0" lang="it-IT" sz="2800" spc="-1" strike="noStrike">
              <a:latin typeface="Arial"/>
            </a:endParaRPr>
          </a:p>
        </p:txBody>
      </p:sp>
      <p:sp>
        <p:nvSpPr>
          <p:cNvPr id="112" name="CustomShape 2"/>
          <p:cNvSpPr/>
          <p:nvPr/>
        </p:nvSpPr>
        <p:spPr>
          <a:xfrm>
            <a:off x="685800" y="1325880"/>
            <a:ext cx="10835280" cy="4571640"/>
          </a:xfrm>
          <a:prstGeom prst="roundRect">
            <a:avLst>
              <a:gd name="adj" fmla="val 16667"/>
            </a:avLst>
          </a:prstGeom>
          <a:solidFill>
            <a:srgbClr val="f5f5f5"/>
          </a:solidFill>
          <a:ln w="12600">
            <a:solidFill>
              <a:srgbClr val="dcdcdc"/>
            </a:solidFill>
            <a:round/>
          </a:ln>
          <a:effectLst>
            <a:outerShdw blurRad="40000" dir="5400000" dist="23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13" name="CustomShape 3"/>
          <p:cNvSpPr/>
          <p:nvPr/>
        </p:nvSpPr>
        <p:spPr>
          <a:xfrm>
            <a:off x="2788200" y="1435680"/>
            <a:ext cx="6630480" cy="41086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/>
          <a:p>
            <a:pPr>
              <a:lnSpc>
                <a:spcPct val="100000"/>
              </a:lnSpc>
            </a:pPr>
            <a:r>
              <a:rPr b="0" lang="it-IT" sz="1500" spc="-1" strike="noStrike">
                <a:solidFill>
                  <a:srgbClr val="000000"/>
                </a:solidFill>
                <a:latin typeface="Courier New"/>
              </a:rPr>
              <a:t>try {</a:t>
            </a:r>
            <a:br/>
            <a:r>
              <a:rPr b="0" lang="it-IT" sz="1500" spc="-1" strike="noStrike">
                <a:solidFill>
                  <a:srgbClr val="000000"/>
                </a:solidFill>
                <a:latin typeface="Courier New"/>
              </a:rPr>
              <a:t>    nu = sc.nextDouble();</a:t>
            </a:r>
            <a:br/>
            <a:r>
              <a:rPr b="0" lang="it-IT" sz="1500" spc="-1" strike="noStrike">
                <a:solidFill>
                  <a:srgbClr val="000000"/>
                </a:solidFill>
                <a:latin typeface="Courier New"/>
              </a:rPr>
              <a:t>    de = sc.nextDouble();</a:t>
            </a:r>
            <a:br/>
            <a:r>
              <a:rPr b="0" lang="it-IT" sz="1500" spc="-1" strike="noStrike">
                <a:solidFill>
                  <a:srgbClr val="000000"/>
                </a:solidFill>
                <a:latin typeface="Courier New"/>
              </a:rPr>
              <a:t>    ok = true;</a:t>
            </a:r>
            <a:br/>
            <a:r>
              <a:rPr b="0" lang="it-IT" sz="1500" spc="-1" strike="noStrike">
                <a:solidFill>
                  <a:srgbClr val="000000"/>
                </a:solidFill>
                <a:latin typeface="Courier New"/>
              </a:rPr>
              <a:t>} catch (InputMismatchException ex) {</a:t>
            </a:r>
            <a:br/>
            <a:r>
              <a:rPr b="0" lang="it-IT" sz="1500" spc="-1" strike="noStrike">
                <a:solidFill>
                  <a:srgbClr val="000000"/>
                </a:solidFill>
                <a:latin typeface="Courier New"/>
              </a:rPr>
              <a:t>    System.out.println("Numero non valido");</a:t>
            </a:r>
            <a:br/>
            <a:r>
              <a:rPr b="0" lang="it-IT" sz="1500" spc="-1" strike="noStrike">
                <a:solidFill>
                  <a:srgbClr val="000000"/>
                </a:solidFill>
                <a:latin typeface="Courier New"/>
              </a:rPr>
              <a:t>} finally {</a:t>
            </a:r>
            <a:br/>
            <a:r>
              <a:rPr b="0" lang="it-IT" sz="1500" spc="-1" strike="noStrike">
                <a:solidFill>
                  <a:srgbClr val="000000"/>
                </a:solidFill>
                <a:latin typeface="Courier New"/>
              </a:rPr>
              <a:t>    sc.close();</a:t>
            </a:r>
            <a:br/>
            <a:r>
              <a:rPr b="0" lang="it-IT" sz="1500" spc="-1" strike="noStrike">
                <a:solidFill>
                  <a:srgbClr val="000000"/>
                </a:solidFill>
                <a:latin typeface="Courier New"/>
              </a:rPr>
              <a:t>}</a:t>
            </a:r>
            <a:br/>
            <a:br/>
            <a:r>
              <a:rPr b="0" lang="it-IT" sz="1500" spc="-1" strike="noStrike">
                <a:solidFill>
                  <a:srgbClr val="000000"/>
                </a:solidFill>
                <a:latin typeface="Courier New"/>
              </a:rPr>
              <a:t>if (ok) {</a:t>
            </a:r>
            <a:br/>
            <a:r>
              <a:rPr b="0" lang="it-IT" sz="1500" spc="-1" strike="noStrike">
                <a:solidFill>
                  <a:srgbClr val="000000"/>
                </a:solidFill>
                <a:latin typeface="Courier New"/>
              </a:rPr>
              <a:t>    try {</a:t>
            </a:r>
            <a:br/>
            <a:r>
              <a:rPr b="0" lang="it-IT" sz="1500" spc="-1" strike="noStrike">
                <a:solidFill>
                  <a:srgbClr val="000000"/>
                </a:solidFill>
                <a:latin typeface="Courier New"/>
              </a:rPr>
              <a:t>        double r = d.div(nu, de);</a:t>
            </a:r>
            <a:br/>
            <a:r>
              <a:rPr b="0" lang="it-IT" sz="1500" spc="-1" strike="noStrike">
                <a:solidFill>
                  <a:srgbClr val="000000"/>
                </a:solidFill>
                <a:latin typeface="Courier New"/>
              </a:rPr>
              <a:t>        System.out.println("Risultato: " + r);</a:t>
            </a:r>
            <a:br/>
            <a:r>
              <a:rPr b="0" lang="it-IT" sz="1500" spc="-1" strike="noStrike">
                <a:solidFill>
                  <a:srgbClr val="000000"/>
                </a:solidFill>
                <a:latin typeface="Courier New"/>
              </a:rPr>
              <a:t>    } catch (Exception e) {</a:t>
            </a:r>
            <a:br/>
            <a:r>
              <a:rPr b="0" lang="it-IT" sz="1500" spc="-1" strike="noStrike">
                <a:solidFill>
                  <a:srgbClr val="000000"/>
                </a:solidFill>
                <a:latin typeface="Courier New"/>
              </a:rPr>
              <a:t>        System.out.println("Non puoi dividere per zero.");</a:t>
            </a:r>
            <a:br/>
            <a:r>
              <a:rPr b="0" lang="it-IT" sz="1500" spc="-1" strike="noStrike">
                <a:solidFill>
                  <a:srgbClr val="000000"/>
                </a:solidFill>
                <a:latin typeface="Courier New"/>
              </a:rPr>
              <a:t>    }</a:t>
            </a:r>
            <a:br/>
            <a:r>
              <a:rPr b="0" lang="it-IT" sz="1500" spc="-1" strike="noStrike">
                <a:solidFill>
                  <a:srgbClr val="000000"/>
                </a:solidFill>
                <a:latin typeface="Courier New"/>
              </a:rPr>
              <a:t>}</a:t>
            </a:r>
            <a:endParaRPr b="0" lang="it-IT" sz="1500" spc="-1" strike="noStrike">
              <a:latin typeface="Arial"/>
            </a:endParaRPr>
          </a:p>
        </p:txBody>
      </p:sp>
      <p:sp>
        <p:nvSpPr>
          <p:cNvPr id="114" name="CustomShape 4"/>
          <p:cNvSpPr/>
          <p:nvPr/>
        </p:nvSpPr>
        <p:spPr>
          <a:xfrm>
            <a:off x="3092760" y="5989320"/>
            <a:ext cx="6066720" cy="272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/>
          <a:p>
            <a:pPr>
              <a:lnSpc>
                <a:spcPct val="100000"/>
              </a:lnSpc>
            </a:pPr>
            <a:r>
              <a:rPr b="0" i="1" lang="it-IT" sz="1200" spc="-1" strike="noStrike">
                <a:solidFill>
                  <a:srgbClr val="232323"/>
                </a:solidFill>
                <a:latin typeface="Arial"/>
              </a:rPr>
              <a:t>Esempio 08_DivisioneScanner.java: input e calcolo sono gestiti in due momenti distinti.</a:t>
            </a:r>
            <a:endParaRPr b="0" lang="it-IT" sz="1200" spc="-1" strike="noStrike">
              <a:latin typeface="Arial"/>
            </a:endParaRPr>
          </a:p>
        </p:txBody>
      </p:sp>
    </p:spTree>
  </p:cSld>
  <p:timing>
    <p:tnLst>
      <p:par>
        <p:cTn id="39" dur="indefinite" restart="never" nodeType="tmRoot">
          <p:childTnLst>
            <p:seq>
              <p:cTn id="40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CustomShape 1"/>
          <p:cNvSpPr/>
          <p:nvPr/>
        </p:nvSpPr>
        <p:spPr>
          <a:xfrm>
            <a:off x="4389840" y="320040"/>
            <a:ext cx="3381480" cy="5169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/>
          <a:p>
            <a:pPr>
              <a:lnSpc>
                <a:spcPct val="100000"/>
              </a:lnSpc>
            </a:pPr>
            <a:r>
              <a:rPr b="1" lang="it-IT" sz="2800" spc="-1" strike="noStrike">
                <a:solidFill>
                  <a:srgbClr val="000000"/>
                </a:solidFill>
                <a:latin typeface="Arial"/>
              </a:rPr>
              <a:t>Eccezioni annidate</a:t>
            </a:r>
            <a:endParaRPr b="0" lang="it-IT" sz="2800" spc="-1" strike="noStrike">
              <a:latin typeface="Arial"/>
            </a:endParaRPr>
          </a:p>
        </p:txBody>
      </p:sp>
      <p:sp>
        <p:nvSpPr>
          <p:cNvPr id="116" name="CustomShape 2"/>
          <p:cNvSpPr/>
          <p:nvPr/>
        </p:nvSpPr>
        <p:spPr>
          <a:xfrm>
            <a:off x="685800" y="1325880"/>
            <a:ext cx="10835280" cy="4891680"/>
          </a:xfrm>
          <a:prstGeom prst="roundRect">
            <a:avLst>
              <a:gd name="adj" fmla="val 16667"/>
            </a:avLst>
          </a:prstGeom>
          <a:solidFill>
            <a:srgbClr val="f5f5f5"/>
          </a:solidFill>
          <a:ln w="12600">
            <a:solidFill>
              <a:srgbClr val="dcdcdc"/>
            </a:solidFill>
            <a:round/>
          </a:ln>
          <a:effectLst>
            <a:outerShdw blurRad="40000" dir="5400000" dist="23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17" name="CustomShape 3"/>
          <p:cNvSpPr/>
          <p:nvPr/>
        </p:nvSpPr>
        <p:spPr>
          <a:xfrm>
            <a:off x="3649320" y="1435680"/>
            <a:ext cx="4908240" cy="4475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/>
          <a:p>
            <a:pPr>
              <a:lnSpc>
                <a:spcPct val="100000"/>
              </a:lnSpc>
            </a:pPr>
            <a:r>
              <a:rPr b="0" lang="it-IT" sz="1400" spc="-1" strike="noStrike">
                <a:solidFill>
                  <a:srgbClr val="000000"/>
                </a:solidFill>
                <a:latin typeface="Courier New"/>
              </a:rPr>
              <a:t>try {</a:t>
            </a:r>
            <a:br/>
            <a:r>
              <a:rPr b="0" lang="it-IT" sz="1400" spc="-1" strike="noStrike">
                <a:solidFill>
                  <a:srgbClr val="000000"/>
                </a:solidFill>
                <a:latin typeface="Courier New"/>
              </a:rPr>
              <a:t>    // try esterno</a:t>
            </a:r>
            <a:br/>
            <a:br/>
            <a:r>
              <a:rPr b="0" lang="it-IT" sz="1400" spc="-1" strike="noStrike">
                <a:solidFill>
                  <a:srgbClr val="000000"/>
                </a:solidFill>
                <a:latin typeface="Courier New"/>
              </a:rPr>
              <a:t>    try {</a:t>
            </a:r>
            <a:br/>
            <a:r>
              <a:rPr b="0" lang="it-IT" sz="1400" spc="-1" strike="noStrike">
                <a:solidFill>
                  <a:srgbClr val="000000"/>
                </a:solidFill>
                <a:latin typeface="Courier New"/>
              </a:rPr>
              <a:t>        // try interno</a:t>
            </a:r>
            <a:br/>
            <a:r>
              <a:rPr b="0" lang="it-IT" sz="1400" spc="-1" strike="noStrike">
                <a:solidFill>
                  <a:srgbClr val="000000"/>
                </a:solidFill>
                <a:latin typeface="Courier New"/>
              </a:rPr>
              <a:t>        throw new Exception("CIAO");</a:t>
            </a:r>
            <a:br/>
            <a:r>
              <a:rPr b="0" lang="it-IT" sz="1400" spc="-1" strike="noStrike">
                <a:solidFill>
                  <a:srgbClr val="000000"/>
                </a:solidFill>
                <a:latin typeface="Courier New"/>
              </a:rPr>
              <a:t>    }</a:t>
            </a:r>
            <a:br/>
            <a:r>
              <a:rPr b="0" lang="it-IT" sz="1400" spc="-1" strike="noStrike">
                <a:solidFill>
                  <a:srgbClr val="000000"/>
                </a:solidFill>
                <a:latin typeface="Courier New"/>
              </a:rPr>
              <a:t>    catch (ArithmeticException e) {</a:t>
            </a:r>
            <a:br/>
            <a:r>
              <a:rPr b="0" lang="it-IT" sz="1400" spc="-1" strike="noStrike">
                <a:solidFill>
                  <a:srgbClr val="000000"/>
                </a:solidFill>
                <a:latin typeface="Courier New"/>
              </a:rPr>
              <a:t>        // non intercetta Exception</a:t>
            </a:r>
            <a:br/>
            <a:r>
              <a:rPr b="0" lang="it-IT" sz="1400" spc="-1" strike="noStrike">
                <a:solidFill>
                  <a:srgbClr val="000000"/>
                </a:solidFill>
                <a:latin typeface="Courier New"/>
              </a:rPr>
              <a:t>    }</a:t>
            </a:r>
            <a:br/>
            <a:r>
              <a:rPr b="0" lang="it-IT" sz="1400" spc="-1" strike="noStrike">
                <a:solidFill>
                  <a:srgbClr val="000000"/>
                </a:solidFill>
                <a:latin typeface="Courier New"/>
              </a:rPr>
              <a:t>    finally {</a:t>
            </a:r>
            <a:br/>
            <a:r>
              <a:rPr b="0" lang="it-IT" sz="1400" spc="-1" strike="noStrike">
                <a:solidFill>
                  <a:srgbClr val="000000"/>
                </a:solidFill>
                <a:latin typeface="Courier New"/>
              </a:rPr>
              <a:t>        System.out.println("finally interno");</a:t>
            </a:r>
            <a:br/>
            <a:r>
              <a:rPr b="0" lang="it-IT" sz="1400" spc="-1" strike="noStrike">
                <a:solidFill>
                  <a:srgbClr val="000000"/>
                </a:solidFill>
                <a:latin typeface="Courier New"/>
              </a:rPr>
              <a:t>    }</a:t>
            </a:r>
            <a:br/>
            <a:br/>
            <a:r>
              <a:rPr b="0" lang="it-IT" sz="1400" spc="-1" strike="noStrike">
                <a:solidFill>
                  <a:srgbClr val="000000"/>
                </a:solidFill>
                <a:latin typeface="Courier New"/>
              </a:rPr>
              <a:t>}</a:t>
            </a:r>
            <a:br/>
            <a:r>
              <a:rPr b="0" lang="it-IT" sz="1400" spc="-1" strike="noStrike">
                <a:solidFill>
                  <a:srgbClr val="000000"/>
                </a:solidFill>
                <a:latin typeface="Courier New"/>
              </a:rPr>
              <a:t>catch (Exception e) {</a:t>
            </a:r>
            <a:br/>
            <a:r>
              <a:rPr b="0" lang="it-IT" sz="1400" spc="-1" strike="noStrike">
                <a:solidFill>
                  <a:srgbClr val="000000"/>
                </a:solidFill>
                <a:latin typeface="Courier New"/>
              </a:rPr>
              <a:t>    System.out.println("catch esterno");</a:t>
            </a:r>
            <a:br/>
            <a:r>
              <a:rPr b="0" lang="it-IT" sz="1400" spc="-1" strike="noStrike">
                <a:solidFill>
                  <a:srgbClr val="000000"/>
                </a:solidFill>
                <a:latin typeface="Courier New"/>
              </a:rPr>
              <a:t>}</a:t>
            </a:r>
            <a:br/>
            <a:r>
              <a:rPr b="0" lang="it-IT" sz="1400" spc="-1" strike="noStrike">
                <a:solidFill>
                  <a:srgbClr val="000000"/>
                </a:solidFill>
                <a:latin typeface="Courier New"/>
              </a:rPr>
              <a:t>finally {</a:t>
            </a:r>
            <a:br/>
            <a:r>
              <a:rPr b="0" lang="it-IT" sz="1400" spc="-1" strike="noStrike">
                <a:solidFill>
                  <a:srgbClr val="000000"/>
                </a:solidFill>
                <a:latin typeface="Courier New"/>
              </a:rPr>
              <a:t>    System.out.println("finally esterno");</a:t>
            </a:r>
            <a:br/>
            <a:r>
              <a:rPr b="0" lang="it-IT" sz="1400" spc="-1" strike="noStrike">
                <a:solidFill>
                  <a:srgbClr val="000000"/>
                </a:solidFill>
                <a:latin typeface="Courier New"/>
              </a:rPr>
              <a:t>}</a:t>
            </a:r>
            <a:endParaRPr b="0" lang="it-IT" sz="1400" spc="-1" strike="noStrike">
              <a:latin typeface="Arial"/>
            </a:endParaRPr>
          </a:p>
        </p:txBody>
      </p:sp>
      <p:sp>
        <p:nvSpPr>
          <p:cNvPr id="118" name="CustomShape 4"/>
          <p:cNvSpPr/>
          <p:nvPr/>
        </p:nvSpPr>
        <p:spPr>
          <a:xfrm>
            <a:off x="1819440" y="5989320"/>
            <a:ext cx="8613360" cy="272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/>
          <a:p>
            <a:pPr>
              <a:lnSpc>
                <a:spcPct val="100000"/>
              </a:lnSpc>
            </a:pPr>
            <a:r>
              <a:rPr b="0" i="1" lang="it-IT" sz="1200" spc="-1" strike="noStrike">
                <a:solidFill>
                  <a:srgbClr val="232323"/>
                </a:solidFill>
                <a:latin typeface="Arial"/>
              </a:rPr>
              <a:t>Esempio 09_Esempio4Finally.java: il catch interno non corrisponde al tipo lanciato, quindi l'eccezione risale al livello esterno.</a:t>
            </a:r>
            <a:endParaRPr b="0" lang="it-IT" sz="1200" spc="-1" strike="noStrike">
              <a:latin typeface="Arial"/>
            </a:endParaRPr>
          </a:p>
        </p:txBody>
      </p:sp>
    </p:spTree>
  </p:cSld>
  <p:timing>
    <p:tnLst>
      <p:par>
        <p:cTn id="41" dur="indefinite" restart="never" nodeType="tmRoot">
          <p:childTnLst>
            <p:seq>
              <p:cTn id="42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CustomShape 1"/>
          <p:cNvSpPr/>
          <p:nvPr/>
        </p:nvSpPr>
        <p:spPr>
          <a:xfrm>
            <a:off x="3944880" y="320040"/>
            <a:ext cx="4271400" cy="5169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/>
          <a:p>
            <a:pPr>
              <a:lnSpc>
                <a:spcPct val="100000"/>
              </a:lnSpc>
            </a:pPr>
            <a:r>
              <a:rPr b="1" lang="it-IT" sz="2800" spc="-1" strike="noStrike">
                <a:solidFill>
                  <a:srgbClr val="000000"/>
                </a:solidFill>
                <a:latin typeface="Arial"/>
              </a:rPr>
              <a:t>Errori comuni da evitare</a:t>
            </a:r>
            <a:endParaRPr b="0" lang="it-IT" sz="2800" spc="-1" strike="noStrike">
              <a:latin typeface="Arial"/>
            </a:endParaRPr>
          </a:p>
        </p:txBody>
      </p:sp>
      <p:sp>
        <p:nvSpPr>
          <p:cNvPr id="120" name="CustomShape 2"/>
          <p:cNvSpPr/>
          <p:nvPr/>
        </p:nvSpPr>
        <p:spPr>
          <a:xfrm>
            <a:off x="731520" y="1234440"/>
            <a:ext cx="10789560" cy="19702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it-IT" sz="1800" spc="-1" strike="noStrike">
                <a:solidFill>
                  <a:srgbClr val="000000"/>
                </a:solidFill>
                <a:latin typeface="Arial"/>
              </a:rPr>
              <a:t>Usare catch(Exception e) ovunque senza distinguere i casi.</a:t>
            </a:r>
            <a:endParaRPr b="0" lang="it-IT" sz="18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it-IT" sz="1800" spc="-1" strike="noStrike">
                <a:solidFill>
                  <a:srgbClr val="000000"/>
                </a:solidFill>
                <a:latin typeface="Arial"/>
              </a:rPr>
              <a:t>Catturare un'eccezione e non fare nulla, perdendo informazioni utili.</a:t>
            </a:r>
            <a:endParaRPr b="0" lang="it-IT" sz="18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it-IT" sz="1800" spc="-1" strike="noStrike">
                <a:solidFill>
                  <a:srgbClr val="000000"/>
                </a:solidFill>
                <a:latin typeface="Arial"/>
              </a:rPr>
              <a:t>Dimenticare di gestire risorse che devono essere chiuse: negli esempi viene usato finally.</a:t>
            </a:r>
            <a:endParaRPr b="0" lang="it-IT" sz="18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it-IT" sz="1800" spc="-1" strike="noStrike">
                <a:solidFill>
                  <a:srgbClr val="000000"/>
                </a:solidFill>
                <a:latin typeface="Arial"/>
              </a:rPr>
              <a:t>Usare eccezioni per sostituire completamente i normali controlli del programma.</a:t>
            </a:r>
            <a:endParaRPr b="0" lang="it-IT" sz="18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it-IT" sz="1800" spc="-1" strike="noStrike">
                <a:solidFill>
                  <a:srgbClr val="000000"/>
                </a:solidFill>
                <a:latin typeface="Arial"/>
              </a:rPr>
              <a:t>Dare messaggi troppo generici quando è possibile spiegare cosa è andato storto.</a:t>
            </a:r>
            <a:endParaRPr b="0" lang="it-IT" sz="1800" spc="-1" strike="noStrike">
              <a:latin typeface="Arial"/>
            </a:endParaRPr>
          </a:p>
        </p:txBody>
      </p:sp>
    </p:spTree>
  </p:cSld>
  <p:timing>
    <p:tnLst>
      <p:par>
        <p:cTn id="43" dur="indefinite" restart="never" nodeType="tmRoot">
          <p:childTnLst>
            <p:seq>
              <p:cTn id="44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CustomShape 1"/>
          <p:cNvSpPr/>
          <p:nvPr/>
        </p:nvSpPr>
        <p:spPr>
          <a:xfrm>
            <a:off x="4587120" y="320040"/>
            <a:ext cx="2986920" cy="5169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/>
          <a:p>
            <a:pPr>
              <a:lnSpc>
                <a:spcPct val="100000"/>
              </a:lnSpc>
            </a:pPr>
            <a:r>
              <a:rPr b="1" lang="it-IT" sz="2800" spc="-1" strike="noStrike">
                <a:solidFill>
                  <a:srgbClr val="000000"/>
                </a:solidFill>
                <a:latin typeface="Arial"/>
              </a:rPr>
              <a:t>Schema mentale</a:t>
            </a:r>
            <a:endParaRPr b="0" lang="it-IT" sz="2800" spc="-1" strike="noStrike">
              <a:latin typeface="Arial"/>
            </a:endParaRPr>
          </a:p>
        </p:txBody>
      </p:sp>
      <p:sp>
        <p:nvSpPr>
          <p:cNvPr id="122" name="CustomShape 2"/>
          <p:cNvSpPr/>
          <p:nvPr/>
        </p:nvSpPr>
        <p:spPr>
          <a:xfrm>
            <a:off x="685800" y="1325880"/>
            <a:ext cx="10835280" cy="5370120"/>
          </a:xfrm>
          <a:prstGeom prst="roundRect">
            <a:avLst>
              <a:gd name="adj" fmla="val 16667"/>
            </a:avLst>
          </a:prstGeom>
          <a:solidFill>
            <a:srgbClr val="f5f5f5"/>
          </a:solidFill>
          <a:ln w="12600">
            <a:solidFill>
              <a:srgbClr val="dcdcdc"/>
            </a:solidFill>
            <a:round/>
          </a:ln>
          <a:effectLst>
            <a:outerShdw blurRad="40000" dir="5400000" dist="23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23" name="CustomShape 3"/>
          <p:cNvSpPr/>
          <p:nvPr/>
        </p:nvSpPr>
        <p:spPr>
          <a:xfrm>
            <a:off x="3252960" y="1435680"/>
            <a:ext cx="5700960" cy="51836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/>
          <a:p>
            <a:pPr>
              <a:lnSpc>
                <a:spcPct val="100000"/>
              </a:lnSpc>
            </a:pPr>
            <a:r>
              <a:rPr b="0" lang="it-IT" sz="1700" spc="-1" strike="noStrike">
                <a:solidFill>
                  <a:srgbClr val="000000"/>
                </a:solidFill>
                <a:latin typeface="Courier New"/>
              </a:rPr>
              <a:t>OPERAZIONE</a:t>
            </a:r>
            <a:br/>
            <a:r>
              <a:rPr b="0" lang="it-IT" sz="1700" spc="-1" strike="noStrike">
                <a:solidFill>
                  <a:srgbClr val="000000"/>
                </a:solidFill>
                <a:latin typeface="Courier New"/>
              </a:rPr>
              <a:t>    |</a:t>
            </a:r>
            <a:br/>
            <a:r>
              <a:rPr b="0" lang="it-IT" sz="1700" spc="-1" strike="noStrike">
                <a:solidFill>
                  <a:srgbClr val="000000"/>
                </a:solidFill>
                <a:latin typeface="Courier New"/>
              </a:rPr>
              <a:t>    v</a:t>
            </a:r>
            <a:br/>
            <a:r>
              <a:rPr b="0" lang="it-IT" sz="1700" spc="-1" strike="noStrike">
                <a:solidFill>
                  <a:srgbClr val="000000"/>
                </a:solidFill>
                <a:latin typeface="Courier New"/>
              </a:rPr>
              <a:t>  può fallire?</a:t>
            </a:r>
            <a:br/>
            <a:r>
              <a:rPr b="0" lang="it-IT" sz="1700" spc="-1" strike="noStrike">
                <a:solidFill>
                  <a:srgbClr val="000000"/>
                </a:solidFill>
                <a:latin typeface="Courier New"/>
              </a:rPr>
              <a:t>    |</a:t>
            </a:r>
            <a:br/>
            <a:r>
              <a:rPr b="0" lang="it-IT" sz="1700" spc="-1" strike="noStrike">
                <a:solidFill>
                  <a:srgbClr val="000000"/>
                </a:solidFill>
                <a:latin typeface="Courier New"/>
              </a:rPr>
              <a:t>    +---- no ----&gt; continua</a:t>
            </a:r>
            <a:br/>
            <a:r>
              <a:rPr b="0" lang="it-IT" sz="1700" spc="-1" strike="noStrike">
                <a:solidFill>
                  <a:srgbClr val="000000"/>
                </a:solidFill>
                <a:latin typeface="Courier New"/>
              </a:rPr>
              <a:t>    |</a:t>
            </a:r>
            <a:br/>
            <a:r>
              <a:rPr b="0" lang="it-IT" sz="1700" spc="-1" strike="noStrike">
                <a:solidFill>
                  <a:srgbClr val="000000"/>
                </a:solidFill>
                <a:latin typeface="Courier New"/>
              </a:rPr>
              <a:t>    +---- sì ----&gt; genera eccezione</a:t>
            </a:r>
            <a:br/>
            <a:r>
              <a:rPr b="0" lang="it-IT" sz="1700" spc="-1" strike="noStrike">
                <a:solidFill>
                  <a:srgbClr val="000000"/>
                </a:solidFill>
                <a:latin typeface="Courier New"/>
              </a:rPr>
              <a:t>                       |</a:t>
            </a:r>
            <a:br/>
            <a:r>
              <a:rPr b="0" lang="it-IT" sz="1700" spc="-1" strike="noStrike">
                <a:solidFill>
                  <a:srgbClr val="000000"/>
                </a:solidFill>
                <a:latin typeface="Courier New"/>
              </a:rPr>
              <a:t>                       v</a:t>
            </a:r>
            <a:br/>
            <a:r>
              <a:rPr b="0" lang="it-IT" sz="1700" spc="-1" strike="noStrike">
                <a:solidFill>
                  <a:srgbClr val="000000"/>
                </a:solidFill>
                <a:latin typeface="Courier New"/>
              </a:rPr>
              <a:t>                 try / catch</a:t>
            </a:r>
            <a:br/>
            <a:r>
              <a:rPr b="0" lang="it-IT" sz="1700" spc="-1" strike="noStrike">
                <a:solidFill>
                  <a:srgbClr val="000000"/>
                </a:solidFill>
                <a:latin typeface="Courier New"/>
              </a:rPr>
              <a:t>                       |</a:t>
            </a:r>
            <a:br/>
            <a:r>
              <a:rPr b="0" lang="it-IT" sz="1700" spc="-1" strike="noStrike">
                <a:solidFill>
                  <a:srgbClr val="000000"/>
                </a:solidFill>
                <a:latin typeface="Courier New"/>
              </a:rPr>
              <a:t>             +---------+---------+</a:t>
            </a:r>
            <a:br/>
            <a:r>
              <a:rPr b="0" lang="it-IT" sz="1700" spc="-1" strike="noStrike">
                <a:solidFill>
                  <a:srgbClr val="000000"/>
                </a:solidFill>
                <a:latin typeface="Courier New"/>
              </a:rPr>
              <a:t>             |                   |</a:t>
            </a:r>
            <a:br/>
            <a:r>
              <a:rPr b="0" lang="it-IT" sz="1700" spc="-1" strike="noStrike">
                <a:solidFill>
                  <a:srgbClr val="000000"/>
                </a:solidFill>
                <a:latin typeface="Courier New"/>
              </a:rPr>
              <a:t>          gestisci            risali</a:t>
            </a:r>
            <a:br/>
            <a:r>
              <a:rPr b="0" lang="it-IT" sz="1700" spc="-1" strike="noStrike">
                <a:solidFill>
                  <a:srgbClr val="000000"/>
                </a:solidFill>
                <a:latin typeface="Courier New"/>
              </a:rPr>
              <a:t>             |                   |</a:t>
            </a:r>
            <a:br/>
            <a:r>
              <a:rPr b="0" lang="it-IT" sz="1700" spc="-1" strike="noStrike">
                <a:solidFill>
                  <a:srgbClr val="000000"/>
                </a:solidFill>
                <a:latin typeface="Courier New"/>
              </a:rPr>
              <a:t>             v                   v</a:t>
            </a:r>
            <a:br/>
            <a:r>
              <a:rPr b="0" lang="it-IT" sz="1700" spc="-1" strike="noStrike">
                <a:solidFill>
                  <a:srgbClr val="000000"/>
                </a:solidFill>
                <a:latin typeface="Courier New"/>
              </a:rPr>
              <a:t>          continua        altro catch/metodo</a:t>
            </a:r>
            <a:br/>
            <a:br/>
            <a:r>
              <a:rPr b="0" lang="it-IT" sz="1700" spc="-1" strike="noStrike">
                <a:solidFill>
                  <a:srgbClr val="000000"/>
                </a:solidFill>
                <a:latin typeface="Courier New"/>
              </a:rPr>
              <a:t>finally -&gt; operazioni da eseguire comunque</a:t>
            </a:r>
            <a:endParaRPr b="0" lang="it-IT" sz="1700" spc="-1" strike="noStrike">
              <a:latin typeface="Arial"/>
            </a:endParaRPr>
          </a:p>
        </p:txBody>
      </p:sp>
    </p:spTree>
  </p:cSld>
  <p:timing>
    <p:tnLst>
      <p:par>
        <p:cTn id="45" dur="indefinite" restart="never" nodeType="tmRoot">
          <p:childTnLst>
            <p:seq>
              <p:cTn id="46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CustomShape 1"/>
          <p:cNvSpPr/>
          <p:nvPr/>
        </p:nvSpPr>
        <p:spPr>
          <a:xfrm>
            <a:off x="4161960" y="320040"/>
            <a:ext cx="3837240" cy="5169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/>
          <a:p>
            <a:pPr>
              <a:lnSpc>
                <a:spcPct val="100000"/>
              </a:lnSpc>
            </a:pPr>
            <a:r>
              <a:rPr b="1" lang="it-IT" sz="2800" spc="-1" strike="noStrike">
                <a:solidFill>
                  <a:srgbClr val="000000"/>
                </a:solidFill>
                <a:latin typeface="Arial"/>
              </a:rPr>
              <a:t>Esercitazione guidata</a:t>
            </a:r>
            <a:endParaRPr b="0" lang="it-IT" sz="2800" spc="-1" strike="noStrike">
              <a:latin typeface="Arial"/>
            </a:endParaRPr>
          </a:p>
        </p:txBody>
      </p:sp>
      <p:sp>
        <p:nvSpPr>
          <p:cNvPr id="125" name="CustomShape 2"/>
          <p:cNvSpPr/>
          <p:nvPr/>
        </p:nvSpPr>
        <p:spPr>
          <a:xfrm>
            <a:off x="731520" y="1234440"/>
            <a:ext cx="10789560" cy="30474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it-IT" sz="1800" spc="-1" strike="noStrike">
                <a:solidFill>
                  <a:srgbClr val="000000"/>
                </a:solidFill>
                <a:latin typeface="Arial"/>
              </a:rPr>
              <a:t>Parti da un metodo dividi(a, b) che non accetta b = 0.</a:t>
            </a:r>
            <a:endParaRPr b="0" lang="it-IT" sz="18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it-IT" sz="1800" spc="-1" strike="noStrike">
                <a:solidFill>
                  <a:srgbClr val="000000"/>
                </a:solidFill>
                <a:latin typeface="Arial"/>
              </a:rPr>
              <a:t>Crea una DivisionePerZeroException personalizzata.</a:t>
            </a:r>
            <a:endParaRPr b="0" lang="it-IT" sz="18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it-IT" sz="1800" spc="-1" strike="noStrike">
                <a:solidFill>
                  <a:srgbClr val="000000"/>
                </a:solidFill>
                <a:latin typeface="Arial"/>
              </a:rPr>
              <a:t>Fai dichiarare al metodo throws DivisionePerZeroException.</a:t>
            </a:r>
            <a:endParaRPr b="0" lang="it-IT" sz="18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it-IT" sz="1800" spc="-1" strike="noStrike">
                <a:solidFill>
                  <a:srgbClr val="000000"/>
                </a:solidFill>
                <a:latin typeface="Arial"/>
              </a:rPr>
              <a:t>Nel main usa try/catch per mostrare un messaggio comprensibile.</a:t>
            </a:r>
            <a:endParaRPr b="0" lang="it-IT" sz="18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it-IT" sz="1800" spc="-1" strike="noStrike">
                <a:solidFill>
                  <a:srgbClr val="000000"/>
                </a:solidFill>
                <a:latin typeface="Arial"/>
              </a:rPr>
              <a:t>Aggiungi una lettura con Scanner e gestisci InputMismatchException.</a:t>
            </a:r>
            <a:endParaRPr b="0" lang="it-IT" sz="18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it-IT" sz="1800" spc="-1" strike="noStrike">
                <a:solidFill>
                  <a:srgbClr val="000000"/>
                </a:solidFill>
                <a:latin typeface="Arial"/>
              </a:rPr>
              <a:t>Usa finally per chiudere lo Scanner.</a:t>
            </a:r>
            <a:endParaRPr b="0" lang="it-IT" sz="18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it-IT" sz="1800" spc="-1" strike="noStrike">
                <a:solidFill>
                  <a:srgbClr val="000000"/>
                </a:solidFill>
                <a:latin typeface="Arial"/>
              </a:rPr>
              <a:t>Prova poi ad aggiungere una seconda eccezione personalizzata con un messaggio e un metodo dettagli().</a:t>
            </a:r>
            <a:endParaRPr b="0" lang="it-IT" sz="1800" spc="-1" strike="noStrike">
              <a:latin typeface="Arial"/>
            </a:endParaRPr>
          </a:p>
        </p:txBody>
      </p:sp>
    </p:spTree>
  </p:cSld>
  <p:timing>
    <p:tnLst>
      <p:par>
        <p:cTn id="47" dur="indefinite" restart="never" nodeType="tmRoot">
          <p:childTnLst>
            <p:seq>
              <p:cTn id="48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CustomShape 1"/>
          <p:cNvSpPr/>
          <p:nvPr/>
        </p:nvSpPr>
        <p:spPr>
          <a:xfrm>
            <a:off x="5181480" y="320040"/>
            <a:ext cx="1798200" cy="5169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/>
          <a:p>
            <a:pPr>
              <a:lnSpc>
                <a:spcPct val="100000"/>
              </a:lnSpc>
            </a:pPr>
            <a:r>
              <a:rPr b="1" lang="it-IT" sz="2800" spc="-1" strike="noStrike">
                <a:solidFill>
                  <a:srgbClr val="000000"/>
                </a:solidFill>
                <a:latin typeface="Arial"/>
              </a:rPr>
              <a:t>Riepilogo</a:t>
            </a:r>
            <a:endParaRPr b="0" lang="it-IT" sz="2800" spc="-1" strike="noStrike">
              <a:latin typeface="Arial"/>
            </a:endParaRPr>
          </a:p>
        </p:txBody>
      </p:sp>
      <p:sp>
        <p:nvSpPr>
          <p:cNvPr id="127" name="CustomShape 2"/>
          <p:cNvSpPr/>
          <p:nvPr/>
        </p:nvSpPr>
        <p:spPr>
          <a:xfrm>
            <a:off x="731520" y="1234440"/>
            <a:ext cx="10789560" cy="3168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it-IT" sz="1900" spc="-1" strike="noStrike">
                <a:solidFill>
                  <a:srgbClr val="000000"/>
                </a:solidFill>
                <a:latin typeface="Arial"/>
              </a:rPr>
              <a:t>try contiene il codice che può generare un'eccezione.</a:t>
            </a:r>
            <a:endParaRPr b="0" lang="it-IT" sz="19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it-IT" sz="1900" spc="-1" strike="noStrike">
                <a:solidFill>
                  <a:srgbClr val="000000"/>
                </a:solidFill>
                <a:latin typeface="Arial"/>
              </a:rPr>
              <a:t>catch intercetta e gestisce un tipo di eccezione.</a:t>
            </a:r>
            <a:endParaRPr b="0" lang="it-IT" sz="19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it-IT" sz="1900" spc="-1" strike="noStrike">
                <a:solidFill>
                  <a:srgbClr val="000000"/>
                </a:solidFill>
                <a:latin typeface="Arial"/>
              </a:rPr>
              <a:t>finally contiene codice da eseguire al termine del blocco.</a:t>
            </a:r>
            <a:endParaRPr b="0" lang="it-IT" sz="19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it-IT" sz="1900" spc="-1" strike="noStrike">
                <a:solidFill>
                  <a:srgbClr val="000000"/>
                </a:solidFill>
                <a:latin typeface="Arial"/>
              </a:rPr>
              <a:t>throw lancia esplicitamente un'eccezione.</a:t>
            </a:r>
            <a:endParaRPr b="0" lang="it-IT" sz="19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it-IT" sz="1900" spc="-1" strike="noStrike">
                <a:solidFill>
                  <a:srgbClr val="000000"/>
                </a:solidFill>
                <a:latin typeface="Arial"/>
              </a:rPr>
              <a:t>throws dichiara che un metodo può lanciare un'eccezione.</a:t>
            </a:r>
            <a:endParaRPr b="0" lang="it-IT" sz="19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it-IT" sz="1900" spc="-1" strike="noStrike">
                <a:solidFill>
                  <a:srgbClr val="000000"/>
                </a:solidFill>
                <a:latin typeface="Arial"/>
              </a:rPr>
              <a:t>Le eccezioni personalizzate permettono di modellare errori specifici dell'applicazione.</a:t>
            </a:r>
            <a:endParaRPr b="0" lang="it-IT" sz="19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it-IT" sz="1900" spc="-1" strike="noStrike">
                <a:solidFill>
                  <a:srgbClr val="000000"/>
                </a:solidFill>
                <a:latin typeface="Arial"/>
              </a:rPr>
              <a:t>Nei progetti reali, la gestione deve essere specifica, comprensibile e coerente con il flusso dell'applicazione.</a:t>
            </a:r>
            <a:endParaRPr b="0" lang="it-IT" sz="1900" spc="-1" strike="noStrike">
              <a:latin typeface="Arial"/>
            </a:endParaRPr>
          </a:p>
        </p:txBody>
      </p:sp>
    </p:spTree>
  </p:cSld>
  <p:timing>
    <p:tnLst>
      <p:par>
        <p:cTn id="49" dur="indefinite" restart="never" nodeType="tmRoot">
          <p:childTnLst>
            <p:seq>
              <p:cTn id="50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</TotalTime>
  <Application>LibreOffice/6.0.7.3$Linux_X86_64 LibreOffice_project/00m0$Build-3</Applicat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it-IT</dc:language>
  <cp:lastModifiedBy/>
  <dcterms:modified xsi:type="dcterms:W3CDTF">2026-09-07T22:26:38Z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14.0000</vt:lpwstr>
  </property>
  <property fmtid="{D5CDD505-2E9C-101B-9397-08002B2CF9AE}" pid="3" name="HiddenSlides">
    <vt:i4>0</vt:i4>
  </property>
  <property fmtid="{D5CDD505-2E9C-101B-9397-08002B2CF9AE}" pid="4" name="HyperlinksChanged">
    <vt:bool>0</vt:bool>
  </property>
  <property fmtid="{D5CDD505-2E9C-101B-9397-08002B2CF9AE}" pid="5" name="LinksUpToDate">
    <vt:bool>0</vt:bool>
  </property>
  <property fmtid="{D5CDD505-2E9C-101B-9397-08002B2CF9AE}" pid="6" name="MMClips">
    <vt:i4>0</vt:i4>
  </property>
  <property fmtid="{D5CDD505-2E9C-101B-9397-08002B2CF9AE}" pid="7" name="Notes">
    <vt:i4>0</vt:i4>
  </property>
  <property fmtid="{D5CDD505-2E9C-101B-9397-08002B2CF9AE}" pid="8" name="PresentationFormat">
    <vt:lpwstr>On-screen Show (4:3)</vt:lpwstr>
  </property>
  <property fmtid="{D5CDD505-2E9C-101B-9397-08002B2CF9AE}" pid="9" name="ScaleCrop">
    <vt:bool>0</vt:bool>
  </property>
  <property fmtid="{D5CDD505-2E9C-101B-9397-08002B2CF9AE}" pid="10" name="ShareDoc">
    <vt:bool>0</vt:bool>
  </property>
  <property fmtid="{D5CDD505-2E9C-101B-9397-08002B2CF9AE}" pid="11" name="Slides">
    <vt:i4>0</vt:i4>
  </property>
</Properties>
</file>