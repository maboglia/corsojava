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Eccezioni in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/>
              <a:t>Gestire gli errori senza far crollare il programma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/>
              <a:t>Che cos'è un'eccezione e perché esiste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try, catch e finally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throw e throws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Checked e unchecked exceptions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Gerarchia di Throwable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Eccezioni personalizzate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Buone pratiche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Che cos'è un'eccezione?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/>
              <a:t>È un evento anomalo che interrompe il normale flusso di esecuzione.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Java crea un oggetto eccezione e lo propaga finché un codice decide come gestirlo.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Esempi: divisione per zero, indice non valido, file inesistente, conversione numerica errata.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Gestire un'eccezione significa decidere come reagire all'errore.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La gerarchia delle eccezioni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/>
              <a:t>Throwable è la radice della gerarchia.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Error: problemi gravi, normalmente non gestiti dall'applicazione.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Exception: condizioni che un'applicazione può gestire.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RuntimeException: eccezioni non controllate (unchecked).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Le checked exception derivano da Exception ma non da RuntimeException.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Checked e unchecked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/>
              <a:t>Checked: il compilatore obbliga a gestirle o dichiararle con throws.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Esempio: IOException.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Unchecked: non è obbligatorio catturarle o dichiararle.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Esempi: NullPointerException, ArithmeticException, NumberFormatException.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La distinzione riguarda il controllo del compilatore, non la gravità.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try e catch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/>
              <a:t>Proteggere il codice che può generare un'eccezione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10515600" cy="283464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900">
                <a:latin typeface="Consolas"/>
              </a:defRPr>
            </a:pPr>
            <a:r>
              <a:rPr/>
              <a:t>try {</a:t>
            </a:r>
            <a:br/>
            <a:r>
              <a:rPr/>
              <a:t>    int n = Integer.parseInt("abc");</a:t>
            </a:r>
            <a:br/>
            <a:r>
              <a:rPr/>
              <a:t>} catch (NumberFormatException e) {</a:t>
            </a:r>
            <a:br/>
            <a:r>
              <a:rPr/>
              <a:t>    System.out.println("Numero non valido");</a:t>
            </a:r>
            <a:br/>
            <a:r>
              <a:rPr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72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/>
              <a:t>try contiene il codice potenzialmente problematico.</a:t>
            </a:r>
          </a:p>
          <a:p>
            <a:pPr>
              <a:spcAft>
                <a:spcPts val="1000"/>
              </a:spcAft>
              <a:defRPr sz="1700"/>
            </a:pPr>
            <a:r>
              <a:rPr/>
              <a:t>catch specifica il tipo di eccezione da gestire.</a:t>
            </a:r>
          </a:p>
          <a:p>
            <a:pPr>
              <a:spcAft>
                <a:spcPts val="1000"/>
              </a:spcAft>
              <a:defRPr sz="1700"/>
            </a:pPr>
            <a:r>
              <a:rPr/>
              <a:t>L'oggetto e contiene informazioni sull'eccezione.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Più catch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1051560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800">
                <a:latin typeface="Consolas"/>
              </a:defRPr>
            </a:pPr>
            <a:r>
              <a:rPr/>
              <a:t>try {</a:t>
            </a:r>
            <a:br/>
            <a:r>
              <a:rPr/>
              <a:t>    // operazioni</a:t>
            </a:r>
            <a:br/>
            <a:r>
              <a:rPr/>
              <a:t>} catch (NumberFormatException e) {</a:t>
            </a:r>
            <a:br/>
            <a:r>
              <a:rPr/>
              <a:t>    // formato non valido</a:t>
            </a:r>
            <a:br/>
            <a:r>
              <a:rPr/>
              <a:t>} catch (ArithmeticException e) {</a:t>
            </a:r>
            <a:br/>
            <a:r>
              <a:rPr/>
              <a:t>    // operazione matematica non valida</a:t>
            </a:r>
            <a:br/>
            <a:r>
              <a:rPr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892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/>
              <a:t>Gestire tipi diversi con catch distinti.</a:t>
            </a:r>
          </a:p>
          <a:p>
            <a:pPr>
              <a:spcAft>
                <a:spcPts val="1000"/>
              </a:spcAft>
              <a:defRPr sz="1700"/>
            </a:pPr>
            <a:r>
              <a:rPr/>
              <a:t>Dal tipo più specifico al più generale.</a:t>
            </a:r>
          </a:p>
          <a:p>
            <a:pPr>
              <a:spcAft>
                <a:spcPts val="1000"/>
              </a:spcAft>
              <a:defRPr sz="1700"/>
            </a:pPr>
            <a:r>
              <a:rPr/>
              <a:t>Un catch (Exception e) troppo generico può nascondere problemi.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finally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/>
              <a:t>Codice da eseguire comunque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10515600" cy="30175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900">
                <a:latin typeface="Consolas"/>
              </a:defRPr>
            </a:pPr>
            <a:r>
              <a:rPr/>
              <a:t>try {</a:t>
            </a:r>
            <a:br/>
            <a:r>
              <a:rPr/>
              <a:t>    // operazione</a:t>
            </a:r>
            <a:br/>
            <a:r>
              <a:rPr/>
              <a:t>} catch (Exception e) {</a:t>
            </a:r>
            <a:br/>
            <a:r>
              <a:rPr/>
              <a:t>    // gestione</a:t>
            </a:r>
            <a:br/>
            <a:r>
              <a:rPr/>
              <a:t>} finally {</a:t>
            </a:r>
            <a:br/>
            <a:r>
              <a:rPr/>
              <a:t>    // eseguito comunque</a:t>
            </a:r>
            <a:br/>
            <a:r>
              <a:rPr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617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/>
              <a:t>Utile per operazioni di pulizia e rilascio di risorse.</a:t>
            </a:r>
          </a:p>
          <a:p>
            <a:pPr>
              <a:spcAft>
                <a:spcPts val="1000"/>
              </a:spcAft>
              <a:defRPr sz="1700"/>
            </a:pPr>
            <a:r>
              <a:rPr/>
              <a:t>Per molte risorse moderne è preferibile try-with-resources.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throw e throws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10515600" cy="34747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700">
                <a:latin typeface="Consolas"/>
              </a:defRPr>
            </a:pPr>
            <a:r>
              <a:rPr/>
              <a:t>void preleva(double importo) throws SaldoInsufficienteException {</a:t>
            </a:r>
            <a:br/>
            <a:r>
              <a:rPr/>
              <a:t>    if (importo &gt; saldo) {</a:t>
            </a:r>
            <a:br/>
            <a:r>
              <a:rPr/>
              <a:t>        throw new SaldoInsufficienteException("Saldo insufficiente");</a:t>
            </a:r>
            <a:br/>
            <a:r>
              <a:rPr/>
              <a:t>    }</a:t>
            </a:r>
            <a:br/>
            <a:r>
              <a:rPr/>
              <a:t>    saldo -= importo;</a:t>
            </a:r>
            <a:br/>
            <a:r>
              <a:rPr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2120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/>
              <a:t>throw = lancia esplicitamente un'eccezione.</a:t>
            </a:r>
          </a:p>
          <a:p>
            <a:pPr>
              <a:spcAft>
                <a:spcPts val="1000"/>
              </a:spcAft>
              <a:defRPr sz="1600"/>
            </a:pPr>
            <a:r>
              <a:rPr/>
              <a:t>throws = dichiara nella firma che un metodo può propagarla.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Eccezioni comuni di java.lang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/>
              <a:t>ArithmeticException — operazione aritmetica non valida.</a:t>
            </a:r>
          </a:p>
          <a:p>
            <a:pPr>
              <a:spcAft>
                <a:spcPts val="1000"/>
              </a:spcAft>
              <a:defRPr sz="1800"/>
            </a:pPr>
            <a:r>
              <a:rPr/>
              <a:t>ArrayIndexOutOfBoundsException — indice non valido in un array.</a:t>
            </a:r>
          </a:p>
          <a:p>
            <a:pPr>
              <a:spcAft>
                <a:spcPts val="1000"/>
              </a:spcAft>
              <a:defRPr sz="1800"/>
            </a:pPr>
            <a:r>
              <a:rPr/>
              <a:t>NullPointerException — accesso a un riferimento null.</a:t>
            </a:r>
          </a:p>
          <a:p>
            <a:pPr>
              <a:spcAft>
                <a:spcPts val="1000"/>
              </a:spcAft>
              <a:defRPr sz="1800"/>
            </a:pPr>
            <a:r>
              <a:rPr/>
              <a:t>NumberFormatException — conversione numerica non valida.</a:t>
            </a:r>
          </a:p>
          <a:p>
            <a:pPr>
              <a:spcAft>
                <a:spcPts val="1000"/>
              </a:spcAft>
              <a:defRPr sz="1800"/>
            </a:pPr>
            <a:r>
              <a:rPr/>
              <a:t>IllegalArgumentException — argomento non valido.</a:t>
            </a:r>
          </a:p>
          <a:p>
            <a:pPr>
              <a:spcAft>
                <a:spcPts val="1000"/>
              </a:spcAft>
              <a:defRPr sz="1800"/>
            </a:pPr>
            <a:r>
              <a:rPr/>
              <a:t>IllegalStateException — oggetto in uno stato incompatibile.</a:t>
            </a:r>
          </a:p>
          <a:p>
            <a:pPr>
              <a:spcAft>
                <a:spcPts val="1000"/>
              </a:spcAft>
              <a:defRPr sz="1800"/>
            </a:pPr>
            <a:r>
              <a:rPr/>
              <a:t>IndexOutOfBoundsException — indice fuori dai limiti.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Un esempio concreto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1051560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600">
                <a:latin typeface="Consolas"/>
              </a:defRPr>
            </a:pPr>
            <a:r>
              <a:rPr/>
              <a:t>try {</a:t>
            </a:r>
            <a:br/>
            <a:r>
              <a:rPr/>
              <a:t>    int n = Integer.parseInt(scanner.nextLine());</a:t>
            </a:r>
            <a:br/>
            <a:r>
              <a:rPr/>
              <a:t>    System.out.println(100 / n);</a:t>
            </a:r>
            <a:br/>
            <a:r>
              <a:rPr/>
              <a:t>} catch (NumberFormatException e) {</a:t>
            </a:r>
            <a:br/>
            <a:r>
              <a:rPr/>
              <a:t>    System.out.println("Devi inserire un numero.");</a:t>
            </a:r>
            <a:br/>
            <a:r>
              <a:rPr/>
              <a:t>} catch (ArithmeticException e) {</a:t>
            </a:r>
            <a:br/>
            <a:r>
              <a:rPr/>
              <a:t>    System.out.println("Non puoi dividere per zero.");</a:t>
            </a:r>
            <a:br/>
            <a:r>
              <a:rPr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760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rPr/>
              <a:t>Due possibili errori → due strategie di gestione diverse.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Creare un'eccezione personalizzata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1051560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700">
                <a:latin typeface="Consolas"/>
              </a:defRPr>
            </a:pPr>
            <a:r>
              <a:rPr/>
              <a:t>public class SaldoInsufficienteException extends Exception {</a:t>
            </a:r>
            <a:br/>
            <a:r>
              <a:rPr/>
              <a:t>    public SaldoInsufficienteException(String message) {</a:t>
            </a:r>
            <a:br/>
            <a:r>
              <a:rPr/>
              <a:t>        super(message);</a:t>
            </a:r>
            <a:br/>
            <a:r>
              <a:rPr/>
              <a:t>    }</a:t>
            </a:r>
            <a:br/>
            <a:r>
              <a:rPr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9377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/>
              <a:t>Permette di rappresentare una condizione specifica del dominio.</a:t>
            </a:r>
          </a:p>
          <a:p>
            <a:pPr>
              <a:spcAft>
                <a:spcPts val="1000"/>
              </a:spcAft>
              <a:defRPr sz="1600"/>
            </a:pPr>
            <a:r>
              <a:rPr/>
              <a:t>Estendere Exception per una checked exception oppure RuntimeException per una unchecked.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Eccezioni e progettazione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/>
              <a:t>Non usare le eccezioni per controllare il normale flusso del programma.</a:t>
            </a:r>
          </a:p>
          <a:p>
            <a:pPr>
              <a:spcAft>
                <a:spcPts val="1000"/>
              </a:spcAft>
              <a:defRPr sz="1900"/>
            </a:pPr>
            <a:r>
              <a:rPr/>
              <a:t>Validare gli input quando possibile.</a:t>
            </a:r>
          </a:p>
          <a:p>
            <a:pPr>
              <a:spcAft>
                <a:spcPts val="1000"/>
              </a:spcAft>
              <a:defRPr sz="1900"/>
            </a:pPr>
            <a:r>
              <a:rPr/>
              <a:t>Catturare l'eccezione nel punto in cui è possibile gestirla davvero.</a:t>
            </a:r>
          </a:p>
          <a:p>
            <a:pPr>
              <a:spcAft>
                <a:spcPts val="1000"/>
              </a:spcAft>
              <a:defRPr sz="1900"/>
            </a:pPr>
            <a:r>
              <a:rPr/>
              <a:t>Non usare catch vuoti.</a:t>
            </a:r>
          </a:p>
          <a:p>
            <a:pPr>
              <a:spcAft>
                <a:spcPts val="1000"/>
              </a:spcAft>
              <a:defRPr sz="1900"/>
            </a:pPr>
            <a:r>
              <a:rPr/>
              <a:t>Non catturare Exception indiscriminatamente senza una ragione.</a:t>
            </a:r>
          </a:p>
          <a:p>
            <a:pPr>
              <a:spcAft>
                <a:spcPts val="1000"/>
              </a:spcAft>
              <a:defRPr sz="1900"/>
            </a:pPr>
            <a:r>
              <a:rPr/>
              <a:t>Fornire messaggi utili e mantenere il contesto dell'errore.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Try-with-resources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10515600" cy="3749039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600">
                <a:latin typeface="Consolas"/>
              </a:defRPr>
            </a:pPr>
            <a:r>
              <a:rPr/>
              <a:t>try (BufferedReader br =</a:t>
            </a:r>
            <a:br/>
            <a:r>
              <a:rPr/>
              <a:t>        new BufferedReader(new FileReader("dati.txt"))) {</a:t>
            </a:r>
            <a:br/>
            <a:r>
              <a:rPr/>
              <a:t>    String riga = br.readLine();</a:t>
            </a:r>
            <a:br/>
            <a:r>
              <a:rPr/>
              <a:t>} catch (IOException e) {</a:t>
            </a:r>
            <a:br/>
            <a:r>
              <a:rPr/>
              <a:t>    System.out.println("Errore nella lettura del file.");</a:t>
            </a:r>
            <a:br/>
            <a:r>
              <a:rPr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492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/>
              <a:t>Le risorse AutoCloseable vengono chiuse automaticamente.</a:t>
            </a:r>
          </a:p>
          <a:p>
            <a:pPr>
              <a:spcAft>
                <a:spcPts val="1000"/>
              </a:spcAft>
              <a:defRPr sz="1600"/>
            </a:pPr>
            <a:r>
              <a:rPr/>
              <a:t>È spesso preferibile al classico try/finally per file e risorse simili.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In sintesi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/>
              <a:t>try → individua il codice che può fallire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catch → gestisce una specifica eccezione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finally → esegue operazioni finali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throw → lancia un'eccezione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throws → dichiara un'eccezione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Eccezioni personalizzate → rappresentano condizioni specifiche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Una buona gestione rende il software più robusto e comprensibile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Esercizio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/>
              <a:t>Mettiamo in pratica le eccezioni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/>
              <a:t>Realizzare un programma che chieda una serie di numeri.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Gestire gli inserimenti non numerici.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Gestire la divisione per zero.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Creare almeno un'eccezione personalizzata.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Utilizzare try/catch e, dove opportuno, throw e throws.</a:t>
            </a:r>
          </a:p>
          <a:p>
            <a:pPr>
              <a:spcAft>
                <a:spcPts val="1000"/>
              </a:spcAft>
              <a:defRPr sz="2000"/>
            </a:pPr>
            <a:r>
              <a:rPr/>
              <a:t>Il programma non deve terminare in modo anomalo a causa di un input errato.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