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9.xml.rels" ContentType="application/vnd.openxmlformats-package.relationships+xml"/>
  <Override PartName="/ppt/slides/_rels/slide2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fld id="{3518C52E-C8DB-4D58-8C65-5A0D51C1A45B}" type="datetime">
              <a:rPr b="0" lang="it-IT" sz="1200" spc="-1" strike="noStrike">
                <a:solidFill>
                  <a:srgbClr val="8b8b8b"/>
                </a:solidFill>
                <a:latin typeface="Calibri"/>
              </a:rPr>
              <a:t>07/09/26</a:t>
            </a:fld>
            <a:endParaRPr b="0" lang="it-IT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p>
            <a:endParaRPr b="0" lang="it-IT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72520904-C0E8-4EEA-80B1-764C37AF95E3}" type="slidenum">
              <a:rPr b="0" lang="it-IT" sz="1200" spc="-1" strike="noStrike">
                <a:solidFill>
                  <a:srgbClr val="8b8b8b"/>
                </a:solidFill>
                <a:latin typeface="Calibri"/>
              </a:rPr>
              <a:t>&lt;numero&gt;</a:t>
            </a:fld>
            <a:endParaRPr b="0" lang="it-IT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l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p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m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d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l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r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m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d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l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d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l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l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o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Fai clic per modificare il formato del testo della struttura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Secondo livello struttura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Terzo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Quarto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Quinto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Sesto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Settimo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Facade Pattern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621720" y="987480"/>
            <a:ext cx="1078956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it-IT" sz="1500" spc="-1" strike="noStrike">
                <a:solidFill>
                  <a:srgbClr val="141414"/>
                </a:solidFill>
                <a:latin typeface="Aptos"/>
              </a:rPr>
              <a:t>Capire il pattern attraverso due esempi Java: prenotazione vacanze e guida di un'automobile</a:t>
            </a:r>
            <a:endParaRPr b="0" lang="it-IT" sz="1500" spc="-1" strike="noStrike">
              <a:latin typeface="Arial"/>
            </a:endParaRPr>
          </a:p>
        </p:txBody>
      </p:sp>
      <p:sp>
        <p:nvSpPr>
          <p:cNvPr id="43" name="CustomShape 3"/>
          <p:cNvSpPr/>
          <p:nvPr/>
        </p:nvSpPr>
        <p:spPr>
          <a:xfrm>
            <a:off x="822960" y="1645920"/>
            <a:ext cx="10515240" cy="1872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300" spc="-1" strike="noStrike">
                <a:solidFill>
                  <a:srgbClr val="141414"/>
                </a:solidFill>
                <a:latin typeface="Aptos"/>
              </a:rPr>
              <a:t>Problema: un client deve coordinare molte classi di un sottosistema.</a:t>
            </a:r>
            <a:endParaRPr b="0" lang="it-IT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300" spc="-1" strike="noStrike">
                <a:solidFill>
                  <a:srgbClr val="141414"/>
                </a:solidFill>
                <a:latin typeface="Aptos"/>
              </a:rPr>
              <a:t>Idea: introdurre un unico punto di accesso semplice.</a:t>
            </a:r>
            <a:endParaRPr b="0" lang="it-IT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300" spc="-1" strike="noStrike">
                <a:solidFill>
                  <a:srgbClr val="141414"/>
                </a:solidFill>
                <a:latin typeface="Aptos"/>
              </a:rPr>
              <a:t>La Facade nasconde al client i dettagli delle operazioni interne.</a:t>
            </a:r>
            <a:endParaRPr b="0" lang="it-IT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300" spc="-1" strike="noStrike">
                <a:solidFill>
                  <a:srgbClr val="141414"/>
                </a:solidFill>
                <a:latin typeface="Aptos"/>
              </a:rPr>
              <a:t>Vedremo prima il problema e poi la soluzione.</a:t>
            </a:r>
            <a:endParaRPr b="0" lang="it-IT" sz="23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Il problema: troppa complessità nel client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45" name="CustomShape 2"/>
          <p:cNvSpPr/>
          <p:nvPr/>
        </p:nvSpPr>
        <p:spPr>
          <a:xfrm>
            <a:off x="822960" y="1508760"/>
            <a:ext cx="10515240" cy="1812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200" spc="-1" strike="noStrike">
                <a:solidFill>
                  <a:srgbClr val="141414"/>
                </a:solidFill>
                <a:latin typeface="Aptos"/>
              </a:rPr>
              <a:t>Un sottosistema può essere composto da molte classi specializzate.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200" spc="-1" strike="noStrike">
                <a:solidFill>
                  <a:srgbClr val="141414"/>
                </a:solidFill>
                <a:latin typeface="Aptos"/>
              </a:rPr>
              <a:t>Il client deve conoscere quali oggetti creare e in quale ordine usarli.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200" spc="-1" strike="noStrike">
                <a:solidFill>
                  <a:srgbClr val="141414"/>
                </a:solidFill>
                <a:latin typeface="Aptos"/>
              </a:rPr>
              <a:t>Ogni nuova complessità del sottosistema si riflette nel client.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200" spc="-1" strike="noStrike">
                <a:solidFill>
                  <a:srgbClr val="141414"/>
                </a:solidFill>
                <a:latin typeface="Aptos"/>
              </a:rPr>
              <a:t>Il codice applicativo diventa più difficile da leggere e mantenere.</a:t>
            </a:r>
            <a:endParaRPr b="0" lang="it-IT" sz="2200" spc="-1" strike="noStrike">
              <a:latin typeface="Arial"/>
            </a:endParaRPr>
          </a:p>
        </p:txBody>
      </p:sp>
      <p:sp>
        <p:nvSpPr>
          <p:cNvPr id="46" name="CustomShape 3"/>
          <p:cNvSpPr/>
          <p:nvPr/>
        </p:nvSpPr>
        <p:spPr>
          <a:xfrm>
            <a:off x="4972680" y="5493960"/>
            <a:ext cx="2011320" cy="914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700" spc="-1" strike="noStrike">
                <a:solidFill>
                  <a:srgbClr val="141414"/>
                </a:solidFill>
                <a:latin typeface="Aptos"/>
              </a:rPr>
              <a:t>CLIENT</a:t>
            </a:r>
            <a:endParaRPr b="0" lang="it-IT" sz="1700" spc="-1" strike="noStrike">
              <a:latin typeface="Arial"/>
            </a:endParaRPr>
          </a:p>
        </p:txBody>
      </p:sp>
      <p:sp>
        <p:nvSpPr>
          <p:cNvPr id="47" name="CustomShape 4"/>
          <p:cNvSpPr/>
          <p:nvPr/>
        </p:nvSpPr>
        <p:spPr>
          <a:xfrm>
            <a:off x="685800" y="3600000"/>
            <a:ext cx="2194200" cy="914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700" spc="-1" strike="noStrike">
                <a:solidFill>
                  <a:srgbClr val="141414"/>
                </a:solidFill>
                <a:latin typeface="Aptos"/>
              </a:rPr>
              <a:t>Flight</a:t>
            </a:r>
            <a:endParaRPr b="0" lang="it-IT" sz="1700" spc="-1" strike="noStrike">
              <a:latin typeface="Arial"/>
            </a:endParaRPr>
          </a:p>
        </p:txBody>
      </p:sp>
      <p:sp>
        <p:nvSpPr>
          <p:cNvPr id="48" name="Line 5"/>
          <p:cNvSpPr/>
          <p:nvPr/>
        </p:nvSpPr>
        <p:spPr>
          <a:xfrm flipH="1" flipV="1">
            <a:off x="2154960" y="4165560"/>
            <a:ext cx="4069080" cy="1234440"/>
          </a:xfrm>
          <a:prstGeom prst="line">
            <a:avLst/>
          </a:prstGeom>
          <a:ln>
            <a:solidFill>
              <a:srgbClr val="3c3c3c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9" name="CustomShape 6"/>
          <p:cNvSpPr/>
          <p:nvPr/>
        </p:nvSpPr>
        <p:spPr>
          <a:xfrm>
            <a:off x="4752000" y="3477960"/>
            <a:ext cx="2194200" cy="914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700" spc="-1" strike="noStrike">
                <a:solidFill>
                  <a:srgbClr val="141414"/>
                </a:solidFill>
                <a:latin typeface="Aptos"/>
              </a:rPr>
              <a:t>Hotel</a:t>
            </a:r>
            <a:endParaRPr b="0" lang="it-IT" sz="1700" spc="-1" strike="noStrike">
              <a:latin typeface="Arial"/>
            </a:endParaRPr>
          </a:p>
        </p:txBody>
      </p:sp>
      <p:sp>
        <p:nvSpPr>
          <p:cNvPr id="50" name="Line 7"/>
          <p:cNvSpPr/>
          <p:nvPr/>
        </p:nvSpPr>
        <p:spPr>
          <a:xfrm flipH="1" flipV="1">
            <a:off x="5904000" y="4206240"/>
            <a:ext cx="320040" cy="1234440"/>
          </a:xfrm>
          <a:prstGeom prst="line">
            <a:avLst/>
          </a:prstGeom>
          <a:ln>
            <a:solidFill>
              <a:srgbClr val="3c3c3c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1" name="CustomShape 8"/>
          <p:cNvSpPr/>
          <p:nvPr/>
        </p:nvSpPr>
        <p:spPr>
          <a:xfrm>
            <a:off x="9288000" y="3549960"/>
            <a:ext cx="2194200" cy="914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700" spc="-1" strike="noStrike">
                <a:solidFill>
                  <a:srgbClr val="141414"/>
                </a:solidFill>
                <a:latin typeface="Aptos"/>
              </a:rPr>
              <a:t>CarRental</a:t>
            </a:r>
            <a:endParaRPr b="0" lang="it-IT" sz="1700" spc="-1" strike="noStrike">
              <a:latin typeface="Arial"/>
            </a:endParaRPr>
          </a:p>
        </p:txBody>
      </p:sp>
      <p:sp>
        <p:nvSpPr>
          <p:cNvPr id="52" name="Line 9"/>
          <p:cNvSpPr/>
          <p:nvPr/>
        </p:nvSpPr>
        <p:spPr>
          <a:xfrm flipV="1">
            <a:off x="6219360" y="4206240"/>
            <a:ext cx="3428640" cy="1234440"/>
          </a:xfrm>
          <a:prstGeom prst="line">
            <a:avLst/>
          </a:prstGeom>
          <a:ln>
            <a:solidFill>
              <a:srgbClr val="3c3c3c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Prima della Facade: VacationClient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54" name="CustomShape 2"/>
          <p:cNvSpPr/>
          <p:nvPr/>
        </p:nvSpPr>
        <p:spPr>
          <a:xfrm>
            <a:off x="777240" y="1417320"/>
            <a:ext cx="10698120" cy="47088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600"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" name="CustomShape 3"/>
          <p:cNvSpPr/>
          <p:nvPr/>
        </p:nvSpPr>
        <p:spPr>
          <a:xfrm>
            <a:off x="3349440" y="1563480"/>
            <a:ext cx="5553360" cy="282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LocalDate startDate = LocalDate.of(2021, 8, 1);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LocalDate endDate = LocalDate.of(2021, 8, 15);</a:t>
            </a:r>
            <a:br/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Flight flight = new Flight();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flight.bookOutwardJourney(startDate);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flight.bookReturnJourney(endDate);</a:t>
            </a:r>
            <a:br/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Hotel hotel = new Hotel();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hotel.book(startDate, endDate);</a:t>
            </a:r>
            <a:br/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CarRental carRental = new CarRental();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carRental.book(startDate, endDate);</a:t>
            </a:r>
            <a:endParaRPr b="0" lang="it-IT" sz="1500" spc="-1" strike="noStrike"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Che cosa deve sapere il client?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57" name="CustomShape 2"/>
          <p:cNvSpPr/>
          <p:nvPr/>
        </p:nvSpPr>
        <p:spPr>
          <a:xfrm>
            <a:off x="822960" y="1508760"/>
            <a:ext cx="10515240" cy="2123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Per il volo: creare Flight e chiamare due metodi distinti.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Per l'hotel: creare Hotel e passare le date.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Per l'auto: creare CarRental e passare le date.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Il client conosce quindi dettagli che appartengono al sottosistema.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La sequenza completa della prenotazione è sparsa nel codice del client.</a:t>
            </a:r>
            <a:endParaRPr b="0" lang="it-IT" sz="2000" spc="-1" strike="noStrike"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La soluzione: una Facade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59" name="CustomShape 2"/>
          <p:cNvSpPr/>
          <p:nvPr/>
        </p:nvSpPr>
        <p:spPr>
          <a:xfrm>
            <a:off x="822960" y="1417320"/>
            <a:ext cx="10515240" cy="175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Creiamo VacationFacade.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La Facade espone un metodo semplice: book(startDate, endDate).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Al suo interno coordina Flight, Hotel e CarRental.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Il client non deve più conoscere la sequenza delle operazioni.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60" name="CustomShape 3"/>
          <p:cNvSpPr/>
          <p:nvPr/>
        </p:nvSpPr>
        <p:spPr>
          <a:xfrm>
            <a:off x="1055520" y="4498200"/>
            <a:ext cx="2285640" cy="914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700" spc="-1" strike="noStrike">
                <a:solidFill>
                  <a:srgbClr val="141414"/>
                </a:solidFill>
                <a:latin typeface="Aptos"/>
              </a:rPr>
              <a:t>VacationClient</a:t>
            </a:r>
            <a:endParaRPr b="0" lang="it-IT" sz="1700" spc="-1" strike="noStrike">
              <a:latin typeface="Arial"/>
            </a:endParaRPr>
          </a:p>
        </p:txBody>
      </p:sp>
      <p:sp>
        <p:nvSpPr>
          <p:cNvPr id="61" name="CustomShape 4"/>
          <p:cNvSpPr/>
          <p:nvPr/>
        </p:nvSpPr>
        <p:spPr>
          <a:xfrm>
            <a:off x="5170320" y="4498200"/>
            <a:ext cx="2468520" cy="914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700" spc="-1" strike="noStrike">
                <a:solidFill>
                  <a:srgbClr val="141414"/>
                </a:solidFill>
                <a:latin typeface="Aptos"/>
              </a:rPr>
              <a:t>VacationFacade</a:t>
            </a:r>
            <a:endParaRPr b="0" lang="it-IT" sz="1700" spc="-1" strike="noStrike">
              <a:latin typeface="Arial"/>
            </a:endParaRPr>
          </a:p>
        </p:txBody>
      </p:sp>
      <p:sp>
        <p:nvSpPr>
          <p:cNvPr id="62" name="CustomShape 5"/>
          <p:cNvSpPr/>
          <p:nvPr/>
        </p:nvSpPr>
        <p:spPr>
          <a:xfrm>
            <a:off x="9223560" y="2939400"/>
            <a:ext cx="1828440" cy="73116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500" spc="-1" strike="noStrike">
                <a:solidFill>
                  <a:srgbClr val="141414"/>
                </a:solidFill>
                <a:latin typeface="Aptos"/>
              </a:rPr>
              <a:t>Flight</a:t>
            </a:r>
            <a:endParaRPr b="0" lang="it-IT" sz="1500" spc="-1" strike="noStrike">
              <a:latin typeface="Arial"/>
            </a:endParaRPr>
          </a:p>
        </p:txBody>
      </p:sp>
      <p:sp>
        <p:nvSpPr>
          <p:cNvPr id="63" name="CustomShape 6"/>
          <p:cNvSpPr/>
          <p:nvPr/>
        </p:nvSpPr>
        <p:spPr>
          <a:xfrm>
            <a:off x="9223560" y="4128120"/>
            <a:ext cx="1828440" cy="73116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500" spc="-1" strike="noStrike">
                <a:solidFill>
                  <a:srgbClr val="141414"/>
                </a:solidFill>
                <a:latin typeface="Aptos"/>
              </a:rPr>
              <a:t>Hotel</a:t>
            </a:r>
            <a:endParaRPr b="0" lang="it-IT" sz="1500" spc="-1" strike="noStrike">
              <a:latin typeface="Arial"/>
            </a:endParaRPr>
          </a:p>
        </p:txBody>
      </p:sp>
      <p:sp>
        <p:nvSpPr>
          <p:cNvPr id="64" name="CustomShape 7"/>
          <p:cNvSpPr/>
          <p:nvPr/>
        </p:nvSpPr>
        <p:spPr>
          <a:xfrm>
            <a:off x="9223560" y="5316840"/>
            <a:ext cx="1828440" cy="73116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500" spc="-1" strike="noStrike">
                <a:solidFill>
                  <a:srgbClr val="141414"/>
                </a:solidFill>
                <a:latin typeface="Aptos"/>
              </a:rPr>
              <a:t>CarRental</a:t>
            </a:r>
            <a:endParaRPr b="0" lang="it-IT" sz="1500" spc="-1" strike="noStrike">
              <a:latin typeface="Arial"/>
            </a:endParaRPr>
          </a:p>
        </p:txBody>
      </p:sp>
      <p:sp>
        <p:nvSpPr>
          <p:cNvPr id="65" name="Line 8"/>
          <p:cNvSpPr/>
          <p:nvPr/>
        </p:nvSpPr>
        <p:spPr>
          <a:xfrm>
            <a:off x="3341520" y="4955400"/>
            <a:ext cx="1783080" cy="360"/>
          </a:xfrm>
          <a:prstGeom prst="line">
            <a:avLst/>
          </a:prstGeom>
          <a:ln>
            <a:solidFill>
              <a:srgbClr val="3c3c3c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6" name="Line 9"/>
          <p:cNvSpPr/>
          <p:nvPr/>
        </p:nvSpPr>
        <p:spPr>
          <a:xfrm flipV="1">
            <a:off x="7684920" y="3263760"/>
            <a:ext cx="1463040" cy="1508760"/>
          </a:xfrm>
          <a:prstGeom prst="line">
            <a:avLst/>
          </a:prstGeom>
          <a:ln>
            <a:solidFill>
              <a:srgbClr val="3c3c3c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7" name="Line 10"/>
          <p:cNvSpPr/>
          <p:nvPr/>
        </p:nvSpPr>
        <p:spPr>
          <a:xfrm flipV="1">
            <a:off x="7684920" y="4452480"/>
            <a:ext cx="1463040" cy="502920"/>
          </a:xfrm>
          <a:prstGeom prst="line">
            <a:avLst/>
          </a:prstGeom>
          <a:ln>
            <a:solidFill>
              <a:srgbClr val="3c3c3c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8" name="Line 11"/>
          <p:cNvSpPr/>
          <p:nvPr/>
        </p:nvSpPr>
        <p:spPr>
          <a:xfrm>
            <a:off x="7684920" y="5138280"/>
            <a:ext cx="1463040" cy="502920"/>
          </a:xfrm>
          <a:prstGeom prst="line">
            <a:avLst/>
          </a:prstGeom>
          <a:ln>
            <a:solidFill>
              <a:srgbClr val="3c3c3c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VacationFacade: il cuore della soluzione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70" name="CustomShape 2"/>
          <p:cNvSpPr/>
          <p:nvPr/>
        </p:nvSpPr>
        <p:spPr>
          <a:xfrm>
            <a:off x="777240" y="1280160"/>
            <a:ext cx="10698120" cy="507456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600"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1" name="CustomShape 3"/>
          <p:cNvSpPr/>
          <p:nvPr/>
        </p:nvSpPr>
        <p:spPr>
          <a:xfrm>
            <a:off x="2835360" y="1426320"/>
            <a:ext cx="6581880" cy="307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public class VacationFacade {</a:t>
            </a:r>
            <a:br/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  public void book(LocalDate startDate, LocalDate endDate) {</a:t>
            </a:r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    Flight flight = new Flight();</a:t>
            </a:r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    flight.bookOutwardJourney(startDate);</a:t>
            </a:r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    flight.bookReturnJourney(endDate);</a:t>
            </a:r>
            <a:br/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    Hotel hotel = new Hotel();</a:t>
            </a:r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    hotel.book(startDate, endDate);</a:t>
            </a:r>
            <a:br/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    CarRental carRental = new CarRental();</a:t>
            </a:r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    carRental.book(startDate, endDate);</a:t>
            </a:r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  }</a:t>
            </a:r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}</a:t>
            </a:r>
            <a:endParaRPr b="0" lang="it-IT" sz="1400" spc="-1" strike="noStrike">
              <a:latin typeface="Arial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Dopo la Facade: il client diventa semplice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73" name="CustomShape 2"/>
          <p:cNvSpPr/>
          <p:nvPr/>
        </p:nvSpPr>
        <p:spPr>
          <a:xfrm>
            <a:off x="777240" y="1417320"/>
            <a:ext cx="10698120" cy="466308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600"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" name="CustomShape 3"/>
          <p:cNvSpPr/>
          <p:nvPr/>
        </p:nvSpPr>
        <p:spPr>
          <a:xfrm>
            <a:off x="2778120" y="1563480"/>
            <a:ext cx="6696360" cy="237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public class VacationPackage {</a:t>
            </a:r>
            <a:br/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public static void main(String[] args) {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  LocalDate startDate = LocalDate.of(2021, 8, 1);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  LocalDate endDate = LocalDate.of(2021, 8, 15);</a:t>
            </a:r>
            <a:br/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  VacationFacade vacationFacade = new VacationFacade();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  vacationFacade.book(startDate, endDate);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}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}</a:t>
            </a:r>
            <a:endParaRPr b="0" lang="it-IT" sz="1500" spc="-1" strike="noStrike"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Confronto: prima e dopo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76" name="CustomShape 2"/>
          <p:cNvSpPr/>
          <p:nvPr/>
        </p:nvSpPr>
        <p:spPr>
          <a:xfrm>
            <a:off x="822960" y="1417320"/>
            <a:ext cx="10515240" cy="175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PRIMA → il client coordina direttamente tutte le classi.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DOPO → il client conosce una sola classe: VacationFacade.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La complessità non scompare: viene concentrata nella Facade.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Il vantaggio è separare l'interfaccia semplice dalla complessità interna.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77" name="CustomShape 3"/>
          <p:cNvSpPr/>
          <p:nvPr/>
        </p:nvSpPr>
        <p:spPr>
          <a:xfrm>
            <a:off x="914400" y="3657600"/>
            <a:ext cx="3657240" cy="13255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PRIMA</a:t>
            </a:r>
            <a:br/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Client → Flight</a:t>
            </a:r>
            <a:br/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       → Hotel</a:t>
            </a:r>
            <a:br/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       → CarRental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78" name="CustomShape 4"/>
          <p:cNvSpPr/>
          <p:nvPr/>
        </p:nvSpPr>
        <p:spPr>
          <a:xfrm>
            <a:off x="6400800" y="3657600"/>
            <a:ext cx="4114440" cy="13255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DOPO</a:t>
            </a:r>
            <a:br/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Client → Facade → sottosistemi</a:t>
            </a:r>
            <a:endParaRPr b="0" lang="it-IT" sz="1600" spc="-1" strike="noStrike">
              <a:latin typeface="Arial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Un secondo esempio: guidare un'automobile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80" name="CustomShape 2"/>
          <p:cNvSpPr/>
          <p:nvPr/>
        </p:nvSpPr>
        <p:spPr>
          <a:xfrm>
            <a:off x="822960" y="1371600"/>
            <a:ext cx="10515240" cy="1996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Il progetto contiene diversi componenti: Ignition, Clutch, GearStick, Accelerator e Handbrake.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Guidare l'auto richiede una sequenza di operazioni.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Senza Facade, il client deve conoscere e coordinare tutti i componenti.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La soluzione consiste nell'introdurre CarFacade con un metodo drive().</a:t>
            </a:r>
            <a:endParaRPr b="0" lang="it-IT" sz="2000" spc="-1" strike="noStrike">
              <a:latin typeface="Arial"/>
            </a:endParaRPr>
          </a:p>
        </p:txBody>
      </p:sp>
      <p:sp>
        <p:nvSpPr>
          <p:cNvPr id="81" name="CustomShape 3"/>
          <p:cNvSpPr/>
          <p:nvPr/>
        </p:nvSpPr>
        <p:spPr>
          <a:xfrm>
            <a:off x="5074920" y="5597640"/>
            <a:ext cx="2011320" cy="914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700" spc="-1" strike="noStrike">
                <a:solidFill>
                  <a:srgbClr val="141414"/>
                </a:solidFill>
                <a:latin typeface="Aptos"/>
              </a:rPr>
              <a:t>Car</a:t>
            </a:r>
            <a:endParaRPr b="0" lang="it-IT" sz="1700" spc="-1" strike="noStrike">
              <a:latin typeface="Arial"/>
            </a:endParaRPr>
          </a:p>
        </p:txBody>
      </p:sp>
      <p:sp>
        <p:nvSpPr>
          <p:cNvPr id="82" name="CustomShape 4"/>
          <p:cNvSpPr/>
          <p:nvPr/>
        </p:nvSpPr>
        <p:spPr>
          <a:xfrm>
            <a:off x="457200" y="3631680"/>
            <a:ext cx="1919880" cy="6854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400" spc="-1" strike="noStrike">
                <a:solidFill>
                  <a:srgbClr val="141414"/>
                </a:solidFill>
                <a:latin typeface="Aptos"/>
              </a:rPr>
              <a:t>Ignition</a:t>
            </a:r>
            <a:endParaRPr b="0" lang="it-IT" sz="1400" spc="-1" strike="noStrike">
              <a:latin typeface="Arial"/>
            </a:endParaRPr>
          </a:p>
        </p:txBody>
      </p:sp>
      <p:sp>
        <p:nvSpPr>
          <p:cNvPr id="83" name="Line 5"/>
          <p:cNvSpPr/>
          <p:nvPr/>
        </p:nvSpPr>
        <p:spPr>
          <a:xfrm flipH="1" flipV="1">
            <a:off x="1417320" y="4363200"/>
            <a:ext cx="4663440" cy="1234080"/>
          </a:xfrm>
          <a:prstGeom prst="line">
            <a:avLst/>
          </a:prstGeom>
          <a:ln>
            <a:solidFill>
              <a:srgbClr val="3c3c3c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4" name="CustomShape 6"/>
          <p:cNvSpPr/>
          <p:nvPr/>
        </p:nvSpPr>
        <p:spPr>
          <a:xfrm>
            <a:off x="2788920" y="3631680"/>
            <a:ext cx="1919880" cy="6854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400" spc="-1" strike="noStrike">
                <a:solidFill>
                  <a:srgbClr val="141414"/>
                </a:solidFill>
                <a:latin typeface="Aptos"/>
              </a:rPr>
              <a:t>Clutch</a:t>
            </a:r>
            <a:endParaRPr b="0" lang="it-IT" sz="1400" spc="-1" strike="noStrike">
              <a:latin typeface="Arial"/>
            </a:endParaRPr>
          </a:p>
        </p:txBody>
      </p:sp>
      <p:sp>
        <p:nvSpPr>
          <p:cNvPr id="85" name="Line 7"/>
          <p:cNvSpPr/>
          <p:nvPr/>
        </p:nvSpPr>
        <p:spPr>
          <a:xfrm flipH="1" flipV="1">
            <a:off x="3748680" y="4363200"/>
            <a:ext cx="2332080" cy="1234080"/>
          </a:xfrm>
          <a:prstGeom prst="line">
            <a:avLst/>
          </a:prstGeom>
          <a:ln>
            <a:solidFill>
              <a:srgbClr val="3c3c3c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6" name="CustomShape 8"/>
          <p:cNvSpPr/>
          <p:nvPr/>
        </p:nvSpPr>
        <p:spPr>
          <a:xfrm>
            <a:off x="5120640" y="3631680"/>
            <a:ext cx="1919880" cy="6854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400" spc="-1" strike="noStrike">
                <a:solidFill>
                  <a:srgbClr val="141414"/>
                </a:solidFill>
                <a:latin typeface="Aptos"/>
              </a:rPr>
              <a:t>GearStick</a:t>
            </a:r>
            <a:endParaRPr b="0" lang="it-IT" sz="1400" spc="-1" strike="noStrike">
              <a:latin typeface="Arial"/>
            </a:endParaRPr>
          </a:p>
        </p:txBody>
      </p:sp>
      <p:sp>
        <p:nvSpPr>
          <p:cNvPr id="87" name="Line 9"/>
          <p:cNvSpPr/>
          <p:nvPr/>
        </p:nvSpPr>
        <p:spPr>
          <a:xfrm flipH="1" flipV="1">
            <a:off x="6080400" y="4363200"/>
            <a:ext cx="360" cy="1234080"/>
          </a:xfrm>
          <a:prstGeom prst="line">
            <a:avLst/>
          </a:prstGeom>
          <a:ln>
            <a:solidFill>
              <a:srgbClr val="3c3c3c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8" name="CustomShape 10"/>
          <p:cNvSpPr/>
          <p:nvPr/>
        </p:nvSpPr>
        <p:spPr>
          <a:xfrm>
            <a:off x="7452360" y="3631680"/>
            <a:ext cx="1919880" cy="6854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400" spc="-1" strike="noStrike">
                <a:solidFill>
                  <a:srgbClr val="141414"/>
                </a:solidFill>
                <a:latin typeface="Aptos"/>
              </a:rPr>
              <a:t>Accelerator</a:t>
            </a:r>
            <a:endParaRPr b="0" lang="it-IT" sz="1400" spc="-1" strike="noStrike">
              <a:latin typeface="Arial"/>
            </a:endParaRPr>
          </a:p>
        </p:txBody>
      </p:sp>
      <p:sp>
        <p:nvSpPr>
          <p:cNvPr id="89" name="Line 11"/>
          <p:cNvSpPr/>
          <p:nvPr/>
        </p:nvSpPr>
        <p:spPr>
          <a:xfrm flipV="1">
            <a:off x="6080760" y="4363200"/>
            <a:ext cx="2331720" cy="1234080"/>
          </a:xfrm>
          <a:prstGeom prst="line">
            <a:avLst/>
          </a:prstGeom>
          <a:ln>
            <a:solidFill>
              <a:srgbClr val="3c3c3c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0" name="CustomShape 12"/>
          <p:cNvSpPr/>
          <p:nvPr/>
        </p:nvSpPr>
        <p:spPr>
          <a:xfrm>
            <a:off x="9784080" y="3631680"/>
            <a:ext cx="1919880" cy="6854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400" spc="-1" strike="noStrike">
                <a:solidFill>
                  <a:srgbClr val="141414"/>
                </a:solidFill>
                <a:latin typeface="Aptos"/>
              </a:rPr>
              <a:t>Handbrake</a:t>
            </a:r>
            <a:endParaRPr b="0" lang="it-IT" sz="1400" spc="-1" strike="noStrike">
              <a:latin typeface="Arial"/>
            </a:endParaRPr>
          </a:p>
        </p:txBody>
      </p:sp>
      <p:sp>
        <p:nvSpPr>
          <p:cNvPr id="91" name="Line 13"/>
          <p:cNvSpPr/>
          <p:nvPr/>
        </p:nvSpPr>
        <p:spPr>
          <a:xfrm flipV="1">
            <a:off x="6080760" y="4363200"/>
            <a:ext cx="4663440" cy="1234080"/>
          </a:xfrm>
          <a:prstGeom prst="line">
            <a:avLst/>
          </a:prstGeom>
          <a:ln>
            <a:solidFill>
              <a:srgbClr val="3c3c3c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</p:spTree>
  </p:cSld>
  <p:timing>
    <p:tnLst>
      <p:par>
        <p:cTn id="17" dur="indefinite" restart="never" nodeType="tmRoot">
          <p:childTnLst>
            <p:seq>
              <p:cTn id="1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594360" y="347400"/>
            <a:ext cx="10972440" cy="100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Senza Facade: il client guida direttamente i componenti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93" name="CustomShape 2"/>
          <p:cNvSpPr/>
          <p:nvPr/>
        </p:nvSpPr>
        <p:spPr>
          <a:xfrm>
            <a:off x="777240" y="1280160"/>
            <a:ext cx="10698120" cy="507456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600"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4" name="CustomShape 3"/>
          <p:cNvSpPr/>
          <p:nvPr/>
        </p:nvSpPr>
        <p:spPr>
          <a:xfrm>
            <a:off x="3688560" y="1426320"/>
            <a:ext cx="4875120" cy="307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Ignition ignition = new Ignition();</a:t>
            </a:r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Clutch clutch = new Clutch();</a:t>
            </a:r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Accelerator accelerator = new Accelerator();</a:t>
            </a:r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GearStick gearStick = new GearStick();</a:t>
            </a:r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Handbrake handbrake = new Handbrake();</a:t>
            </a:r>
            <a:br/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ignition.turnOn();</a:t>
            </a:r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clutch.press();</a:t>
            </a:r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gearStick.changeGear(1);</a:t>
            </a:r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accelerator.press();</a:t>
            </a:r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clutch.lift();</a:t>
            </a:r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handbrake.pushDown();</a:t>
            </a:r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accelerator.press();</a:t>
            </a:r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clutch.press();</a:t>
            </a:r>
            <a:endParaRPr b="0" lang="it-IT" sz="1400" spc="-1" strike="noStrike">
              <a:latin typeface="Arial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CarFacade: nascondere la sequenza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96" name="CustomShape 2"/>
          <p:cNvSpPr/>
          <p:nvPr/>
        </p:nvSpPr>
        <p:spPr>
          <a:xfrm>
            <a:off x="777240" y="1234440"/>
            <a:ext cx="10698120" cy="51660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600"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7" name="CustomShape 3"/>
          <p:cNvSpPr/>
          <p:nvPr/>
        </p:nvSpPr>
        <p:spPr>
          <a:xfrm>
            <a:off x="3585240" y="1380600"/>
            <a:ext cx="5082120" cy="3996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public class CarFacade {</a:t>
            </a:r>
            <a:br/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public void drive() {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  Ignition ignition = new Ignition();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  Clutch clutch = new Clutch();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  Accelerator accelerator = new Accelerator();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  GearStick gearStick = new GearStick();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  Handbrake handbrake = new Handbrake();</a:t>
            </a:r>
            <a:br/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  ignition.turnOn();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  clutch.press();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  gearStick.changeGear(1);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  accelerator.press();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  clutch.lift();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  handbrake.pushDown();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  accelerator.press();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  clutch.press();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}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}</a:t>
            </a:r>
            <a:endParaRPr b="0" lang="it-IT" sz="1350" spc="-1" strike="noStrike">
              <a:latin typeface="Arial"/>
            </a:endParaRPr>
          </a:p>
        </p:txBody>
      </p:sp>
    </p:spTree>
  </p:cSld>
  <p:timing>
    <p:tnLst>
      <p:par>
        <p:cTn id="21" dur="indefinite" restart="never" nodeType="tmRoot">
          <p:childTnLst>
            <p:seq>
              <p:cTn id="2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Il nuovo client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99" name="CustomShape 2"/>
          <p:cNvSpPr/>
          <p:nvPr/>
        </p:nvSpPr>
        <p:spPr>
          <a:xfrm>
            <a:off x="777240" y="1508760"/>
            <a:ext cx="10698120" cy="27428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600"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0" name="CustomShape 3"/>
          <p:cNvSpPr/>
          <p:nvPr/>
        </p:nvSpPr>
        <p:spPr>
          <a:xfrm>
            <a:off x="3315240" y="1654920"/>
            <a:ext cx="5621760" cy="190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public class Car {</a:t>
            </a:r>
            <a:br/>
            <a:br/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  public static void main(String[] args) {</a:t>
            </a:r>
            <a:br/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    CarFacade carFacade = new CarFacade();</a:t>
            </a:r>
            <a:br/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    carFacade.drive();</a:t>
            </a:r>
            <a:br/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  }</a:t>
            </a:r>
            <a:br/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}</a:t>
            </a:r>
            <a:endParaRPr b="0" lang="it-IT" sz="1700" spc="-1" strike="noStrike">
              <a:latin typeface="Arial"/>
            </a:endParaRPr>
          </a:p>
        </p:txBody>
      </p:sp>
      <p:sp>
        <p:nvSpPr>
          <p:cNvPr id="101" name="CustomShape 4"/>
          <p:cNvSpPr/>
          <p:nvPr/>
        </p:nvSpPr>
        <p:spPr>
          <a:xfrm>
            <a:off x="822960" y="4480560"/>
            <a:ext cx="10515240" cy="76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141414"/>
                </a:solidFill>
                <a:latin typeface="Aptos"/>
              </a:rPr>
              <a:t>Il client non conosce più Ignition, Clutch, GearStick, Accelerator e Handbrake.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141414"/>
                </a:solidFill>
                <a:latin typeface="Aptos"/>
              </a:rPr>
              <a:t>Per eseguire l'operazione complessa usa un solo metodo: drive().</a:t>
            </a:r>
            <a:endParaRPr b="0" lang="it-IT" sz="1800" spc="-1" strike="noStrike">
              <a:latin typeface="Arial"/>
            </a:endParaRPr>
          </a:p>
        </p:txBody>
      </p:sp>
    </p:spTree>
  </p:cSld>
  <p:timing>
    <p:tnLst>
      <p:par>
        <p:cTn id="23" dur="indefinite" restart="never" nodeType="tmRoot">
          <p:childTnLst>
            <p:seq>
              <p:cTn id="2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Che cosa NON fa una Facade?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103" name="CustomShape 2"/>
          <p:cNvSpPr/>
          <p:nvPr/>
        </p:nvSpPr>
        <p:spPr>
          <a:xfrm>
            <a:off x="822960" y="1508760"/>
            <a:ext cx="10515240" cy="1996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Non sostituisce necessariamente le classi del sottosistema.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Non elimina la complessità interna: la incapsula.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Non impedisce al client di usare direttamente i sottosistemi, se necessario.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Non deve diventare una 'classe gigante' che contiene tutta la logica dell'applicazione.</a:t>
            </a:r>
            <a:endParaRPr b="0" lang="it-IT" sz="2000" spc="-1" strike="noStrike">
              <a:latin typeface="Arial"/>
            </a:endParaRPr>
          </a:p>
        </p:txBody>
      </p:sp>
    </p:spTree>
  </p:cSld>
  <p:timing>
    <p:tnLst>
      <p:par>
        <p:cTn id="25" dur="indefinite" restart="never" nodeType="tmRoot">
          <p:childTnLst>
            <p:seq>
              <p:cTn id="2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Vantaggi del Facade Pattern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105" name="CustomShape 2"/>
          <p:cNvSpPr/>
          <p:nvPr/>
        </p:nvSpPr>
        <p:spPr>
          <a:xfrm>
            <a:off x="822960" y="1508760"/>
            <a:ext cx="10515240" cy="273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Semplicità → il client usa un'interfaccia più facile da comprendere.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Riduzione dell'accoppiamento → il client dipende meno dai dettagli interni.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Manutenibilità → le modifiche alla sequenza interna possono restare confinate nella Facade.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Leggibilità → un'operazione complessa può essere espressa con un singolo metodo.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Riutilizzo → la stessa sequenza può essere richiamata da più client.</a:t>
            </a:r>
            <a:endParaRPr b="0" lang="it-IT" sz="2000" spc="-1" strike="noStrike">
              <a:latin typeface="Arial"/>
            </a:endParaRPr>
          </a:p>
        </p:txBody>
      </p:sp>
    </p:spTree>
  </p:cSld>
  <p:timing>
    <p:tnLst>
      <p:par>
        <p:cTn id="27" dur="indefinite" restart="never" nodeType="tmRoot">
          <p:childTnLst>
            <p:seq>
              <p:cTn id="2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Facade e principio di astrazione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107" name="CustomShape 2"/>
          <p:cNvSpPr/>
          <p:nvPr/>
        </p:nvSpPr>
        <p:spPr>
          <a:xfrm>
            <a:off x="822960" y="1463040"/>
            <a:ext cx="10515240" cy="239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Il client si concentra su COSA vuole ottenere.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La Facade si occupa di COME coordinare le operazioni necessarie.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Esempio: il client chiede book(...), non deve sapere come prenotare volo, hotel e auto.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Esempio: il client chiede drive(), non deve conoscere la sequenza dei comandi dell'auto.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108" name="CustomShape 3"/>
          <p:cNvSpPr/>
          <p:nvPr/>
        </p:nvSpPr>
        <p:spPr>
          <a:xfrm>
            <a:off x="914400" y="3977640"/>
            <a:ext cx="2925720" cy="10969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700" spc="-1" strike="noStrike">
                <a:solidFill>
                  <a:srgbClr val="141414"/>
                </a:solidFill>
                <a:latin typeface="Aptos"/>
              </a:rPr>
              <a:t>COSA?</a:t>
            </a:r>
            <a:br/>
            <a:r>
              <a:rPr b="1" lang="it-IT" sz="1700" spc="-1" strike="noStrike">
                <a:solidFill>
                  <a:srgbClr val="141414"/>
                </a:solidFill>
                <a:latin typeface="Aptos"/>
              </a:rPr>
              <a:t>Operazione richiesta</a:t>
            </a:r>
            <a:endParaRPr b="0" lang="it-IT" sz="1700" spc="-1" strike="noStrike">
              <a:latin typeface="Arial"/>
            </a:endParaRPr>
          </a:p>
        </p:txBody>
      </p:sp>
      <p:sp>
        <p:nvSpPr>
          <p:cNvPr id="109" name="CustomShape 4"/>
          <p:cNvSpPr/>
          <p:nvPr/>
        </p:nvSpPr>
        <p:spPr>
          <a:xfrm>
            <a:off x="4663440" y="3977640"/>
            <a:ext cx="2925720" cy="10969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700" spc="-1" strike="noStrike">
                <a:solidFill>
                  <a:srgbClr val="141414"/>
                </a:solidFill>
                <a:latin typeface="Aptos"/>
              </a:rPr>
              <a:t>FACADE</a:t>
            </a:r>
            <a:br/>
            <a:r>
              <a:rPr b="1" lang="it-IT" sz="1700" spc="-1" strike="noStrike">
                <a:solidFill>
                  <a:srgbClr val="141414"/>
                </a:solidFill>
                <a:latin typeface="Aptos"/>
              </a:rPr>
              <a:t>coordina il COME</a:t>
            </a:r>
            <a:endParaRPr b="0" lang="it-IT" sz="1700" spc="-1" strike="noStrike">
              <a:latin typeface="Arial"/>
            </a:endParaRPr>
          </a:p>
        </p:txBody>
      </p:sp>
      <p:sp>
        <p:nvSpPr>
          <p:cNvPr id="110" name="CustomShape 5"/>
          <p:cNvSpPr/>
          <p:nvPr/>
        </p:nvSpPr>
        <p:spPr>
          <a:xfrm>
            <a:off x="8412480" y="3977640"/>
            <a:ext cx="2742840" cy="10969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700" spc="-1" strike="noStrike">
                <a:solidFill>
                  <a:srgbClr val="141414"/>
                </a:solidFill>
                <a:latin typeface="Aptos"/>
              </a:rPr>
              <a:t>COME?</a:t>
            </a:r>
            <a:br/>
            <a:r>
              <a:rPr b="1" lang="it-IT" sz="1700" spc="-1" strike="noStrike">
                <a:solidFill>
                  <a:srgbClr val="141414"/>
                </a:solidFill>
                <a:latin typeface="Aptos"/>
              </a:rPr>
              <a:t>Sottosistemi</a:t>
            </a:r>
            <a:endParaRPr b="0" lang="it-IT" sz="1700" spc="-1" strike="noStrike">
              <a:latin typeface="Arial"/>
            </a:endParaRPr>
          </a:p>
        </p:txBody>
      </p:sp>
      <p:sp>
        <p:nvSpPr>
          <p:cNvPr id="111" name="Line 6"/>
          <p:cNvSpPr/>
          <p:nvPr/>
        </p:nvSpPr>
        <p:spPr>
          <a:xfrm>
            <a:off x="3886200" y="4526280"/>
            <a:ext cx="685800" cy="360"/>
          </a:xfrm>
          <a:prstGeom prst="line">
            <a:avLst/>
          </a:prstGeom>
          <a:ln>
            <a:solidFill>
              <a:srgbClr val="3c3c3c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2" name="Line 7"/>
          <p:cNvSpPr/>
          <p:nvPr/>
        </p:nvSpPr>
        <p:spPr>
          <a:xfrm>
            <a:off x="7635240" y="4526280"/>
            <a:ext cx="685800" cy="360"/>
          </a:xfrm>
          <a:prstGeom prst="line">
            <a:avLst/>
          </a:prstGeom>
          <a:ln>
            <a:solidFill>
              <a:srgbClr val="3c3c3c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</p:spTree>
  </p:cSld>
  <p:timing>
    <p:tnLst>
      <p:par>
        <p:cTn id="29" dur="indefinite" restart="never" nodeType="tmRoot">
          <p:childTnLst>
            <p:seq>
              <p:cTn id="3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Quando usare una Facade?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114" name="CustomShape 2"/>
          <p:cNvSpPr/>
          <p:nvPr/>
        </p:nvSpPr>
        <p:spPr>
          <a:xfrm>
            <a:off x="822960" y="1508760"/>
            <a:ext cx="10515240" cy="175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Quando un sottosistema contiene molte classi e operazioni da coordinare.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Quando i client ripetono spesso la stessa sequenza di chiamate.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Quando si vuole offrire un'API semplificata sopra un sistema complesso.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Quando si vuole ridurre la dipendenza dei client dai dettagli interni.</a:t>
            </a:r>
            <a:endParaRPr b="0" lang="it-IT" sz="2100" spc="-1" strike="noStrike">
              <a:latin typeface="Arial"/>
            </a:endParaRPr>
          </a:p>
        </p:txBody>
      </p:sp>
    </p:spTree>
  </p:cSld>
  <p:timing>
    <p:tnLst>
      <p:par>
        <p:cTn id="31" dur="indefinite" restart="never" nodeType="tmRoot">
          <p:childTnLst>
            <p:seq>
              <p:cTn id="3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Esercitazione guidata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116" name="CustomShape 2"/>
          <p:cNvSpPr/>
          <p:nvPr/>
        </p:nvSpPr>
        <p:spPr>
          <a:xfrm>
            <a:off x="822960" y="1508760"/>
            <a:ext cx="10515240" cy="2878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Parti dal progetto Car senza Facade.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Individua tutte le classi che rappresentano i componenti dell'automobile.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Crea una classe CarFacade.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Sposta nella Facade la sequenza necessaria per eseguire drive().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Modifica Car affinché utilizzi solo CarFacade.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Aggiungi almeno un secondo metodo alla Facade, ad esempio park() o stop().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Verifica che il comportamento prodotto dal programma sia coerente.</a:t>
            </a:r>
            <a:endParaRPr b="0" lang="it-IT" sz="1900" spc="-1" strike="noStrike">
              <a:latin typeface="Arial"/>
            </a:endParaRPr>
          </a:p>
        </p:txBody>
      </p:sp>
    </p:spTree>
  </p:cSld>
  <p:timing>
    <p:tnLst>
      <p:par>
        <p:cTn id="33" dur="indefinite" restart="never" nodeType="tmRoot">
          <p:childTnLst>
            <p:seq>
              <p:cTn id="3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Riepilogo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118" name="CustomShape 2"/>
          <p:cNvSpPr/>
          <p:nvPr/>
        </p:nvSpPr>
        <p:spPr>
          <a:xfrm>
            <a:off x="822960" y="1508760"/>
            <a:ext cx="10515240" cy="2966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Facade = interfaccia semplificata verso un sottosistema complesso.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Il client vede pochi metodi semplici.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La Facade coordina le classi interne e nasconde i dettagli.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Nel progetto vacanze: VacationFacade.book().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Nel progetto automobile: CarFacade.drive().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Il pattern è utile quando vogliamo semplificare l'uso di un insieme di componenti.</a:t>
            </a:r>
            <a:endParaRPr b="0" lang="it-IT" sz="2100" spc="-1" strike="noStrike">
              <a:latin typeface="Arial"/>
            </a:endParaRPr>
          </a:p>
        </p:txBody>
      </p:sp>
    </p:spTree>
  </p:cSld>
  <p:timing>
    <p:tnLst>
      <p:par>
        <p:cTn id="35" dur="indefinite" restart="never" nodeType="tmRoot">
          <p:childTnLst>
            <p:seq>
              <p:cTn id="3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LibreOffice/6.0.7.3$Linux_X86_64 LibreOffice_project/00m0$Build-3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it-IT</dc:language>
  <cp:lastModifiedBy/>
  <dcterms:modified xsi:type="dcterms:W3CDTF">2026-09-07T22:04:38Z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