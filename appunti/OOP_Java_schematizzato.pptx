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slides/_rels/slide21.xml.rels" ContentType="application/vnd.openxmlformats-package.relationships+xml"/>
  <Override PartName="/ppt/slides/_rels/slide20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.xml.rels" ContentType="application/vnd.openxmlformats-package.relationships+xml"/>
  <Override PartName="/ppt/slides/_rels/slide9.xml.rels" ContentType="application/vnd.openxmlformats-package.relationships+xml"/>
  <Override PartName="/ppt/slides/_rels/slide2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it-IT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it-IT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/>
          <a:p>
            <a:pPr>
              <a:lnSpc>
                <a:spcPct val="100000"/>
              </a:lnSpc>
            </a:pPr>
            <a:fld id="{1D25CE28-BF56-41A1-AEB7-162BA62F313B}" type="datetime">
              <a:rPr b="0" lang="it-IT" sz="1200" spc="-1" strike="noStrike">
                <a:solidFill>
                  <a:srgbClr val="8b8b8b"/>
                </a:solidFill>
                <a:latin typeface="Calibri"/>
              </a:rPr>
              <a:t>14/09/26</a:t>
            </a:fld>
            <a:endParaRPr b="0" lang="it-IT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/>
          <a:p>
            <a:endParaRPr b="0" lang="it-IT" sz="2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fld id="{BDC55920-AA39-4387-B30D-BCD40BCE4754}" type="slidenum">
              <a:rPr b="0" lang="it-IT" sz="1200" spc="-1" strike="noStrike">
                <a:solidFill>
                  <a:srgbClr val="8b8b8b"/>
                </a:solidFill>
                <a:latin typeface="Calibri"/>
              </a:rPr>
              <a:t>&lt;numero&gt;</a:t>
            </a:fld>
            <a:endParaRPr b="0" lang="it-IT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Fai clic per modificare il formato del testo del titolo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Fai clic per modificare il formato del testo della struttura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Secondo livello struttura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Terzo livello struttura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Quarto livello struttura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Quinto livello struttura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Sesto livello struttura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Settimo livello struttura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1576440" y="502920"/>
            <a:ext cx="9007920" cy="63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3600" spc="-1" strike="noStrike">
                <a:solidFill>
                  <a:srgbClr val="000000"/>
                </a:solidFill>
                <a:latin typeface="Calibri"/>
              </a:rPr>
              <a:t>Programmazione a Oggetti in Java</a:t>
            </a:r>
            <a:endParaRPr b="0" lang="it-IT" sz="3600" spc="-1" strike="noStrike">
              <a:latin typeface="Arial"/>
            </a:endParaRPr>
          </a:p>
        </p:txBody>
      </p:sp>
      <p:sp>
        <p:nvSpPr>
          <p:cNvPr id="42" name="CustomShape 2"/>
          <p:cNvSpPr/>
          <p:nvPr/>
        </p:nvSpPr>
        <p:spPr>
          <a:xfrm>
            <a:off x="822960" y="1920240"/>
            <a:ext cx="10515240" cy="1177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Dalla metafora del ristorante alle basi dell’OOP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Classe • Oggetto • Incapsulamento • Ereditarietà • Polimorfismo • Astrazione • Composizione</a:t>
            </a:r>
            <a:endParaRPr b="0" lang="it-IT" sz="2100" spc="-1" strike="noStrike"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/>
          <p:cNvSpPr/>
          <p:nvPr/>
        </p:nvSpPr>
        <p:spPr>
          <a:xfrm>
            <a:off x="4608360" y="502920"/>
            <a:ext cx="294408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000000"/>
                </a:solidFill>
                <a:latin typeface="Calibri"/>
              </a:rPr>
              <a:t>Perché OOP?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44" name="CustomShape 2"/>
          <p:cNvSpPr/>
          <p:nvPr/>
        </p:nvSpPr>
        <p:spPr>
          <a:xfrm>
            <a:off x="822960" y="1417320"/>
            <a:ext cx="10515240" cy="175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Un sistema piccolo può essere gestito come un unico blocco.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Quando cresce, il problema diventa la struttura, non la velocità.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OOP assegna responsabilità a oggetti diversi.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Obiettivo: codice più comprensibile, modificabile e mantenibile.</a:t>
            </a:r>
            <a:endParaRPr b="0" lang="it-IT" sz="2100" spc="-1" strike="noStrike">
              <a:latin typeface="Arial"/>
            </a:endParaRPr>
          </a:p>
        </p:txBody>
      </p:sp>
    </p:spTree>
  </p:cSld>
  <p:timing>
    <p:tnLst>
      <p:par>
        <p:cTn id="3" dur="indefinite" restart="never" nodeType="tmRoot">
          <p:childTnLst>
            <p:seq>
              <p:cTn id="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CustomShape 1"/>
          <p:cNvSpPr/>
          <p:nvPr/>
        </p:nvSpPr>
        <p:spPr>
          <a:xfrm>
            <a:off x="3150720" y="502920"/>
            <a:ext cx="585936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000000"/>
                </a:solidFill>
                <a:latin typeface="Calibri"/>
              </a:rPr>
              <a:t>La metafora del ristorante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46" name="CustomShape 2"/>
          <p:cNvSpPr/>
          <p:nvPr/>
        </p:nvSpPr>
        <p:spPr>
          <a:xfrm>
            <a:off x="822960" y="1417320"/>
            <a:ext cx="10515240" cy="270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1" lang="it-IT" sz="2200" spc="-1" strike="noStrike">
                <a:solidFill>
                  <a:srgbClr val="000000"/>
                </a:solidFill>
                <a:latin typeface="Calibri"/>
              </a:rPr>
              <a:t>Cameriere → prende gli ordini</a:t>
            </a:r>
            <a:endParaRPr b="0" lang="it-IT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1" lang="it-IT" sz="2200" spc="-1" strike="noStrike">
                <a:solidFill>
                  <a:srgbClr val="000000"/>
                </a:solidFill>
                <a:latin typeface="Calibri"/>
              </a:rPr>
              <a:t>Cuoco → cucina</a:t>
            </a:r>
            <a:endParaRPr b="0" lang="it-IT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1" lang="it-IT" sz="2200" spc="-1" strike="noStrike">
                <a:solidFill>
                  <a:srgbClr val="000000"/>
                </a:solidFill>
                <a:latin typeface="Calibri"/>
              </a:rPr>
              <a:t>Responsabile → coordina</a:t>
            </a:r>
            <a:endParaRPr b="0" lang="it-IT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1" lang="it-IT" sz="2200" spc="-1" strike="noStrike">
                <a:solidFill>
                  <a:srgbClr val="000000"/>
                </a:solidFill>
                <a:latin typeface="Calibri"/>
              </a:rPr>
              <a:t>Pulizia → pulisce</a:t>
            </a:r>
            <a:endParaRPr b="0" lang="it-IT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Ogni ruolo ha responsabilità precise.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Nel software: ogni oggetto gestisce il proprio compito.</a:t>
            </a:r>
            <a:endParaRPr b="0" lang="it-IT" sz="2100" spc="-1" strike="noStrike">
              <a:latin typeface="Arial"/>
            </a:endParaRPr>
          </a:p>
        </p:txBody>
      </p:sp>
    </p:spTree>
  </p:cSld>
  <p:timing>
    <p:tnLst>
      <p:par>
        <p:cTn id="5" dur="indefinite" restart="never" nodeType="tmRoot">
          <p:childTnLst>
            <p:seq>
              <p:cTn id="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ustomShape 1"/>
          <p:cNvSpPr/>
          <p:nvPr/>
        </p:nvSpPr>
        <p:spPr>
          <a:xfrm>
            <a:off x="4190040" y="502920"/>
            <a:ext cx="378072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000000"/>
                </a:solidFill>
                <a:latin typeface="Calibri"/>
              </a:rPr>
              <a:t>Classe e oggetto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48" name="CustomShape 2"/>
          <p:cNvSpPr/>
          <p:nvPr/>
        </p:nvSpPr>
        <p:spPr>
          <a:xfrm>
            <a:off x="822960" y="1417320"/>
            <a:ext cx="10515240" cy="2214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Classe = blueprint / progetto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Oggetto = istanza concreta della classe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Java: class Waiter { ... }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Java: Waiter roberto = new Waiter("roberto");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1" lang="it-IT" sz="2200" spc="-1" strike="noStrike">
                <a:solidFill>
                  <a:srgbClr val="000000"/>
                </a:solidFill>
                <a:latin typeface="Calibri"/>
              </a:rPr>
              <a:t>Stessa classe → molti oggetti, ciascuno con il proprio stato.</a:t>
            </a:r>
            <a:endParaRPr b="0" lang="it-IT" sz="2200" spc="-1" strike="noStrike">
              <a:latin typeface="Arial"/>
            </a:endParaRPr>
          </a:p>
        </p:txBody>
      </p:sp>
    </p:spTree>
  </p:cSld>
  <p:timing>
    <p:tnLst>
      <p:par>
        <p:cTn id="7" dur="indefinite" restart="never" nodeType="tmRoot">
          <p:childTnLst>
            <p:seq>
              <p:cTn id="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ustomShape 1"/>
          <p:cNvSpPr/>
          <p:nvPr/>
        </p:nvSpPr>
        <p:spPr>
          <a:xfrm>
            <a:off x="4253400" y="502920"/>
            <a:ext cx="365436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000000"/>
                </a:solidFill>
                <a:latin typeface="Calibri"/>
              </a:rPr>
              <a:t>Attributi e stato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50" name="CustomShape 2"/>
          <p:cNvSpPr/>
          <p:nvPr/>
        </p:nvSpPr>
        <p:spPr>
          <a:xfrm>
            <a:off x="822960" y="1417320"/>
            <a:ext cx="10515240" cy="2508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Gli attributi descrivono lo stato dell’oggetto.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Esempio: name, table.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Consolas"/>
              </a:rPr>
              <a:t>private int table;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Consolas"/>
              </a:rPr>
              <a:t>Waiter roberto = new Waiter("roberto", 4);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Consolas"/>
              </a:rPr>
              <a:t>Waiter simona = new Waiter("Simona", 6);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Attenzione a static: lo stato statico appartiene alla classe ed è condiviso.</a:t>
            </a:r>
            <a:endParaRPr b="0" lang="it-IT" sz="2100" spc="-1" strike="noStrike">
              <a:latin typeface="Arial"/>
            </a:endParaRPr>
          </a:p>
        </p:txBody>
      </p:sp>
    </p:spTree>
  </p:cSld>
  <p:timing>
    <p:tnLst>
      <p:par>
        <p:cTn id="9" dur="indefinite" restart="never" nodeType="tmRoot">
          <p:childTnLst>
            <p:seq>
              <p:cTn id="1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CustomShape 1"/>
          <p:cNvSpPr/>
          <p:nvPr/>
        </p:nvSpPr>
        <p:spPr>
          <a:xfrm>
            <a:off x="4079520" y="502920"/>
            <a:ext cx="400176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000000"/>
                </a:solidFill>
                <a:latin typeface="Calibri"/>
              </a:rPr>
              <a:t>Costruttore e this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52" name="CustomShape 2"/>
          <p:cNvSpPr/>
          <p:nvPr/>
        </p:nvSpPr>
        <p:spPr>
          <a:xfrm>
            <a:off x="822960" y="1417320"/>
            <a:ext cx="10515240" cy="2229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1" lang="it-IT" sz="2200" spc="-1" strike="noStrike">
                <a:solidFill>
                  <a:srgbClr val="000000"/>
                </a:solidFill>
                <a:latin typeface="Calibri"/>
              </a:rPr>
              <a:t>Python __init__ → Java costruttore</a:t>
            </a:r>
            <a:endParaRPr b="0" lang="it-IT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1" lang="it-IT" sz="2200" spc="-1" strike="noStrike">
                <a:solidFill>
                  <a:srgbClr val="000000"/>
                </a:solidFill>
                <a:latin typeface="Calibri"/>
              </a:rPr>
              <a:t>Python self → Java this</a:t>
            </a:r>
            <a:endParaRPr b="0" lang="it-IT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this indica l’oggetto corrente.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this.name = name;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Il costruttore permette di creare oggetti con uno stato iniziale coerente.</a:t>
            </a:r>
            <a:endParaRPr b="0" lang="it-IT" sz="2100" spc="-1" strike="noStrike">
              <a:latin typeface="Arial"/>
            </a:endParaRPr>
          </a:p>
        </p:txBody>
      </p:sp>
    </p:spTree>
  </p:cSld>
  <p:timing>
    <p:tnLst>
      <p:par>
        <p:cTn id="11" dur="indefinite" restart="never" nodeType="tmRoot">
          <p:childTnLst>
            <p:seq>
              <p:cTn id="1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CustomShape 1"/>
          <p:cNvSpPr/>
          <p:nvPr/>
        </p:nvSpPr>
        <p:spPr>
          <a:xfrm>
            <a:off x="5246280" y="502920"/>
            <a:ext cx="166860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000000"/>
                </a:solidFill>
                <a:latin typeface="Calibri"/>
              </a:rPr>
              <a:t>Metodi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54" name="CustomShape 2"/>
          <p:cNvSpPr/>
          <p:nvPr/>
        </p:nvSpPr>
        <p:spPr>
          <a:xfrm>
            <a:off x="822960" y="1417320"/>
            <a:ext cx="10515240" cy="202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Un metodo rappresenta un comportamento dell’oggetto.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Consolas"/>
              </a:rPr>
              <a:t>public void takeOrder() { ... }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Il metodo può leggere e modificare lo stato dell’oggetto.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Stesso metodo + oggetti diversi = comportamento applicato allo stato del singolo oggetto.</a:t>
            </a:r>
            <a:endParaRPr b="0" lang="it-IT" sz="2100" spc="-1" strike="noStrike">
              <a:latin typeface="Arial"/>
            </a:endParaRPr>
          </a:p>
        </p:txBody>
      </p:sp>
    </p:spTree>
  </p:cSld>
  <p:timing>
    <p:tnLst>
      <p:par>
        <p:cTn id="13" dur="indefinite" restart="never" nodeType="tmRoot">
          <p:childTnLst>
            <p:seq>
              <p:cTn id="1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CustomShape 1"/>
          <p:cNvSpPr/>
          <p:nvPr/>
        </p:nvSpPr>
        <p:spPr>
          <a:xfrm>
            <a:off x="4276080" y="502920"/>
            <a:ext cx="36086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000000"/>
                </a:solidFill>
                <a:latin typeface="Calibri"/>
              </a:rPr>
              <a:t>Incapsulamento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56" name="CustomShape 2"/>
          <p:cNvSpPr/>
          <p:nvPr/>
        </p:nvSpPr>
        <p:spPr>
          <a:xfrm>
            <a:off x="822960" y="1417320"/>
            <a:ext cx="10515240" cy="2518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Dati + comportamenti restano insieme.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Gli attributi sono normalmente private.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L’oggetto controlla come il proprio stato viene modificato.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Esempio: assignTable(int table) invece di modificare direttamente il campo.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Lo stato è l’insieme dei valori degli attributi in un dato momento.</a:t>
            </a:r>
            <a:endParaRPr b="0" lang="it-IT" sz="2100" spc="-1" strike="noStrike">
              <a:latin typeface="Arial"/>
            </a:endParaRPr>
          </a:p>
        </p:txBody>
      </p:sp>
    </p:spTree>
  </p:cSld>
  <p:timing>
    <p:tnLst>
      <p:par>
        <p:cTn id="15" dur="indefinite" restart="never" nodeType="tmRoot">
          <p:childTnLst>
            <p:seq>
              <p:cTn id="1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ustomShape 1"/>
          <p:cNvSpPr/>
          <p:nvPr/>
        </p:nvSpPr>
        <p:spPr>
          <a:xfrm>
            <a:off x="4705200" y="502920"/>
            <a:ext cx="275040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000000"/>
                </a:solidFill>
                <a:latin typeface="Calibri"/>
              </a:rPr>
              <a:t>Ereditarietà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58" name="CustomShape 2"/>
          <p:cNvSpPr/>
          <p:nvPr/>
        </p:nvSpPr>
        <p:spPr>
          <a:xfrm>
            <a:off x="822960" y="1417320"/>
            <a:ext cx="10515240" cy="212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Consolas"/>
              </a:rPr>
              <a:t>Staff contiene ciò che è comune a tutto il personale.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Consolas"/>
              </a:rPr>
              <a:t>Waiter extends Staff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Chef extends Staff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Il comportamento comune viene definito una volta.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1" lang="it-IT" sz="2200" spc="-1" strike="noStrike">
                <a:solidFill>
                  <a:srgbClr val="000000"/>
                </a:solidFill>
                <a:latin typeface="Calibri"/>
              </a:rPr>
              <a:t>Relazione: is-a → Waiter is a Staff.</a:t>
            </a:r>
            <a:endParaRPr b="0" lang="it-IT" sz="2200" spc="-1" strike="noStrike">
              <a:latin typeface="Arial"/>
            </a:endParaRPr>
          </a:p>
        </p:txBody>
      </p:sp>
    </p:spTree>
  </p:cSld>
  <p:timing>
    <p:tnLst>
      <p:par>
        <p:cTn id="17" dur="indefinite" restart="never" nodeType="tmRoot">
          <p:childTnLst>
            <p:seq>
              <p:cTn id="1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CustomShape 1"/>
          <p:cNvSpPr/>
          <p:nvPr/>
        </p:nvSpPr>
        <p:spPr>
          <a:xfrm>
            <a:off x="3918960" y="502920"/>
            <a:ext cx="43232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000000"/>
                </a:solidFill>
                <a:latin typeface="Calibri"/>
              </a:rPr>
              <a:t>Ereditarietà in Java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60" name="CustomShape 2"/>
          <p:cNvSpPr/>
          <p:nvPr/>
        </p:nvSpPr>
        <p:spPr>
          <a:xfrm>
            <a:off x="822960" y="1417320"/>
            <a:ext cx="10515240" cy="238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Consolas"/>
              </a:rPr>
              <a:t>class Staff { ... }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Consolas"/>
              </a:rPr>
              <a:t>class Waiter extends Staff { ... }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Consolas"/>
              </a:rPr>
              <a:t>class Chef extends Staff { ... }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super(...) richiama il costruttore della classe base.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L’ereditarietà favorisce il riuso, ma va usata quando esiste davvero una relazione is-a.</a:t>
            </a:r>
            <a:endParaRPr b="0" lang="it-IT" sz="2100" spc="-1" strike="noStrike">
              <a:latin typeface="Arial"/>
            </a:endParaRPr>
          </a:p>
        </p:txBody>
      </p:sp>
    </p:spTree>
  </p:cSld>
  <p:timing>
    <p:tnLst>
      <p:par>
        <p:cTn id="19" dur="indefinite" restart="never" nodeType="tmRoot">
          <p:childTnLst>
            <p:seq>
              <p:cTn id="2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ustomShape 1"/>
          <p:cNvSpPr/>
          <p:nvPr/>
        </p:nvSpPr>
        <p:spPr>
          <a:xfrm>
            <a:off x="4581720" y="502920"/>
            <a:ext cx="299736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000000"/>
                </a:solidFill>
                <a:latin typeface="Calibri"/>
              </a:rPr>
              <a:t>Polimorfismo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62" name="CustomShape 2"/>
          <p:cNvSpPr/>
          <p:nvPr/>
        </p:nvSpPr>
        <p:spPr>
          <a:xfrm>
            <a:off x="822960" y="1417320"/>
            <a:ext cx="10515240" cy="2584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Una stessa operazione può produrre comportamenti diversi.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Consolas"/>
              </a:rPr>
              <a:t>Staff roberto = new Waiter("roberto");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Consolas"/>
              </a:rPr>
              <a:t>Staff francesco = new Chef("Francesco");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1" lang="it-IT" sz="2200" spc="-1" strike="noStrike">
                <a:solidFill>
                  <a:srgbClr val="000000"/>
                </a:solidFill>
                <a:latin typeface="Calibri"/>
              </a:rPr>
              <a:t>roberto.work(); → comportamento del Waiter</a:t>
            </a:r>
            <a:endParaRPr b="0" lang="it-IT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1" lang="it-IT" sz="2200" spc="-1" strike="noStrike">
                <a:solidFill>
                  <a:srgbClr val="000000"/>
                </a:solidFill>
                <a:latin typeface="Calibri"/>
              </a:rPr>
              <a:t>francesco.work(); → comportamento dello Chef</a:t>
            </a:r>
            <a:endParaRPr b="0" lang="it-IT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Stessa interfaccia, implementazioni diverse.</a:t>
            </a:r>
            <a:endParaRPr b="0" lang="it-IT" sz="2100" spc="-1" strike="noStrike">
              <a:latin typeface="Arial"/>
            </a:endParaRPr>
          </a:p>
        </p:txBody>
      </p:sp>
    </p:spTree>
  </p:cSld>
  <p:timing>
    <p:tnLst>
      <p:par>
        <p:cTn id="21" dur="indefinite" restart="never" nodeType="tmRoot">
          <p:childTnLst>
            <p:seq>
              <p:cTn id="2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CustomShape 1"/>
          <p:cNvSpPr/>
          <p:nvPr/>
        </p:nvSpPr>
        <p:spPr>
          <a:xfrm>
            <a:off x="5055120" y="502920"/>
            <a:ext cx="205092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000000"/>
                </a:solidFill>
                <a:latin typeface="Calibri"/>
              </a:rPr>
              <a:t>Override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64" name="CustomShape 2"/>
          <p:cNvSpPr/>
          <p:nvPr/>
        </p:nvSpPr>
        <p:spPr>
          <a:xfrm>
            <a:off x="822960" y="1417320"/>
            <a:ext cx="10515240" cy="2153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@Override indica che una sottoclasse ridefinisce un metodo ereditato.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Consolas"/>
              </a:rPr>
              <a:t>public void work() { ... }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Java sceglie a runtime l’implementazione dell’oggetto concreto.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Poli = molti; morph = forme.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Una chiamata, molti comportamenti.</a:t>
            </a:r>
            <a:endParaRPr b="0" lang="it-IT" sz="2100" spc="-1" strike="noStrike">
              <a:latin typeface="Arial"/>
            </a:endParaRPr>
          </a:p>
        </p:txBody>
      </p:sp>
    </p:spTree>
  </p:cSld>
  <p:timing>
    <p:tnLst>
      <p:par>
        <p:cTn id="23" dur="indefinite" restart="never" nodeType="tmRoot">
          <p:childTnLst>
            <p:seq>
              <p:cTn id="2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CustomShape 1"/>
          <p:cNvSpPr/>
          <p:nvPr/>
        </p:nvSpPr>
        <p:spPr>
          <a:xfrm>
            <a:off x="4842360" y="502920"/>
            <a:ext cx="247608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000000"/>
                </a:solidFill>
                <a:latin typeface="Calibri"/>
              </a:rPr>
              <a:t>Astrazione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66" name="CustomShape 2"/>
          <p:cNvSpPr/>
          <p:nvPr/>
        </p:nvSpPr>
        <p:spPr>
          <a:xfrm>
            <a:off x="822960" y="1417320"/>
            <a:ext cx="10515240" cy="255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Definire ciò che deve esistere, senza imporre necessariamente come.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Consolas"/>
              </a:rPr>
              <a:t>abstract class Staff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Consolas"/>
              </a:rPr>
              <a:t>abstract void work();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La classe astratta definisce un contratto.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Una classe astratta non viene istanziata direttamente.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Le sottoclassi concrete devono implementare i metodi astratti.</a:t>
            </a:r>
            <a:endParaRPr b="0" lang="it-IT" sz="2100" spc="-1" strike="noStrike">
              <a:latin typeface="Arial"/>
            </a:endParaRPr>
          </a:p>
        </p:txBody>
      </p:sp>
    </p:spTree>
  </p:cSld>
  <p:timing>
    <p:tnLst>
      <p:par>
        <p:cTn id="25" dur="indefinite" restart="never" nodeType="tmRoot">
          <p:childTnLst>
            <p:seq>
              <p:cTn id="2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CustomShape 1"/>
          <p:cNvSpPr/>
          <p:nvPr/>
        </p:nvSpPr>
        <p:spPr>
          <a:xfrm>
            <a:off x="4501800" y="502920"/>
            <a:ext cx="315756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000000"/>
                </a:solidFill>
                <a:latin typeface="Calibri"/>
              </a:rPr>
              <a:t>Composizione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68" name="CustomShape 2"/>
          <p:cNvSpPr/>
          <p:nvPr/>
        </p:nvSpPr>
        <p:spPr>
          <a:xfrm>
            <a:off x="822960" y="1417320"/>
            <a:ext cx="10515240" cy="2153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Un cameriere non è un cuoco.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Un cameriere ha un cuoco con cui collaborare.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Consolas"/>
              </a:rPr>
              <a:t>private Chef chef;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Relazione has-a.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La composizione costruisce sistemi combinando oggetti più semplici.</a:t>
            </a:r>
            <a:endParaRPr b="0" lang="it-IT" sz="2100" spc="-1" strike="noStrike">
              <a:latin typeface="Arial"/>
            </a:endParaRPr>
          </a:p>
        </p:txBody>
      </p:sp>
    </p:spTree>
  </p:cSld>
  <p:timing>
    <p:tnLst>
      <p:par>
        <p:cTn id="27" dur="indefinite" restart="never" nodeType="tmRoot">
          <p:childTnLst>
            <p:seq>
              <p:cTn id="2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CustomShape 1"/>
          <p:cNvSpPr/>
          <p:nvPr/>
        </p:nvSpPr>
        <p:spPr>
          <a:xfrm>
            <a:off x="3051720" y="502920"/>
            <a:ext cx="605772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000000"/>
                </a:solidFill>
                <a:latin typeface="Calibri"/>
              </a:rPr>
              <a:t>Inheritance vs Composition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70" name="CustomShape 2"/>
          <p:cNvSpPr/>
          <p:nvPr/>
        </p:nvSpPr>
        <p:spPr>
          <a:xfrm>
            <a:off x="822960" y="1417320"/>
            <a:ext cx="10515240" cy="2137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1" lang="it-IT" sz="2200" spc="-1" strike="noStrike">
                <a:solidFill>
                  <a:srgbClr val="000000"/>
                </a:solidFill>
                <a:latin typeface="Calibri"/>
              </a:rPr>
              <a:t>IS-A → ereditarietà → extends</a:t>
            </a:r>
            <a:endParaRPr b="0" lang="it-IT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Consolas"/>
              </a:rPr>
              <a:t>Waiter is a Staff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1" lang="it-IT" sz="2200" spc="-1" strike="noStrike">
                <a:solidFill>
                  <a:srgbClr val="000000"/>
                </a:solidFill>
                <a:latin typeface="Calibri"/>
              </a:rPr>
              <a:t>HAS-A → composizione → riferimento/attributo</a:t>
            </a:r>
            <a:endParaRPr b="0" lang="it-IT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Consolas"/>
              </a:rPr>
              <a:t>Waiter has a Chef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La composizione rappresenta collaborazione tra oggetti.</a:t>
            </a:r>
            <a:endParaRPr b="0" lang="it-IT" sz="2100" spc="-1" strike="noStrike">
              <a:latin typeface="Arial"/>
            </a:endParaRPr>
          </a:p>
        </p:txBody>
      </p:sp>
    </p:spTree>
  </p:cSld>
  <p:timing>
    <p:tnLst>
      <p:par>
        <p:cTn id="29" dur="indefinite" restart="never" nodeType="tmRoot">
          <p:childTnLst>
            <p:seq>
              <p:cTn id="3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CustomShape 1"/>
          <p:cNvSpPr/>
          <p:nvPr/>
        </p:nvSpPr>
        <p:spPr>
          <a:xfrm>
            <a:off x="4253400" y="502920"/>
            <a:ext cx="365436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000000"/>
                </a:solidFill>
                <a:latin typeface="Calibri"/>
              </a:rPr>
              <a:t>I 5 concetti OOP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72" name="CustomShape 2"/>
          <p:cNvSpPr/>
          <p:nvPr/>
        </p:nvSpPr>
        <p:spPr>
          <a:xfrm>
            <a:off x="822960" y="1417320"/>
            <a:ext cx="10515240" cy="2274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1" lang="it-IT" sz="2200" spc="-1" strike="noStrike">
                <a:solidFill>
                  <a:srgbClr val="000000"/>
                </a:solidFill>
                <a:latin typeface="Calibri"/>
              </a:rPr>
              <a:t>1. Incapsulamento → dati + comportamenti controllati</a:t>
            </a:r>
            <a:endParaRPr b="0" lang="it-IT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1" lang="it-IT" sz="2200" spc="-1" strike="noStrike">
                <a:solidFill>
                  <a:srgbClr val="000000"/>
                </a:solidFill>
                <a:latin typeface="Calibri"/>
              </a:rPr>
              <a:t>2. Ereditarietà → riuso e specializzazione</a:t>
            </a:r>
            <a:endParaRPr b="0" lang="it-IT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1" lang="it-IT" sz="2200" spc="-1" strike="noStrike">
                <a:solidFill>
                  <a:srgbClr val="000000"/>
                </a:solidFill>
                <a:latin typeface="Calibri"/>
              </a:rPr>
              <a:t>3. Polimorfismo → stessa interfaccia, comportamenti diversi</a:t>
            </a:r>
            <a:endParaRPr b="0" lang="it-IT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1" lang="it-IT" sz="2200" spc="-1" strike="noStrike">
                <a:solidFill>
                  <a:srgbClr val="000000"/>
                </a:solidFill>
                <a:latin typeface="Calibri"/>
              </a:rPr>
              <a:t>4. Astrazione → definire il contratto</a:t>
            </a:r>
            <a:endParaRPr b="0" lang="it-IT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1" lang="it-IT" sz="2200" spc="-1" strike="noStrike">
                <a:solidFill>
                  <a:srgbClr val="000000"/>
                </a:solidFill>
                <a:latin typeface="Calibri"/>
              </a:rPr>
              <a:t>5. Composizione → oggetti che collaborano</a:t>
            </a:r>
            <a:endParaRPr b="0" lang="it-IT" sz="2200" spc="-1" strike="noStrike">
              <a:latin typeface="Arial"/>
            </a:endParaRPr>
          </a:p>
        </p:txBody>
      </p:sp>
    </p:spTree>
  </p:cSld>
  <p:timing>
    <p:tnLst>
      <p:par>
        <p:cTn id="31" dur="indefinite" restart="never" nodeType="tmRoot">
          <p:childTnLst>
            <p:seq>
              <p:cTn id="3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CustomShape 1"/>
          <p:cNvSpPr/>
          <p:nvPr/>
        </p:nvSpPr>
        <p:spPr>
          <a:xfrm>
            <a:off x="4484160" y="502920"/>
            <a:ext cx="319248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000000"/>
                </a:solidFill>
                <a:latin typeface="Calibri"/>
              </a:rPr>
              <a:t>Python → Java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74" name="CustomShape 2"/>
          <p:cNvSpPr/>
          <p:nvPr/>
        </p:nvSpPr>
        <p:spPr>
          <a:xfrm>
            <a:off x="822960" y="1417320"/>
            <a:ext cx="10515240" cy="3198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1" lang="it-IT" sz="2200" spc="-1" strike="noStrike">
                <a:solidFill>
                  <a:srgbClr val="000000"/>
                </a:solidFill>
                <a:latin typeface="Calibri"/>
              </a:rPr>
              <a:t>class Waiter: → class Waiter { }</a:t>
            </a:r>
            <a:endParaRPr b="0" lang="it-IT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1" lang="it-IT" sz="2200" spc="-1" strike="noStrike">
                <a:solidFill>
                  <a:srgbClr val="000000"/>
                </a:solidFill>
                <a:latin typeface="Calibri"/>
              </a:rPr>
              <a:t>Waiter() → new Waiter()</a:t>
            </a:r>
            <a:endParaRPr b="0" lang="it-IT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1" lang="it-IT" sz="2200" spc="-1" strike="noStrike">
                <a:solidFill>
                  <a:srgbClr val="000000"/>
                </a:solidFill>
                <a:latin typeface="Calibri"/>
              </a:rPr>
              <a:t>__init__ → costruttore</a:t>
            </a:r>
            <a:endParaRPr b="0" lang="it-IT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1" lang="it-IT" sz="2200" spc="-1" strike="noStrike">
                <a:solidFill>
                  <a:srgbClr val="000000"/>
                </a:solidFill>
                <a:latin typeface="Calibri"/>
              </a:rPr>
              <a:t>self → this</a:t>
            </a:r>
            <a:endParaRPr b="0" lang="it-IT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1" lang="it-IT" sz="2200" spc="-1" strike="noStrike">
                <a:solidFill>
                  <a:srgbClr val="000000"/>
                </a:solidFill>
                <a:latin typeface="Calibri"/>
              </a:rPr>
              <a:t>def take_order() → void takeOrder()</a:t>
            </a:r>
            <a:endParaRPr b="0" lang="it-IT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1" lang="it-IT" sz="2200" spc="-1" strike="noStrike">
                <a:solidFill>
                  <a:srgbClr val="000000"/>
                </a:solidFill>
                <a:latin typeface="Calibri"/>
              </a:rPr>
              <a:t>class Waiter(Staff) → class Waiter extends Staff</a:t>
            </a:r>
            <a:endParaRPr b="0" lang="it-IT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1" lang="it-IT" sz="2200" spc="-1" strike="noStrike">
                <a:solidFill>
                  <a:srgbClr val="000000"/>
                </a:solidFill>
                <a:latin typeface="Calibri"/>
              </a:rPr>
              <a:t>ABC / abstractmethod → abstract class / abstract method</a:t>
            </a:r>
            <a:endParaRPr b="0" lang="it-IT" sz="2200" spc="-1" strike="noStrike">
              <a:latin typeface="Arial"/>
            </a:endParaRPr>
          </a:p>
        </p:txBody>
      </p:sp>
    </p:spTree>
  </p:cSld>
  <p:timing>
    <p:tnLst>
      <p:par>
        <p:cTn id="33" dur="indefinite" restart="never" nodeType="tmRoot">
          <p:childTnLst>
            <p:seq>
              <p:cTn id="3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CustomShape 1"/>
          <p:cNvSpPr/>
          <p:nvPr/>
        </p:nvSpPr>
        <p:spPr>
          <a:xfrm>
            <a:off x="4015440" y="502920"/>
            <a:ext cx="412992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000000"/>
                </a:solidFill>
                <a:latin typeface="Calibri"/>
              </a:rPr>
              <a:t>Esempio integrato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76" name="CustomShape 2"/>
          <p:cNvSpPr/>
          <p:nvPr/>
        </p:nvSpPr>
        <p:spPr>
          <a:xfrm>
            <a:off x="822960" y="1417320"/>
            <a:ext cx="10515240" cy="3621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Consolas"/>
              </a:rPr>
              <a:t>abstract class Staff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Consolas"/>
              </a:rPr>
              <a:t>    </a:t>
            </a:r>
            <a:r>
              <a:rPr b="0" lang="it-IT" sz="1800" spc="-1" strike="noStrike">
                <a:solidFill>
                  <a:srgbClr val="000000"/>
                </a:solidFill>
                <a:latin typeface="Consolas"/>
              </a:rPr>
              <a:t>protected String name;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Consolas"/>
              </a:rPr>
              <a:t>    </a:t>
            </a:r>
            <a:r>
              <a:rPr b="0" lang="it-IT" sz="1800" spc="-1" strike="noStrike">
                <a:solidFill>
                  <a:srgbClr val="000000"/>
                </a:solidFill>
                <a:latin typeface="Consolas"/>
              </a:rPr>
              <a:t>public abstract void work();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Consolas"/>
              </a:rPr>
              <a:t>class Waiter extends Staff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Consolas"/>
              </a:rPr>
              <a:t>    </a:t>
            </a:r>
            <a:r>
              <a:rPr b="0" lang="it-IT" sz="1800" spc="-1" strike="noStrike">
                <a:solidFill>
                  <a:srgbClr val="000000"/>
                </a:solidFill>
                <a:latin typeface="Consolas"/>
              </a:rPr>
              <a:t>private Chef chef;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000000"/>
                </a:solidFill>
                <a:latin typeface="Consolas"/>
              </a:rPr>
              <a:t>    </a:t>
            </a:r>
            <a:r>
              <a:rPr b="0" lang="it-IT" sz="1800" spc="-1" strike="noStrike">
                <a:solidFill>
                  <a:srgbClr val="000000"/>
                </a:solidFill>
                <a:latin typeface="Consolas"/>
              </a:rPr>
              <a:t>@Override public void work() { ... }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Qui convivono astrazione, ereditarietà, polimorfismo e composizione.</a:t>
            </a:r>
            <a:endParaRPr b="0" lang="it-IT" sz="2100" spc="-1" strike="noStrike">
              <a:latin typeface="Arial"/>
            </a:endParaRPr>
          </a:p>
        </p:txBody>
      </p:sp>
    </p:spTree>
  </p:cSld>
  <p:timing>
    <p:tnLst>
      <p:par>
        <p:cTn id="35" dur="indefinite" restart="never" nodeType="tmRoot">
          <p:childTnLst>
            <p:seq>
              <p:cTn id="3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CustomShape 1"/>
          <p:cNvSpPr/>
          <p:nvPr/>
        </p:nvSpPr>
        <p:spPr>
          <a:xfrm>
            <a:off x="4325040" y="502920"/>
            <a:ext cx="351108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000000"/>
                </a:solidFill>
                <a:latin typeface="Calibri"/>
              </a:rPr>
              <a:t>Mappa mentale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78" name="CustomShape 2"/>
          <p:cNvSpPr/>
          <p:nvPr/>
        </p:nvSpPr>
        <p:spPr>
          <a:xfrm>
            <a:off x="822960" y="1417320"/>
            <a:ext cx="10515240" cy="3168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Problema complesso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1" lang="it-IT" sz="2200" spc="-1" strike="noStrike">
                <a:solidFill>
                  <a:srgbClr val="000000"/>
                </a:solidFill>
                <a:latin typeface="Calibri"/>
              </a:rPr>
              <a:t>↓</a:t>
            </a:r>
            <a:endParaRPr b="0" lang="it-IT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Responsabilità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1" lang="it-IT" sz="2200" spc="-1" strike="noStrike">
                <a:solidFill>
                  <a:srgbClr val="000000"/>
                </a:solidFill>
                <a:latin typeface="Calibri"/>
              </a:rPr>
              <a:t>↓</a:t>
            </a:r>
            <a:endParaRPr b="0" lang="it-IT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1" lang="it-IT" sz="2200" spc="-1" strike="noStrike">
                <a:solidFill>
                  <a:srgbClr val="000000"/>
                </a:solidFill>
                <a:latin typeface="Calibri"/>
              </a:rPr>
              <a:t>Classi → Oggetti → Stato + Comportamenti</a:t>
            </a:r>
            <a:endParaRPr b="0" lang="it-IT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1" lang="it-IT" sz="2200" spc="-1" strike="noStrike">
                <a:solidFill>
                  <a:srgbClr val="000000"/>
                </a:solidFill>
                <a:latin typeface="Calibri"/>
              </a:rPr>
              <a:t>↓</a:t>
            </a:r>
            <a:endParaRPr b="0" lang="it-IT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1" lang="it-IT" sz="2200" spc="-1" strike="noStrike">
                <a:solidFill>
                  <a:srgbClr val="000000"/>
                </a:solidFill>
                <a:latin typeface="Calibri"/>
              </a:rPr>
              <a:t>Collaborazione → Sistema organizzato</a:t>
            </a:r>
            <a:endParaRPr b="0" lang="it-IT" sz="2200" spc="-1" strike="noStrike">
              <a:latin typeface="Arial"/>
            </a:endParaRPr>
          </a:p>
        </p:txBody>
      </p:sp>
    </p:spTree>
  </p:cSld>
  <p:timing>
    <p:tnLst>
      <p:par>
        <p:cTn id="37" dur="indefinite" restart="never" nodeType="tmRoot">
          <p:childTnLst>
            <p:seq>
              <p:cTn id="3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CustomShape 1"/>
          <p:cNvSpPr/>
          <p:nvPr/>
        </p:nvSpPr>
        <p:spPr>
          <a:xfrm>
            <a:off x="5010120" y="502920"/>
            <a:ext cx="214092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000000"/>
                </a:solidFill>
                <a:latin typeface="Calibri"/>
              </a:rPr>
              <a:t>Checklist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80" name="CustomShape 2"/>
          <p:cNvSpPr/>
          <p:nvPr/>
        </p:nvSpPr>
        <p:spPr>
          <a:xfrm>
            <a:off x="822960" y="1417320"/>
            <a:ext cx="10515240" cy="4434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□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Classe e oggetto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□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Attributi e stato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□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Costruttore e this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□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Metodi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□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Incapsulamento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□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Ereditarietà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□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Polimorfismo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□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Astrazione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□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Composizione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□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is-a vs has-a</a:t>
            </a:r>
            <a:endParaRPr b="0" lang="it-IT" sz="2100" spc="-1" strike="noStrike">
              <a:latin typeface="Arial"/>
            </a:endParaRPr>
          </a:p>
        </p:txBody>
      </p:sp>
    </p:spTree>
  </p:cSld>
  <p:timing>
    <p:tnLst>
      <p:par>
        <p:cTn id="39" dur="indefinite" restart="never" nodeType="tmRoot">
          <p:childTnLst>
            <p:seq>
              <p:cTn id="4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CustomShape 1"/>
          <p:cNvSpPr/>
          <p:nvPr/>
        </p:nvSpPr>
        <p:spPr>
          <a:xfrm>
            <a:off x="4694400" y="502920"/>
            <a:ext cx="277200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000000"/>
                </a:solidFill>
                <a:latin typeface="Calibri"/>
              </a:rPr>
              <a:t>Conclusione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82" name="CustomShape 2"/>
          <p:cNvSpPr/>
          <p:nvPr/>
        </p:nvSpPr>
        <p:spPr>
          <a:xfrm>
            <a:off x="822960" y="1417320"/>
            <a:ext cx="10515240" cy="175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OOP non è una lista di definizioni da memorizzare.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È un modo per organizzare responsabilità, stato e collaborazione.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Il punto non è usare più classi possibile.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it-IT" sz="2100" spc="-1" strike="noStrike">
                <a:solidFill>
                  <a:srgbClr val="000000"/>
                </a:solidFill>
                <a:latin typeface="Calibri"/>
              </a:rPr>
              <a:t>Il punto è modellare il sistema in modo comprensibile e mantenibile.</a:t>
            </a:r>
            <a:endParaRPr b="0" lang="it-IT" sz="2100" spc="-1" strike="noStrike">
              <a:latin typeface="Arial"/>
            </a:endParaRPr>
          </a:p>
        </p:txBody>
      </p:sp>
    </p:spTree>
  </p:cSld>
  <p:timing>
    <p:tnLst>
      <p:par>
        <p:cTn id="41" dur="indefinite" restart="never" nodeType="tmRoot">
          <p:childTnLst>
            <p:seq>
              <p:cTn id="4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LibreOffice/6.0.7.3$Linux_X86_64 LibreOffice_project/00m0$Build-3</Applicat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it-IT</dc:language>
  <cp:lastModifiedBy/>
  <dcterms:modified xsi:type="dcterms:W3CDTF">2026-09-14T21:48:40Z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0</vt:i4>
  </property>
</Properties>
</file>