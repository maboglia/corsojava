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8FB7DFBF-B1F9-4E27-82B6-635CA389F48E}" type="datetime">
              <a:rPr b="0" lang="it-IT" sz="1200" spc="-1" strike="noStrike">
                <a:solidFill>
                  <a:srgbClr val="8b8b8b"/>
                </a:solidFill>
                <a:latin typeface="Calibri"/>
              </a:rPr>
              <a:t>07/09/26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it-IT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232E4A7C-A3BD-4F91-B31A-BDB514D64A88}" type="slidenum">
              <a:rPr b="0" lang="it-IT" sz="1200" spc="-1" strike="noStrike">
                <a:solidFill>
                  <a:srgbClr val="8b8b8b"/>
                </a:solidFill>
                <a:latin typeface="Calibri"/>
              </a:rPr>
              <a:t>&lt;numero&gt;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Fai clic per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modificare il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formato del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testo del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titolo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Fai clic per modificare il formato del testo della struttura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Secondo livello struttura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Terzo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Quarto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Sesto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Settimo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Builder Pattern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621720" y="987480"/>
            <a:ext cx="1078956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141414"/>
                </a:solidFill>
                <a:latin typeface="Aptos"/>
              </a:rPr>
              <a:t>Costruire oggetti complessi passo dopo passo</a:t>
            </a:r>
            <a:endParaRPr b="0" lang="it-IT" sz="15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22960" y="1645920"/>
            <a:ext cx="10515240" cy="21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Problema: creare oggetti con molti dati o parametri può diventare difficile da gestire.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Il Builder separa la costruzione dell'oggetto dalla sua rappresentazione.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La costruzione avviene attraverso una sequenza di metodi.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Nel progetto vedremo la trasformazione di un User in un UserWebDTO.</a:t>
            </a:r>
            <a:endParaRPr b="0" lang="it-IT" sz="22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problema: costruire un oggetto complesso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822960" y="1463040"/>
            <a:ext cx="10515240" cy="199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Un oggetto può richiedere molti valori per essere costruito correttamente.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Con un costruttore molto lungo, il codice del client diventa poco leggibile.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Se esistono diverse rappresentazioni dello stesso insieme di dati, la logica di costruzione può complicarsi ulteriormente.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Il Builder sposta questa responsabilità in un componente dedicato.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46" name="CustomShape 3"/>
          <p:cNvSpPr/>
          <p:nvPr/>
        </p:nvSpPr>
        <p:spPr>
          <a:xfrm>
            <a:off x="731520" y="3749040"/>
            <a:ext cx="201132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Client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47" name="CustomShape 4"/>
          <p:cNvSpPr/>
          <p:nvPr/>
        </p:nvSpPr>
        <p:spPr>
          <a:xfrm>
            <a:off x="3749040" y="3749040"/>
            <a:ext cx="228564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Costruzione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48" name="CustomShape 5"/>
          <p:cNvSpPr/>
          <p:nvPr/>
        </p:nvSpPr>
        <p:spPr>
          <a:xfrm>
            <a:off x="7406640" y="3749040"/>
            <a:ext cx="274284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Oggetto complesso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49" name="Line 6"/>
          <p:cNvSpPr/>
          <p:nvPr/>
        </p:nvSpPr>
        <p:spPr>
          <a:xfrm>
            <a:off x="2788920" y="4206240"/>
            <a:ext cx="91440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0" name="Line 7"/>
          <p:cNvSpPr/>
          <p:nvPr/>
        </p:nvSpPr>
        <p:spPr>
          <a:xfrm>
            <a:off x="6080760" y="4206240"/>
            <a:ext cx="128016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Nel nostro progetto: User e UserWebDTO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2" name="CustomShape 2"/>
          <p:cNvSpPr/>
          <p:nvPr/>
        </p:nvSpPr>
        <p:spPr>
          <a:xfrm>
            <a:off x="822960" y="1371600"/>
            <a:ext cx="10515240" cy="199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User contiene i dati di partenza: nome, cognome, data di nascita e indirizzo.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UserWebDTO rappresenta il prodotto finale destinato al web.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Il Builder deve trasformare i dati di User nella rappresentazione UserWebDTO.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Questa separazione permette di cambiare la modalità di costruzione senza modificare User.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53" name="CustomShape 3"/>
          <p:cNvSpPr/>
          <p:nvPr/>
        </p:nvSpPr>
        <p:spPr>
          <a:xfrm>
            <a:off x="914400" y="3840480"/>
            <a:ext cx="2285640" cy="10054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User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Entity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54" name="CustomShape 4"/>
          <p:cNvSpPr/>
          <p:nvPr/>
        </p:nvSpPr>
        <p:spPr>
          <a:xfrm>
            <a:off x="4663440" y="3840480"/>
            <a:ext cx="2285640" cy="10054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Builder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55" name="CustomShape 5"/>
          <p:cNvSpPr/>
          <p:nvPr/>
        </p:nvSpPr>
        <p:spPr>
          <a:xfrm>
            <a:off x="8503920" y="3840480"/>
            <a:ext cx="2468520" cy="10054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UserWebDTO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Product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56" name="Line 6"/>
          <p:cNvSpPr/>
          <p:nvPr/>
        </p:nvSpPr>
        <p:spPr>
          <a:xfrm>
            <a:off x="3291840" y="4343400"/>
            <a:ext cx="132588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7" name="Line 7"/>
          <p:cNvSpPr/>
          <p:nvPr/>
        </p:nvSpPr>
        <p:spPr>
          <a:xfrm>
            <a:off x="6995160" y="4343400"/>
            <a:ext cx="146304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Product: UserDTO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9" name="CustomShape 2"/>
          <p:cNvSpPr/>
          <p:nvPr/>
        </p:nvSpPr>
        <p:spPr>
          <a:xfrm>
            <a:off x="731520" y="1554480"/>
            <a:ext cx="10789560" cy="32914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3"/>
          <p:cNvSpPr/>
          <p:nvPr/>
        </p:nvSpPr>
        <p:spPr>
          <a:xfrm>
            <a:off x="4153680" y="1691640"/>
            <a:ext cx="3945240" cy="240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public interface UserDTO {</a:t>
            </a:r>
            <a:br/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  String getName();</a:t>
            </a:r>
            <a:br/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  String getAddress();</a:t>
            </a:r>
            <a:br/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  String getAge();</a:t>
            </a:r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900" spc="-1" strike="noStrike">
              <a:latin typeface="Arial"/>
            </a:endParaRPr>
          </a:p>
        </p:txBody>
      </p:sp>
      <p:sp>
        <p:nvSpPr>
          <p:cNvPr id="61" name="CustomShape 4"/>
          <p:cNvSpPr/>
          <p:nvPr/>
        </p:nvSpPr>
        <p:spPr>
          <a:xfrm>
            <a:off x="822960" y="5074920"/>
            <a:ext cx="10515240" cy="99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UserDTO definisce l'interfaccia del prodotto.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Il client lavora con UserDTO, senza dipendere necessariamente dalla rappresentazione concreta.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Concrete Product: UserWebDTO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3" name="CustomShape 2"/>
          <p:cNvSpPr/>
          <p:nvPr/>
        </p:nvSpPr>
        <p:spPr>
          <a:xfrm>
            <a:off x="731520" y="1188720"/>
            <a:ext cx="10789560" cy="50288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CustomShape 3"/>
          <p:cNvSpPr/>
          <p:nvPr/>
        </p:nvSpPr>
        <p:spPr>
          <a:xfrm>
            <a:off x="3521160" y="1325880"/>
            <a:ext cx="521028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public class UserWebDTO implements UserDTO {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String name;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String address;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String age;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public UserWebDTO(String name,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                String address,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                String age) {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this.name = name;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this.address = address;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this.age = age;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5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Builder: definire i passi di costruzione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6" name="CustomShape 2"/>
          <p:cNvSpPr/>
          <p:nvPr/>
        </p:nvSpPr>
        <p:spPr>
          <a:xfrm>
            <a:off x="731520" y="1143000"/>
            <a:ext cx="10789560" cy="53031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CustomShape 3"/>
          <p:cNvSpPr/>
          <p:nvPr/>
        </p:nvSpPr>
        <p:spPr>
          <a:xfrm>
            <a:off x="3582000" y="1280160"/>
            <a:ext cx="5088240" cy="307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public interface UserDTOBuilder {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UserDTOBuilder withFirstName(String fname);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UserDTOBuilder withLastName(String lname);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UserDTOBuilder withBirthday(LocalDate date);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UserDTOBuilder withAddress(Address address);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UserDTO build();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UserDTO getUserDTO();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4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Perché i metodi restituiscono il Builder?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9" name="CustomShape 2"/>
          <p:cNvSpPr/>
          <p:nvPr/>
        </p:nvSpPr>
        <p:spPr>
          <a:xfrm>
            <a:off x="822960" y="1417320"/>
            <a:ext cx="1051524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Ogni metodo configura una parte dell'oggetto.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Restituendo this, il Builder può essere utilizzato in modo fluente.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Le chiamate possono quindi essere concatenate.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risultato è una costruzione leggibile e simile a una sequenza di istruzioni.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70" name="CustomShape 3"/>
          <p:cNvSpPr/>
          <p:nvPr/>
        </p:nvSpPr>
        <p:spPr>
          <a:xfrm>
            <a:off x="731520" y="3657600"/>
            <a:ext cx="10789560" cy="2057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CustomShape 4"/>
          <p:cNvSpPr/>
          <p:nvPr/>
        </p:nvSpPr>
        <p:spPr>
          <a:xfrm>
            <a:off x="3780000" y="3794760"/>
            <a:ext cx="4692240" cy="155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builder</a:t>
            </a:r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  .withFirstName(user.getFirstName())</a:t>
            </a:r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  .withLastName(user.getLastName())</a:t>
            </a:r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  .withAddress(user.getAddress())</a:t>
            </a:r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  .withBirthday(user.getBirthday())</a:t>
            </a:r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  .build();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Concrete Builder: UserWebDTOBuilder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3" name="CustomShape 2"/>
          <p:cNvSpPr/>
          <p:nvPr/>
        </p:nvSpPr>
        <p:spPr>
          <a:xfrm>
            <a:off x="720000" y="1152000"/>
            <a:ext cx="10789560" cy="41760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CustomShape 3"/>
          <p:cNvSpPr/>
          <p:nvPr/>
        </p:nvSpPr>
        <p:spPr>
          <a:xfrm>
            <a:off x="2720880" y="1371600"/>
            <a:ext cx="681048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public class UserWebDTOBuilder implements UserDTOBuilder {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String firstName;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String lastName;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String age;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String address;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UserWebDTO dto;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// withFirstName(...)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// withLastName(...)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// withBirthday(...)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// withAddress(...)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// build()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500" spc="-1" strike="noStrike">
              <a:latin typeface="Arial"/>
            </a:endParaRPr>
          </a:p>
        </p:txBody>
      </p:sp>
      <p:sp>
        <p:nvSpPr>
          <p:cNvPr id="75" name="CustomShape 4"/>
          <p:cNvSpPr/>
          <p:nvPr/>
        </p:nvSpPr>
        <p:spPr>
          <a:xfrm>
            <a:off x="822960" y="5897880"/>
            <a:ext cx="1051524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500" spc="-1" strike="noStrike">
                <a:solidFill>
                  <a:srgbClr val="141414"/>
                </a:solidFill>
                <a:latin typeface="Aptos"/>
              </a:rPr>
              <a:t>Il ConcreteBuilder conserva temporaneamente le informazioni necessarie alla costruzione.</a:t>
            </a:r>
            <a:endParaRPr b="0" lang="it-IT" sz="15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Un metodo di costruzione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31520" y="1417320"/>
            <a:ext cx="10789560" cy="3840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3"/>
          <p:cNvSpPr/>
          <p:nvPr/>
        </p:nvSpPr>
        <p:spPr>
          <a:xfrm>
            <a:off x="2865600" y="1554480"/>
            <a:ext cx="6521040" cy="252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@Override</a:t>
            </a:r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public UserDTOBuilder withBirthday(LocalDate date) {</a:t>
            </a:r>
            <a:br/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  Period ageInYears =</a:t>
            </a:r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      Period.between(date, LocalDate.now());</a:t>
            </a:r>
            <a:br/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  age = Integer.toString(ageInYears.getYears());</a:t>
            </a:r>
            <a:br/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  return this;</a:t>
            </a:r>
            <a:br/>
            <a:r>
              <a:rPr b="0" lang="it-IT" sz="16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822960" y="5440680"/>
            <a:ext cx="10515240" cy="73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Il Builder non copia semplicemente il valore: può anche trasformare i dati.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In questo caso la data di nascita viene trasformata nell'età.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metodo build(): creare il Product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731520" y="1463040"/>
            <a:ext cx="10789560" cy="37486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3"/>
          <p:cNvSpPr/>
          <p:nvPr/>
        </p:nvSpPr>
        <p:spPr>
          <a:xfrm>
            <a:off x="3898080" y="1600200"/>
            <a:ext cx="4456080" cy="29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@Override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public UserDTO build() {</a:t>
            </a:r>
            <a:br/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dto = new UserWebDTO(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    firstName + " " + lastName,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    address,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    age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);</a:t>
            </a:r>
            <a:br/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return dto;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83" name="CustomShape 4"/>
          <p:cNvSpPr/>
          <p:nvPr/>
        </p:nvSpPr>
        <p:spPr>
          <a:xfrm>
            <a:off x="822960" y="5440680"/>
            <a:ext cx="10515240" cy="73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Solo nel momento finale viene creato il UserWebDTO.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Il client riceve il prodotto attraverso il tipo astratto UserDTO.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Director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822960" y="1371600"/>
            <a:ext cx="1051524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Nel progetto il ruolo di Director è svolto dal Client.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Director conosce la sequenza con cui costruire il prodotto.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Riceve un Builder concreto e gli passa i dati necessari.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Builder si occupa della costruzione vera e propria.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822960" y="384048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Client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Director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87" name="CustomShape 4"/>
          <p:cNvSpPr/>
          <p:nvPr/>
        </p:nvSpPr>
        <p:spPr>
          <a:xfrm>
            <a:off x="4572000" y="3840480"/>
            <a:ext cx="2559960" cy="10054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UserDTOBuilder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88" name="CustomShape 5"/>
          <p:cNvSpPr/>
          <p:nvPr/>
        </p:nvSpPr>
        <p:spPr>
          <a:xfrm>
            <a:off x="8412480" y="3840480"/>
            <a:ext cx="2468520" cy="10054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UserWebDTO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89" name="Line 6"/>
          <p:cNvSpPr/>
          <p:nvPr/>
        </p:nvSpPr>
        <p:spPr>
          <a:xfrm>
            <a:off x="3246120" y="4343400"/>
            <a:ext cx="128016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" name="Line 7"/>
          <p:cNvSpPr/>
          <p:nvPr/>
        </p:nvSpPr>
        <p:spPr>
          <a:xfrm>
            <a:off x="7178040" y="4343400"/>
            <a:ext cx="118872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metodo directBuild()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731520" y="1234440"/>
            <a:ext cx="10789560" cy="50288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CustomShape 3"/>
          <p:cNvSpPr/>
          <p:nvPr/>
        </p:nvSpPr>
        <p:spPr>
          <a:xfrm>
            <a:off x="3755160" y="2451600"/>
            <a:ext cx="4742280" cy="230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450" spc="-1" strike="noStrike">
                <a:solidFill>
                  <a:srgbClr val="141414"/>
                </a:solidFill>
                <a:latin typeface="Courier New"/>
              </a:rPr>
              <a:t>private static UserDTO directBuild(</a:t>
            </a:r>
            <a:br/>
            <a:r>
              <a:rPr b="0" lang="it-IT" sz="1450" spc="-1" strike="noStrike">
                <a:solidFill>
                  <a:srgbClr val="141414"/>
                </a:solidFill>
                <a:latin typeface="Courier New"/>
              </a:rPr>
              <a:t>    UserDTOBuilder builder, User user) {</a:t>
            </a:r>
            <a:br/>
            <a:br/>
            <a:r>
              <a:rPr b="0" lang="it-IT" sz="1450" spc="-1" strike="noStrike">
                <a:solidFill>
                  <a:srgbClr val="141414"/>
                </a:solidFill>
                <a:latin typeface="Courier New"/>
              </a:rPr>
              <a:t>  return builder</a:t>
            </a:r>
            <a:br/>
            <a:r>
              <a:rPr b="0" lang="it-IT" sz="1450" spc="-1" strike="noStrike">
                <a:solidFill>
                  <a:srgbClr val="141414"/>
                </a:solidFill>
                <a:latin typeface="Courier New"/>
              </a:rPr>
              <a:t>      .withFirstName(user.getFirstName())</a:t>
            </a:r>
            <a:br/>
            <a:r>
              <a:rPr b="0" lang="it-IT" sz="1450" spc="-1" strike="noStrike">
                <a:solidFill>
                  <a:srgbClr val="141414"/>
                </a:solidFill>
                <a:latin typeface="Courier New"/>
              </a:rPr>
              <a:t>      .withLastName(user.getLastName())</a:t>
            </a:r>
            <a:br/>
            <a:r>
              <a:rPr b="0" lang="it-IT" sz="1450" spc="-1" strike="noStrike">
                <a:solidFill>
                  <a:srgbClr val="141414"/>
                </a:solidFill>
                <a:latin typeface="Courier New"/>
              </a:rPr>
              <a:t>      .withAddress(user.getAddress())</a:t>
            </a:r>
            <a:br/>
            <a:r>
              <a:rPr b="0" lang="it-IT" sz="1450" spc="-1" strike="noStrike">
                <a:solidFill>
                  <a:srgbClr val="141414"/>
                </a:solidFill>
                <a:latin typeface="Courier New"/>
              </a:rPr>
              <a:t>      .withBirthday(user.getBirthday())</a:t>
            </a:r>
            <a:br/>
            <a:r>
              <a:rPr b="0" lang="it-IT" sz="1450" spc="-1" strike="noStrike">
                <a:solidFill>
                  <a:srgbClr val="141414"/>
                </a:solidFill>
                <a:latin typeface="Courier New"/>
              </a:rPr>
              <a:t>      .build();</a:t>
            </a:r>
            <a:br/>
            <a:r>
              <a:rPr b="0" lang="it-IT" sz="145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45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Client completo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31520" y="1508760"/>
            <a:ext cx="10789560" cy="4114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CustomShape 3"/>
          <p:cNvSpPr/>
          <p:nvPr/>
        </p:nvSpPr>
        <p:spPr>
          <a:xfrm>
            <a:off x="3250440" y="1645920"/>
            <a:ext cx="5751360" cy="29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public static void main(String[] args) {</a:t>
            </a:r>
            <a:br/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User user = createUser();</a:t>
            </a:r>
            <a:br/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UserDTOBuilder builder =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    new UserWebDTOBuilder();</a:t>
            </a:r>
            <a:br/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UserDTO dto = directBuild(builder, user);</a:t>
            </a:r>
            <a:br/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System.out.println(dto);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822960" y="5623560"/>
            <a:ext cx="10515240" cy="70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141414"/>
                </a:solidFill>
                <a:latin typeface="Aptos"/>
              </a:rPr>
              <a:t>Il Client crea il Builder e delega a directBuild() la sequenza di costruzione.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141414"/>
                </a:solidFill>
                <a:latin typeface="Aptos"/>
              </a:rPr>
              <a:t>Il prodotto finale viene utilizzato tramite UserDTO.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flusso completo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457200" y="3474720"/>
            <a:ext cx="173700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User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100" name="CustomShape 3"/>
          <p:cNvSpPr/>
          <p:nvPr/>
        </p:nvSpPr>
        <p:spPr>
          <a:xfrm>
            <a:off x="2743200" y="3474720"/>
            <a:ext cx="191988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Client /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Director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5303520" y="3474720"/>
            <a:ext cx="191988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Builder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102" name="CustomShape 5"/>
          <p:cNvSpPr/>
          <p:nvPr/>
        </p:nvSpPr>
        <p:spPr>
          <a:xfrm>
            <a:off x="7863840" y="3474720"/>
            <a:ext cx="155412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build()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103" name="CustomShape 6"/>
          <p:cNvSpPr/>
          <p:nvPr/>
        </p:nvSpPr>
        <p:spPr>
          <a:xfrm>
            <a:off x="10058400" y="3474720"/>
            <a:ext cx="182844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UserWebDTO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104" name="Line 7"/>
          <p:cNvSpPr/>
          <p:nvPr/>
        </p:nvSpPr>
        <p:spPr>
          <a:xfrm>
            <a:off x="2240280" y="3931920"/>
            <a:ext cx="45720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5" name="Line 8"/>
          <p:cNvSpPr/>
          <p:nvPr/>
        </p:nvSpPr>
        <p:spPr>
          <a:xfrm>
            <a:off x="4709160" y="3931920"/>
            <a:ext cx="54864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6" name="Line 9"/>
          <p:cNvSpPr/>
          <p:nvPr/>
        </p:nvSpPr>
        <p:spPr>
          <a:xfrm>
            <a:off x="7269480" y="3931920"/>
            <a:ext cx="54864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" name="Line 10"/>
          <p:cNvSpPr/>
          <p:nvPr/>
        </p:nvSpPr>
        <p:spPr>
          <a:xfrm>
            <a:off x="9464040" y="3931920"/>
            <a:ext cx="54864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8" name="CustomShape 11"/>
          <p:cNvSpPr/>
          <p:nvPr/>
        </p:nvSpPr>
        <p:spPr>
          <a:xfrm>
            <a:off x="932760" y="5220720"/>
            <a:ext cx="1051524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Dati → sequenza di configurazione → costruzione → prodotto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Perché usare il Builder?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822960" y="1463040"/>
            <a:ext cx="10515240" cy="273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Separazione delle responsabilità: la costruzione non è concentrata nel client.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Configurazione flessibile: possiamo impostare le parti del prodotto passo dopo passo.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Fluent API: le chiamate concatenate rendono il codice leggibile.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Riduzione della complessità: il client non deve conoscere i dettagli interni della costruzione.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Possibilità di avere Builder diversi per prodotti o rappresentazioni differenti.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Builder e costruttori: non sono la stessa cosa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2" name="CustomShape 2"/>
          <p:cNvSpPr/>
          <p:nvPr/>
        </p:nvSpPr>
        <p:spPr>
          <a:xfrm>
            <a:off x="822960" y="1463040"/>
            <a:ext cx="10515240" cy="220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Un costruttore Java crea direttamente un'istanza della classe.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Il Builder gestisce una procedura di costruzione composta da più passi.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È particolarmente utile quando ci sono molti parametri opzionali o quando la costruzione richiede trasformazioni e controlli.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Il progetto mostra anche un vantaggio importante: UserWebDTO viene costruito a partire da User, ma con una rappresentazione diversa.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Quando usare il Builder?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822960" y="1463040"/>
            <a:ext cx="10515240" cy="219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Quando un oggetto ha molti parametri.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Quando alcuni parametri sono opzionali.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Quando la costruzione richiede più passaggi.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Quando vogliamo separare il processo di costruzione dal prodotto finale.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Quando vogliamo rendere esplicita e leggibile la configurazione dell'oggetto.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Esercitazione guidata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822960" y="1463040"/>
            <a:ext cx="10515240" cy="287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Completa UserWebDTOBuilder nel progetto start.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Implementa tutti i metodi dell'interfaccia UserDTOBuilder.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Gestisci nome, cognome, indirizzo e data di nascita.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Implementa build() per creare UserWebDTO.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Completa Client in modo che utilizzi il Builder.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Verifica l'output prodotto.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Estensione: crea un secondo Builder per una diversa rappresentazione di User.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Riepilogo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822960" y="1463040"/>
            <a:ext cx="10515240" cy="255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Builder = costruzione di un oggetto complesso passo dopo passo.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Product = oggetto finale, qui UserWebDTO.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Builder = interfaccia che definisce i passi di costruzione.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ConcreteBuilder = UserWebDTOBuilder, che realizza concretamente i passi.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Director = Client/directBuild(), che stabilisce la sequenza.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Il risultato è una costruzione più leggibile, flessibile e separata dal prodotto.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LibreOffice/6.0.7.3$Linux_X86_64 LibreOffice_project/00m0$Build-3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2026-09-07T22:15:16Z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