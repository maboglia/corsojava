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Decorator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1414"/>
                </a:solidFill>
                <a:latin typeface="Aptos"/>
              </a:defRPr>
            </a:pPr>
            <a:r>
              <a:t>Aggiungere funzionalità a un oggetto senza modificarne la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41414"/>
                </a:solidFill>
                <a:latin typeface="Aptos"/>
              </a:defRPr>
            </a:pPr>
            <a:r>
              <a:t>Problema: abbiamo un oggetto base, ma vogliamo aggiungere comportamenti opzionali.</a:t>
            </a:r>
          </a:p>
          <a:p>
            <a:pPr>
              <a:spcAft>
                <a:spcPts val="1000"/>
              </a:spcAft>
              <a:defRPr sz="2200">
                <a:solidFill>
                  <a:srgbClr val="141414"/>
                </a:solidFill>
                <a:latin typeface="Aptos"/>
              </a:defRPr>
            </a:pPr>
            <a:r>
              <a:t>Soluzione: avvolgere l'oggetto con un Decorator che implementa la stessa interfaccia.</a:t>
            </a:r>
          </a:p>
          <a:p>
            <a:pPr>
              <a:spcAft>
                <a:spcPts val="1000"/>
              </a:spcAft>
              <a:defRPr sz="2200">
                <a:solidFill>
                  <a:srgbClr val="141414"/>
                </a:solidFill>
                <a:latin typeface="Aptos"/>
              </a:defRPr>
            </a:pPr>
            <a:r>
              <a:t>La composizione permette di combinare più decorazioni a runtime.</a:t>
            </a:r>
          </a:p>
          <a:p>
            <a:pPr>
              <a:spcAft>
                <a:spcPts val="1000"/>
              </a:spcAft>
              <a:defRPr sz="2200">
                <a:solidFill>
                  <a:srgbClr val="141414"/>
                </a:solidFill>
                <a:latin typeface="Aptos"/>
              </a:defRPr>
            </a:pPr>
            <a:r>
              <a:t>Vedremo il concetto con due esempi: forme grafiche e pizze.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Il problema: molte varianti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Immaginiamo di avere una Pizza con diversi tipi: Margherita, Hawaiian, Pepperoni.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Ora vogliamo anche varianti come 'con extra formaggio'.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Una soluzione basata solo sull'ereditarietà porterebbe rapidamente a molte sottoclassi.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Il Decorator permette invece di aggiungere l'opzione quando serve.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3931920"/>
            <a:ext cx="201168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Pizza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194560" cy="82296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Margherita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83480" y="2286000"/>
            <a:ext cx="2194560" cy="82296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Hawaiian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2286000"/>
            <a:ext cx="2194560" cy="82296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Pepperoni</a:t>
            </a:r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2011680" y="3154680"/>
            <a:ext cx="4023360" cy="77724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035040" y="3154680"/>
            <a:ext cx="45720" cy="77724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035040" y="3154680"/>
            <a:ext cx="4069080" cy="77724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Il Component: un contratto comune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89920" cy="27432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691639"/>
            <a:ext cx="10387584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41414"/>
                </a:solidFill>
                <a:latin typeface="Courier New"/>
              </a:defRPr>
            </a:pPr>
            <a:r>
              <a:t>public interface Component {</a:t>
            </a:r>
            <a:br/>
            <a:br/>
            <a:r>
              <a:t>  void draw(Graphics graphics);</a:t>
            </a:r>
            <a:br/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Il Component definisce ciò che tutti gli oggetti devono saper fare.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Il componente concreto e il Decorator utilizzeranno la stessa interfaccia.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Il ConcreteComponent: l'oggetto di base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789920" cy="507492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371600"/>
            <a:ext cx="10387584" cy="4800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141414"/>
                </a:solidFill>
                <a:latin typeface="Courier New"/>
              </a:defRPr>
            </a:pPr>
            <a:r>
              <a:t>public class Circle implements Component {</a:t>
            </a:r>
            <a:br/>
            <a:br/>
            <a:r>
              <a:t>  private int x;</a:t>
            </a:r>
            <a:br/>
            <a:r>
              <a:t>  private int y;</a:t>
            </a:r>
            <a:br/>
            <a:br/>
            <a:r>
              <a:t>  public Circle(int x, int y) {</a:t>
            </a:r>
            <a:br/>
            <a:r>
              <a:t>    this.x = x;</a:t>
            </a:r>
            <a:br/>
            <a:r>
              <a:t>    this.y = y;</a:t>
            </a:r>
            <a:br/>
            <a:r>
              <a:t>  }</a:t>
            </a:r>
            <a:br/>
            <a:br/>
            <a:r>
              <a:t>  public void draw(Graphics graphics) {</a:t>
            </a:r>
            <a:br/>
            <a:r>
              <a:t>    graphics.drawOval(x, y, 50, 50);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Prima del Decorator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89920" cy="22860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691639"/>
            <a:ext cx="10387584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141414"/>
                </a:solidFill>
                <a:latin typeface="Courier New"/>
              </a:defRPr>
            </a:pPr>
            <a:r>
              <a:t>public void paint(Graphics graphics) {</a:t>
            </a:r>
            <a:br/>
            <a:r>
              <a:t>  circle1.draw(graphics);</a:t>
            </a:r>
            <a:br/>
            <a:r>
              <a:t>  circle2.draw(graphics);</a:t>
            </a:r>
            <a:br/>
            <a:r>
              <a:t>  circle3.draw(graphics);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Tutti i cerchi vengono disegnati allo stesso modo.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Ora vogliamo che solo alcuni abbiano una caratteristica aggiuntiva, ad esempio un bordo rosso.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Non vogliamo modificare Circle.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Il Decorator: avvolgere un componente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10789920" cy="530352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280160"/>
            <a:ext cx="10387584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41414"/>
                </a:solidFill>
                <a:latin typeface="Courier New"/>
              </a:defRPr>
            </a:pPr>
            <a:r>
              <a:t>public class ComponentWithRedBorder implements Component {</a:t>
            </a:r>
            <a:br/>
            <a:br/>
            <a:r>
              <a:t>  private Component decoratedComponent;</a:t>
            </a:r>
            <a:br/>
            <a:br/>
            <a:r>
              <a:t>  public ComponentWithRedBorder(Component component) {</a:t>
            </a:r>
            <a:br/>
            <a:r>
              <a:t>    this.decoratedComponent = component;</a:t>
            </a:r>
            <a:br/>
            <a:r>
              <a:t>  }</a:t>
            </a:r>
            <a:br/>
            <a:br/>
            <a:r>
              <a:t>  public void draw(Graphics graphics) {</a:t>
            </a:r>
            <a:br/>
            <a:r>
              <a:t>    graphics.setColor(Color.RED);</a:t>
            </a:r>
            <a:br/>
            <a:r>
              <a:t>    decoratedComponent.draw(graphics);</a:t>
            </a:r>
            <a:br/>
            <a:r>
              <a:t>    graphics.setColor(Color.BLACK);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La struttura del Decorator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3200400"/>
            <a:ext cx="182880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2971800"/>
            <a:ext cx="2743200" cy="13716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Decorator</a:t>
            </a:r>
            <a:br/>
            <a:r>
              <a:t>ComponentWithRedBorder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3200400"/>
            <a:ext cx="237744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ConcreteComponent</a:t>
            </a:r>
            <a:br/>
            <a:r>
              <a:t>Circle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657600"/>
            <a:ext cx="1097280" cy="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46520" y="3657600"/>
            <a:ext cx="1463040" cy="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92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Decorator e componente concreto condividono l'interfaccia Component.</a:t>
            </a:r>
          </a:p>
          <a:p>
            <a:pPr>
              <a:spcAft>
                <a:spcPts val="10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Il Decorator contiene un riferimento a Component.</a:t>
            </a:r>
          </a:p>
          <a:p>
            <a:pPr>
              <a:spcAft>
                <a:spcPts val="10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Può quindi delegare l'operazione all'oggetto contenuto e aggiungere comportamento.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La decorazione avviene a runtime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89920" cy="310896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691639"/>
            <a:ext cx="10387584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41414"/>
                </a:solidFill>
                <a:latin typeface="Courier New"/>
              </a:defRPr>
            </a:pPr>
            <a:r>
              <a:t>Component circle = new Circle(75, 15);</a:t>
            </a:r>
            <a:br/>
            <a:br/>
            <a:r>
              <a:t>// Il Circle viene avvolto dal Decorator</a:t>
            </a:r>
            <a:br/>
            <a:r>
              <a:t>circle = new ComponentWithRedBorder(circle);</a:t>
            </a:r>
            <a:br/>
            <a:br/>
            <a:r>
              <a:t>circle.draw(graphics);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L'oggetto originale non viene modificato.</a:t>
            </a:r>
          </a:p>
          <a:p>
            <a:pPr>
              <a:spcAft>
                <a:spcPts val="10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La variabile continua a essere di tipo Component.</a:t>
            </a:r>
          </a:p>
          <a:p>
            <a:pPr>
              <a:spcAft>
                <a:spcPts val="10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Possiamo decidere durante l'esecuzione quali oggetti decorare.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Comporre più Decorator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Il vantaggio diventa ancora più evidente quando esistono più decorazioni.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Un Decorator può contenere un altro Decorator.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Le funzionalità possono quindi essere composte in catena.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657600"/>
            <a:ext cx="182880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Circle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3657600"/>
            <a:ext cx="210312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RedBorder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657600"/>
            <a:ext cx="201168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Shadow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3657600"/>
            <a:ext cx="210312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1414"/>
                </a:solidFill>
                <a:latin typeface="Aptos"/>
              </a:defRPr>
            </a:pPr>
            <a:r>
              <a:t>Altra</a:t>
            </a:r>
            <a:br/>
            <a:r>
              <a:t>Decorazione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14600" y="4114800"/>
            <a:ext cx="731520" cy="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40680" y="4114800"/>
            <a:ext cx="822960" cy="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66760" y="4114800"/>
            <a:ext cx="548640" cy="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Secondo esempio: Pizza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10789920" cy="246888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645919"/>
            <a:ext cx="10387584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141414"/>
                </a:solidFill>
                <a:latin typeface="Courier New"/>
              </a:defRPr>
            </a:pPr>
            <a:r>
              <a:t>public interface Pizza {</a:t>
            </a:r>
            <a:br/>
            <a:br/>
            <a:r>
              <a:t>  ArrayList getToppings();</a:t>
            </a:r>
            <a:br/>
            <a:r>
              <a:t>  String getName();</a:t>
            </a:r>
            <a:br/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Pizza è il Component: definisce le operazioni comuni.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Margherita, Hawaiian e Pepperoni sono ConcreteComponent.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Le pizze concrete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10789920" cy="530352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280160"/>
            <a:ext cx="10387584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141414"/>
                </a:solidFill>
                <a:latin typeface="Courier New"/>
              </a:defRPr>
            </a:pPr>
            <a:r>
              <a:t>public class PizzaHawaiian implements Pizza {</a:t>
            </a:r>
            <a:br/>
            <a:br/>
            <a:r>
              <a:t>  ArrayList toppings = new ArrayList&lt;String&gt;();</a:t>
            </a:r>
            <a:br/>
            <a:r>
              <a:t>  String name = "Hawaiiian";</a:t>
            </a:r>
            <a:br/>
            <a:br/>
            <a:r>
              <a:t>  public PizzaHawaiian() {</a:t>
            </a:r>
            <a:br/>
            <a:r>
              <a:t>    toppings.add("cheese");</a:t>
            </a:r>
            <a:br/>
            <a:r>
              <a:t>    toppings.add("tomato");</a:t>
            </a:r>
            <a:br/>
            <a:r>
              <a:t>    toppings.add("ham");</a:t>
            </a:r>
            <a:br/>
            <a:r>
              <a:t>    toppings.add("pineapple");</a:t>
            </a:r>
            <a:br/>
            <a:r>
              <a:t>  }</a:t>
            </a:r>
            <a:br/>
            <a:br/>
            <a:r>
              <a:t>  public ArrayList getToppings() { return toppings; }</a:t>
            </a:r>
            <a:br/>
            <a:r>
              <a:t>  public String getName() { return name;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Il Decorator della pizza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10789920" cy="530352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280160"/>
            <a:ext cx="10387584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141414"/>
                </a:solidFill>
                <a:latin typeface="Courier New"/>
              </a:defRPr>
            </a:pPr>
            <a:r>
              <a:t>public class PizzaWithExtraCheese implements Pizza {</a:t>
            </a:r>
            <a:br/>
            <a:br/>
            <a:r>
              <a:t>  ArrayList toppings;</a:t>
            </a:r>
            <a:br/>
            <a:r>
              <a:t>  Pizza pizza;</a:t>
            </a:r>
            <a:br/>
            <a:br/>
            <a:r>
              <a:t>  public PizzaWithExtraCheese(Pizza pizza) {</a:t>
            </a:r>
            <a:br/>
            <a:r>
              <a:t>    this.pizza = pizza;</a:t>
            </a:r>
            <a:br/>
            <a:r>
              <a:t>    toppings = pizza.getToppings();</a:t>
            </a:r>
            <a:br/>
            <a:r>
              <a:t>    toppings.add("extra cheese");</a:t>
            </a:r>
            <a:br/>
            <a:r>
              <a:t>  }</a:t>
            </a:r>
            <a:br/>
            <a:br/>
            <a:r>
              <a:t>  public ArrayList getToppings() { return toppings; }</a:t>
            </a:r>
            <a:br/>
            <a:r>
              <a:t>  public String getName() { return pizza.getName();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Uso del Decorator: una pizza base + un'opzione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89920" cy="3657600"/>
          </a:xfrm>
          <a:prstGeom prst="roundRect">
            <a:avLst/>
          </a:prstGeom>
          <a:solidFill>
            <a:srgbClr val="F5F5F5"/>
          </a:solidFill>
          <a:ln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691639"/>
            <a:ext cx="10387584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41414"/>
                </a:solidFill>
                <a:latin typeface="Courier New"/>
              </a:defRPr>
            </a:pPr>
            <a:r>
              <a:t>order(new PizzaMargherita());</a:t>
            </a:r>
            <a:br/>
            <a:r>
              <a:t>order(new PizzaHawaiian());</a:t>
            </a:r>
            <a:br/>
            <a:r>
              <a:t>order(new PizzaPepperoni());</a:t>
            </a:r>
            <a:br/>
            <a:br/>
            <a:r>
              <a:t>// Decorazione applicata solo dove serve</a:t>
            </a:r>
            <a:br/>
            <a:r>
              <a:t>order(new PizzaWithExtraCheese(</a:t>
            </a:r>
            <a:br/>
            <a:r>
              <a:t>    new PizzaHawaiian()</a:t>
            </a:r>
            <a:br/>
            <a:r>
              <a:t>));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La pizza Hawaiian resta una pizza concreta.</a:t>
            </a:r>
          </a:p>
          <a:p>
            <a:pPr>
              <a:spcAft>
                <a:spcPts val="10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PizzaWithExtraCheese aggiunge una responsabilità: 'extra cheese'.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Decorator vs ereditarietà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EREDITARIETÀ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Le varianti vengono definite a compile time tramite sottoclassi.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Può produrre molte classi quando le combinazioni aumentano.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DECORATOR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Le funzionalità vengono composte a runtime.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Le decorazioni possono essere riutilizzate e combinate in configurazioni diverse.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Il punto chiave: composizione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Il Decorator usa la composizione: un oggetto contiene un altro oggetto compatibile con la stessa interfaccia.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Il comportamento viene costruito avvolgendo oggetti.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Questo permette di aggiungere responsabilità senza modificare il ConcreteComponent.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È una delle applicazioni più evidenti del principio 'favorire la composizione rispetto all'ereditarietà'.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Vantaggi e attenzione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✓ Estensione dinamica del comportamento.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✓ Nessuna modifica alla classe originale.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✓ Decorator riutilizzabili e combinabili.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✓ Evita una proliferazione di sottoclassi.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⚠ Molti decorator possono rendere difficile seguire la catena di oggetti.</a:t>
            </a:r>
          </a:p>
          <a:p>
            <a:pPr>
              <a:spcAft>
                <a:spcPts val="1000"/>
              </a:spcAft>
              <a:defRPr sz="2000">
                <a:solidFill>
                  <a:srgbClr val="141414"/>
                </a:solidFill>
                <a:latin typeface="Aptos"/>
              </a:defRPr>
            </a:pPr>
            <a:r>
              <a:t>⚠ Il progetto deve mantenere chiara la responsabilità di ogni decorazione.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Come riconoscere il problema?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Hai un oggetto con un comportamento base.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Vuoi aggiungere funzionalità opzionali solo ad alcuni oggetti.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Le funzionalità possono essere combinate in modi diversi.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Non vuoi creare una sottoclasse per ogni combinazione possibile.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→ Il Decorator può essere una buona soluzione.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Esercitazione guidata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Parti dal progetto Pizza.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Mantieni Pizza come interfaccia comune.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Mantieni le tre pizze concrete.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Crea almeno due nuovi decorator, ad esempio PizzaWithOlives e PizzaWithSpicySauce.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Permetti di concatenare più decorator.</a:t>
            </a:r>
          </a:p>
          <a:p>
            <a:pPr>
              <a:spcAft>
                <a:spcPts val="1000"/>
              </a:spcAft>
              <a:defRPr sz="1900">
                <a:solidFill>
                  <a:srgbClr val="141414"/>
                </a:solidFill>
                <a:latin typeface="Aptos"/>
              </a:defRPr>
            </a:pPr>
            <a:r>
              <a:t>Verifica che il client possa costruire combinazioni diverse senza modificare le classi delle pizze.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41414"/>
                </a:solidFill>
                <a:latin typeface="Aptos"/>
              </a:defRPr>
            </a:pPr>
            <a:r>
              <a:t>Riepilogo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Decorator = aggiungere responsabilità a un oggetto dinamicamente.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Component = interfaccia comune.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ConcreteComponent = oggetto di base.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Decorator = oggetto che contiene un Component e ne estende il comportamento.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La decorazione usa la composizione e può essere concatenata.</a:t>
            </a:r>
          </a:p>
          <a:p>
            <a:pPr>
              <a:spcAft>
                <a:spcPts val="1000"/>
              </a:spcAft>
              <a:defRPr sz="2100">
                <a:solidFill>
                  <a:srgbClr val="141414"/>
                </a:solidFill>
                <a:latin typeface="Aptos"/>
              </a:defRPr>
            </a:pPr>
            <a:r>
              <a:t>Nel progetto: Circle → ComponentWithRedBorder e Pizza → PizzaWithExtraCheese.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