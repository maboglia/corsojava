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9.xml.rels" ContentType="application/vnd.openxmlformats-package.relationships+xml"/>
  <Override PartName="/ppt/slides/_rels/slide2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it-IT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/>
          <a:p>
            <a:pPr>
              <a:lnSpc>
                <a:spcPct val="100000"/>
              </a:lnSpc>
            </a:pPr>
            <a:fld id="{247661F4-5A83-440A-8FCD-BC858B127C01}" type="datetime">
              <a:rPr b="0" lang="it-IT" sz="1200" spc="-1" strike="noStrike">
                <a:solidFill>
                  <a:srgbClr val="8b8b8b"/>
                </a:solidFill>
                <a:latin typeface="Calibri"/>
              </a:rPr>
              <a:t>07/09/26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/>
          <a:p>
            <a:endParaRPr b="0" lang="it-IT" sz="2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/>
          <a:p>
            <a:pPr algn="r">
              <a:lnSpc>
                <a:spcPct val="100000"/>
              </a:lnSpc>
            </a:pPr>
            <a:fld id="{DFF471B3-E455-4455-BFCF-037A24140195}" type="slidenum">
              <a:rPr b="0" lang="it-IT" sz="1200" spc="-1" strike="noStrike">
                <a:solidFill>
                  <a:srgbClr val="8b8b8b"/>
                </a:solidFill>
                <a:latin typeface="Calibri"/>
              </a:rPr>
              <a:t>&lt;numero&gt;</a:t>
            </a:fld>
            <a:endParaRPr b="0" lang="it-IT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Fai clic per modificare il formato del testo del titolo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Fai clic per modificare il formato del testo della struttura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Secondo livello struttura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Terzo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Quarto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Quinto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Sesto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Settimo livello struttura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Decorator Pattern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2" name="CustomShape 2"/>
          <p:cNvSpPr/>
          <p:nvPr/>
        </p:nvSpPr>
        <p:spPr>
          <a:xfrm>
            <a:off x="621720" y="987480"/>
            <a:ext cx="1078956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Aptos"/>
              </a:rPr>
              <a:t>Aggiungere funzionalità a un oggetto senza modificarne la classe</a:t>
            </a:r>
            <a:endParaRPr b="0" lang="it-IT" sz="1500" spc="-1" strike="noStrike">
              <a:latin typeface="Arial"/>
            </a:endParaRPr>
          </a:p>
        </p:txBody>
      </p:sp>
      <p:sp>
        <p:nvSpPr>
          <p:cNvPr id="43" name="CustomShape 3"/>
          <p:cNvSpPr/>
          <p:nvPr/>
        </p:nvSpPr>
        <p:spPr>
          <a:xfrm>
            <a:off x="822960" y="1645920"/>
            <a:ext cx="10515240" cy="2482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Problema: abbiamo un oggetto base, ma vogliamo aggiungere comportamenti opzionali.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Soluzione: avvolgere l'oggetto con un Decorator che implementa la stessa interfaccia.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La composizione permette di combinare più decorazioni a runtime.</a:t>
            </a:r>
            <a:endParaRPr b="0" lang="it-IT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200" spc="-1" strike="noStrike">
                <a:solidFill>
                  <a:srgbClr val="141414"/>
                </a:solidFill>
                <a:latin typeface="Aptos"/>
              </a:rPr>
              <a:t>Vedremo il concetto con due esempi: forme grafiche e pizze.</a:t>
            </a:r>
            <a:endParaRPr b="0" lang="it-IT" sz="22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problema: molte varianti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45" name="CustomShape 2"/>
          <p:cNvSpPr/>
          <p:nvPr/>
        </p:nvSpPr>
        <p:spPr>
          <a:xfrm>
            <a:off x="822960" y="1463040"/>
            <a:ext cx="10515240" cy="2391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Immaginiamo di avere una Pizza con diversi tipi: Margherita, Hawaiian, Pepperoni.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Ora vogliamo anche varianti come 'con extra formaggio'.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Una soluzione basata solo sull'ereditarietà porterebbe rapidamente a molte sottoclassi.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Decorator permette invece di aggiungere l'opzione quando serve.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46" name="CustomShape 3"/>
          <p:cNvSpPr/>
          <p:nvPr/>
        </p:nvSpPr>
        <p:spPr>
          <a:xfrm>
            <a:off x="5029200" y="565992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Pizza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7" name="CustomShape 4"/>
          <p:cNvSpPr/>
          <p:nvPr/>
        </p:nvSpPr>
        <p:spPr>
          <a:xfrm>
            <a:off x="914400" y="401400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Margherita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8" name="CustomShape 5"/>
          <p:cNvSpPr/>
          <p:nvPr/>
        </p:nvSpPr>
        <p:spPr>
          <a:xfrm>
            <a:off x="4983480" y="401400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Hawaiian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49" name="CustomShape 6"/>
          <p:cNvSpPr/>
          <p:nvPr/>
        </p:nvSpPr>
        <p:spPr>
          <a:xfrm>
            <a:off x="9052560" y="4014000"/>
            <a:ext cx="2194200" cy="822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Pepperoni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50" name="Line 7"/>
          <p:cNvSpPr/>
          <p:nvPr/>
        </p:nvSpPr>
        <p:spPr>
          <a:xfrm flipH="1" flipV="1">
            <a:off x="2011680" y="4882680"/>
            <a:ext cx="4023360" cy="77724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1" name="Line 8"/>
          <p:cNvSpPr/>
          <p:nvPr/>
        </p:nvSpPr>
        <p:spPr>
          <a:xfrm flipV="1">
            <a:off x="6035040" y="4882680"/>
            <a:ext cx="45720" cy="77724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52" name="Line 9"/>
          <p:cNvSpPr/>
          <p:nvPr/>
        </p:nvSpPr>
        <p:spPr>
          <a:xfrm flipV="1">
            <a:off x="6035040" y="4882680"/>
            <a:ext cx="4069080" cy="77724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3" dur="indefinite" restart="never" nodeType="tmRoot">
          <p:childTnLst>
            <p:seq>
              <p:cTn id="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Component: un contratto comune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4" name="CustomShape 2"/>
          <p:cNvSpPr/>
          <p:nvPr/>
        </p:nvSpPr>
        <p:spPr>
          <a:xfrm>
            <a:off x="731520" y="1554480"/>
            <a:ext cx="10789560" cy="27428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5" name="CustomShape 3"/>
          <p:cNvSpPr/>
          <p:nvPr/>
        </p:nvSpPr>
        <p:spPr>
          <a:xfrm>
            <a:off x="3673440" y="1691640"/>
            <a:ext cx="4905360" cy="1614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2000" spc="-1" strike="noStrike">
                <a:solidFill>
                  <a:srgbClr val="141414"/>
                </a:solidFill>
                <a:latin typeface="Courier New"/>
              </a:rPr>
              <a:t>public interface Component {</a:t>
            </a:r>
            <a:br/>
            <a:br/>
            <a:r>
              <a:rPr b="0" lang="it-IT" sz="2000" spc="-1" strike="noStrike">
                <a:solidFill>
                  <a:srgbClr val="141414"/>
                </a:solidFill>
                <a:latin typeface="Courier New"/>
              </a:rPr>
              <a:t>  void draw(Graphics graphics);</a:t>
            </a:r>
            <a:br/>
            <a:br/>
            <a:r>
              <a:rPr b="0" lang="it-IT" sz="20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2000" spc="-1" strike="noStrike">
              <a:latin typeface="Arial"/>
            </a:endParaRPr>
          </a:p>
        </p:txBody>
      </p:sp>
      <p:sp>
        <p:nvSpPr>
          <p:cNvPr id="56" name="CustomShape 4"/>
          <p:cNvSpPr/>
          <p:nvPr/>
        </p:nvSpPr>
        <p:spPr>
          <a:xfrm>
            <a:off x="822960" y="4572000"/>
            <a:ext cx="10515240" cy="79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Il Component definisce ciò che tutti gli oggetti devono saper fare.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Il componente concreto e il Decorator utilizzeranno la stessa interfaccia.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5" dur="indefinite" restart="never" nodeType="tmRoot">
          <p:childTnLst>
            <p:seq>
              <p:cTn id="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ConcreteComponent: l'oggetto di base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58" name="CustomShape 2"/>
          <p:cNvSpPr/>
          <p:nvPr/>
        </p:nvSpPr>
        <p:spPr>
          <a:xfrm>
            <a:off x="731520" y="1234440"/>
            <a:ext cx="10789560" cy="50745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CustomShape 3"/>
          <p:cNvSpPr/>
          <p:nvPr/>
        </p:nvSpPr>
        <p:spPr>
          <a:xfrm>
            <a:off x="3635280" y="1371600"/>
            <a:ext cx="4981680" cy="32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public class Circle implements Component {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int x;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private int y;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public Circle(int x, int y) {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this.x = x;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this.y = y;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public void draw(Graphics graphics) {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  graphics.drawOval(x, y, 50, 50);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5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500" spc="-1" strike="noStrike">
              <a:latin typeface="Arial"/>
            </a:endParaRPr>
          </a:p>
        </p:txBody>
      </p:sp>
    </p:spTree>
  </p:cSld>
  <p:timing>
    <p:tnLst>
      <p:par>
        <p:cTn id="7" dur="indefinite" restart="never" nodeType="tmRoot">
          <p:childTnLst>
            <p:seq>
              <p:cTn id="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Prima del Decorator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1" name="CustomShape 2"/>
          <p:cNvSpPr/>
          <p:nvPr/>
        </p:nvSpPr>
        <p:spPr>
          <a:xfrm>
            <a:off x="731520" y="1554480"/>
            <a:ext cx="10789560" cy="22856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2" name="CustomShape 3"/>
          <p:cNvSpPr/>
          <p:nvPr/>
        </p:nvSpPr>
        <p:spPr>
          <a:xfrm>
            <a:off x="3285000" y="1691640"/>
            <a:ext cx="5682600" cy="15375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public void paint(Graphics graphics) {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circle1.draw(graphics);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circle2.draw(graphics);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circle3.draw(graphics);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900" spc="-1" strike="noStrike"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822960" y="4160520"/>
            <a:ext cx="10515240" cy="1502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Tutti i cerchi vengono disegnati allo stesso modo.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Ora vogliamo che solo alcuni abbiano una caratteristica aggiuntiva, ad esempio un bordo rosso.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Non vogliamo modificare Circle.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9" dur="indefinite" restart="never" nodeType="tmRoot">
          <p:childTnLst>
            <p:seq>
              <p:cTn id="1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Decorator: avvolgere un componente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5" name="CustomShape 2"/>
          <p:cNvSpPr/>
          <p:nvPr/>
        </p:nvSpPr>
        <p:spPr>
          <a:xfrm>
            <a:off x="731520" y="1143000"/>
            <a:ext cx="10789560" cy="5303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6" name="CustomShape 3"/>
          <p:cNvSpPr/>
          <p:nvPr/>
        </p:nvSpPr>
        <p:spPr>
          <a:xfrm>
            <a:off x="2941920" y="1280160"/>
            <a:ext cx="6368400" cy="307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public class ComponentWithRedBorder implements Component {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private Component decoratedComponent;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public ComponentWithRedBorder(Component component) {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this.decoratedComponent = component;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public void draw(Graphics graphics) {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graphics.setColor(Color.RED);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decoratedComponent.draw(graphics);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  graphics.setColor(Color.BLACK);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r>
              <a:rPr b="0" lang="it-IT" sz="14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400" spc="-1" strike="noStrike">
              <a:latin typeface="Arial"/>
            </a:endParaRPr>
          </a:p>
        </p:txBody>
      </p:sp>
    </p:spTree>
  </p:cSld>
  <p:timing>
    <p:tnLst>
      <p:par>
        <p:cTn id="11" dur="indefinite" restart="never" nodeType="tmRoot">
          <p:childTnLst>
            <p:seq>
              <p:cTn id="1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La struttura del Decorator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68" name="CustomShape 2"/>
          <p:cNvSpPr/>
          <p:nvPr/>
        </p:nvSpPr>
        <p:spPr>
          <a:xfrm>
            <a:off x="640080" y="176040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Client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69" name="CustomShape 3"/>
          <p:cNvSpPr/>
          <p:nvPr/>
        </p:nvSpPr>
        <p:spPr>
          <a:xfrm>
            <a:off x="3657600" y="1531800"/>
            <a:ext cx="2742840" cy="1371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Decorator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ComponentWithRedBorder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0" name="CustomShape 4"/>
          <p:cNvSpPr/>
          <p:nvPr/>
        </p:nvSpPr>
        <p:spPr>
          <a:xfrm>
            <a:off x="7955280" y="1760400"/>
            <a:ext cx="29887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ConcreteComponent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Circle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71" name="Line 5"/>
          <p:cNvSpPr/>
          <p:nvPr/>
        </p:nvSpPr>
        <p:spPr>
          <a:xfrm>
            <a:off x="2514600" y="2217600"/>
            <a:ext cx="109728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2" name="Line 6"/>
          <p:cNvSpPr/>
          <p:nvPr/>
        </p:nvSpPr>
        <p:spPr>
          <a:xfrm>
            <a:off x="6446520" y="2217600"/>
            <a:ext cx="14630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3" name="CustomShape 7"/>
          <p:cNvSpPr/>
          <p:nvPr/>
        </p:nvSpPr>
        <p:spPr>
          <a:xfrm>
            <a:off x="822960" y="4172040"/>
            <a:ext cx="10515240" cy="1122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Decorator e componente concreto condividono l'interfaccia Component.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Il Decorator contiene un riferimento a Component.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Può quindi delegare l'operazione all'oggetto contenuto e aggiungere comportamento.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La decorazione avviene a runtime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5" name="CustomShape 2"/>
          <p:cNvSpPr/>
          <p:nvPr/>
        </p:nvSpPr>
        <p:spPr>
          <a:xfrm>
            <a:off x="731520" y="1554480"/>
            <a:ext cx="10789560" cy="310860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6" name="CustomShape 3"/>
          <p:cNvSpPr/>
          <p:nvPr/>
        </p:nvSpPr>
        <p:spPr>
          <a:xfrm>
            <a:off x="3018240" y="1691640"/>
            <a:ext cx="6216120" cy="1736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800" spc="-1" strike="noStrike">
                <a:solidFill>
                  <a:srgbClr val="141414"/>
                </a:solidFill>
                <a:latin typeface="Courier New"/>
              </a:rPr>
              <a:t>Component circle = new Circle(75, 15);</a:t>
            </a:r>
            <a:br/>
            <a:br/>
            <a:r>
              <a:rPr b="0" lang="it-IT" sz="1800" spc="-1" strike="noStrike">
                <a:solidFill>
                  <a:srgbClr val="141414"/>
                </a:solidFill>
                <a:latin typeface="Courier New"/>
              </a:rPr>
              <a:t>// Il Circle viene avvolto dal Decorator</a:t>
            </a:r>
            <a:br/>
            <a:r>
              <a:rPr b="0" lang="it-IT" sz="1800" spc="-1" strike="noStrike">
                <a:solidFill>
                  <a:srgbClr val="141414"/>
                </a:solidFill>
                <a:latin typeface="Courier New"/>
              </a:rPr>
              <a:t>circle = new ComponentWithRedBorder(circle);</a:t>
            </a:r>
            <a:br/>
            <a:br/>
            <a:r>
              <a:rPr b="0" lang="it-IT" sz="1800" spc="-1" strike="noStrike">
                <a:solidFill>
                  <a:srgbClr val="141414"/>
                </a:solidFill>
                <a:latin typeface="Courier New"/>
              </a:rPr>
              <a:t>circle.draw(graphics);</a:t>
            </a:r>
            <a:endParaRPr b="0" lang="it-IT" sz="1800" spc="-1" strike="noStrike">
              <a:latin typeface="Arial"/>
            </a:endParaRPr>
          </a:p>
        </p:txBody>
      </p:sp>
      <p:sp>
        <p:nvSpPr>
          <p:cNvPr id="77" name="CustomShape 4"/>
          <p:cNvSpPr/>
          <p:nvPr/>
        </p:nvSpPr>
        <p:spPr>
          <a:xfrm>
            <a:off x="822960" y="4846320"/>
            <a:ext cx="10515240" cy="1167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141414"/>
                </a:solidFill>
                <a:latin typeface="Aptos"/>
              </a:rPr>
              <a:t>L'oggetto originale non viene modificato.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141414"/>
                </a:solidFill>
                <a:latin typeface="Aptos"/>
              </a:rPr>
              <a:t>La variabile continua a essere di tipo Component.</a:t>
            </a:r>
            <a:endParaRPr b="0" lang="it-IT" sz="18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800" spc="-1" strike="noStrike">
                <a:solidFill>
                  <a:srgbClr val="141414"/>
                </a:solidFill>
                <a:latin typeface="Aptos"/>
              </a:rPr>
              <a:t>Possiamo decidere durante l'esecuzione quali oggetti decorare.</a:t>
            </a:r>
            <a:endParaRPr b="0" lang="it-IT" sz="18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Comporre più Decorator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79" name="CustomShape 2"/>
          <p:cNvSpPr/>
          <p:nvPr/>
        </p:nvSpPr>
        <p:spPr>
          <a:xfrm>
            <a:off x="822960" y="1371600"/>
            <a:ext cx="10515240" cy="1304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vantaggio diventa ancora più evidente quando esistono più decorazioni.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Un Decorator può contenere un altro Decorator.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Le funzionalità possono quindi essere composte in catena.</a:t>
            </a:r>
            <a:endParaRPr b="0" lang="it-IT" sz="2100" spc="-1" strike="noStrike">
              <a:latin typeface="Arial"/>
            </a:endParaRPr>
          </a:p>
        </p:txBody>
      </p:sp>
      <p:sp>
        <p:nvSpPr>
          <p:cNvPr id="80" name="CustomShape 3"/>
          <p:cNvSpPr/>
          <p:nvPr/>
        </p:nvSpPr>
        <p:spPr>
          <a:xfrm>
            <a:off x="640080" y="3657600"/>
            <a:ext cx="182844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Circle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1" name="CustomShape 4"/>
          <p:cNvSpPr/>
          <p:nvPr/>
        </p:nvSpPr>
        <p:spPr>
          <a:xfrm>
            <a:off x="3291840" y="3657600"/>
            <a:ext cx="210276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RedBorder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2" name="CustomShape 5"/>
          <p:cNvSpPr/>
          <p:nvPr/>
        </p:nvSpPr>
        <p:spPr>
          <a:xfrm>
            <a:off x="6309360" y="3657600"/>
            <a:ext cx="201132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Shadow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3" name="CustomShape 6"/>
          <p:cNvSpPr/>
          <p:nvPr/>
        </p:nvSpPr>
        <p:spPr>
          <a:xfrm>
            <a:off x="8961120" y="3657600"/>
            <a:ext cx="2102760" cy="9140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/>
          <a:p>
            <a:pPr algn="ctr">
              <a:lnSpc>
                <a:spcPct val="100000"/>
              </a:lnSpc>
            </a:pPr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Altra</a:t>
            </a:r>
            <a:br/>
            <a:r>
              <a:rPr b="1" lang="it-IT" sz="1600" spc="-1" strike="noStrike">
                <a:solidFill>
                  <a:srgbClr val="141414"/>
                </a:solidFill>
                <a:latin typeface="Aptos"/>
              </a:rPr>
              <a:t>Decorazione</a:t>
            </a:r>
            <a:endParaRPr b="0" lang="it-IT" sz="1600" spc="-1" strike="noStrike">
              <a:latin typeface="Arial"/>
            </a:endParaRPr>
          </a:p>
        </p:txBody>
      </p:sp>
      <p:sp>
        <p:nvSpPr>
          <p:cNvPr id="84" name="Line 7"/>
          <p:cNvSpPr/>
          <p:nvPr/>
        </p:nvSpPr>
        <p:spPr>
          <a:xfrm>
            <a:off x="2514600" y="4114800"/>
            <a:ext cx="73152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5" name="Line 8"/>
          <p:cNvSpPr/>
          <p:nvPr/>
        </p:nvSpPr>
        <p:spPr>
          <a:xfrm>
            <a:off x="5440680" y="4114800"/>
            <a:ext cx="82296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86" name="Line 9"/>
          <p:cNvSpPr/>
          <p:nvPr/>
        </p:nvSpPr>
        <p:spPr>
          <a:xfrm>
            <a:off x="8366760" y="4114800"/>
            <a:ext cx="548640" cy="360"/>
          </a:xfrm>
          <a:prstGeom prst="line">
            <a:avLst/>
          </a:prstGeom>
          <a:ln>
            <a:solidFill>
              <a:srgbClr val="505050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</p:spTree>
  </p:cSld>
  <p:timing>
    <p:tnLst>
      <p:par>
        <p:cTn id="17" dur="indefinite" restart="never" nodeType="tmRoot">
          <p:childTnLst>
            <p:seq>
              <p:cTn id="1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Secondo esempio: Pizza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88" name="CustomShape 2"/>
          <p:cNvSpPr/>
          <p:nvPr/>
        </p:nvSpPr>
        <p:spPr>
          <a:xfrm>
            <a:off x="731520" y="1508760"/>
            <a:ext cx="10789560" cy="24685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CustomShape 3"/>
          <p:cNvSpPr/>
          <p:nvPr/>
        </p:nvSpPr>
        <p:spPr>
          <a:xfrm>
            <a:off x="4153680" y="1645920"/>
            <a:ext cx="3945240" cy="1827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public interface Pizza {</a:t>
            </a:r>
            <a:br/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ArrayList getToppings();</a:t>
            </a:r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  String getName();</a:t>
            </a:r>
            <a:br/>
            <a:br/>
            <a:r>
              <a:rPr b="0" lang="it-IT" sz="190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900" spc="-1" strike="noStrike"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822960" y="4389120"/>
            <a:ext cx="10515240" cy="796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Pizza è il Component: definisce le operazioni comuni.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Margherita, Hawaiian e Pepperoni sono ConcreteComponent.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19" dur="indefinite" restart="never" nodeType="tmRoot">
          <p:childTnLst>
            <p:seq>
              <p:cTn id="2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Le pizze concrete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2" name="CustomShape 2"/>
          <p:cNvSpPr/>
          <p:nvPr/>
        </p:nvSpPr>
        <p:spPr>
          <a:xfrm>
            <a:off x="731520" y="1143000"/>
            <a:ext cx="10789560" cy="5303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CustomShape 3"/>
          <p:cNvSpPr/>
          <p:nvPr/>
        </p:nvSpPr>
        <p:spPr>
          <a:xfrm>
            <a:off x="3329640" y="1280160"/>
            <a:ext cx="5592960" cy="3173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public class PizzaHawaiian implements Pizza {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ArrayList toppings = new ArrayList&lt;String&gt;();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String name = "Hawaiiian";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PizzaHawaiian() {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toppings.add("cheese");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toppings.add("tomato");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toppings.add("ham");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toppings.add("pineapple");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ArrayList getToppings() { return toppings; }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String getName() { return name; }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350" spc="-1" strike="noStrike">
              <a:latin typeface="Arial"/>
            </a:endParaRPr>
          </a:p>
        </p:txBody>
      </p:sp>
    </p:spTree>
  </p:cSld>
  <p:timing>
    <p:tnLst>
      <p:par>
        <p:cTn id="21" dur="indefinite" restart="never" nodeType="tmRoot">
          <p:childTnLst>
            <p:seq>
              <p:cTn id="2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Decorator della pizza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5" name="CustomShape 2"/>
          <p:cNvSpPr/>
          <p:nvPr/>
        </p:nvSpPr>
        <p:spPr>
          <a:xfrm>
            <a:off x="731520" y="1143000"/>
            <a:ext cx="10789560" cy="530316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6" name="CustomShape 3"/>
          <p:cNvSpPr/>
          <p:nvPr/>
        </p:nvSpPr>
        <p:spPr>
          <a:xfrm>
            <a:off x="3329640" y="1280160"/>
            <a:ext cx="5592960" cy="2968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public class PizzaWithExtraCheese implements Pizza {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ArrayList toppings;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Pizza pizza;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PizzaWithExtraCheese(Pizza pizza) {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this.pizza = pizza;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 = pizza.getToppings();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  toppings.add("extra cheese");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}</a:t>
            </a:r>
            <a:br/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ArrayList getToppings() { return toppings; }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  public String getName() { return pizza.getName(); }</a:t>
            </a:r>
            <a:br/>
            <a:r>
              <a:rPr b="0" lang="it-IT" sz="1350" spc="-1" strike="noStrike">
                <a:solidFill>
                  <a:srgbClr val="141414"/>
                </a:solidFill>
                <a:latin typeface="Courier New"/>
              </a:rPr>
              <a:t>}</a:t>
            </a:r>
            <a:endParaRPr b="0" lang="it-IT" sz="1350" spc="-1" strike="noStrike"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Uso del Decorator: una pizza base + un'opzione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98" name="CustomShape 2"/>
          <p:cNvSpPr/>
          <p:nvPr/>
        </p:nvSpPr>
        <p:spPr>
          <a:xfrm>
            <a:off x="731520" y="1554480"/>
            <a:ext cx="10789560" cy="365724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>
            <a:solidFill>
              <a:srgbClr val="aaaaaa"/>
            </a:solidFill>
            <a:round/>
          </a:ln>
          <a:effectLst>
            <a:outerShdw blurRad="40000" dir="5400000" dist="23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9" name="CustomShape 3"/>
          <p:cNvSpPr/>
          <p:nvPr/>
        </p:nvSpPr>
        <p:spPr>
          <a:xfrm>
            <a:off x="3444840" y="1691640"/>
            <a:ext cx="5362560" cy="2163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/>
          <a:p>
            <a:pPr>
              <a:lnSpc>
                <a:spcPct val="100000"/>
              </a:lnSpc>
            </a:pPr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order(new PizzaMargherita());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order(new PizzaHawaiian());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order(new PizzaPepperoni());</a:t>
            </a:r>
            <a:br/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// Decorazione applicata solo dove serve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order(new PizzaWithExtraCheese(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    new PizzaHawaiian()</a:t>
            </a:r>
            <a:br/>
            <a:r>
              <a:rPr b="0" lang="it-IT" sz="1700" spc="-1" strike="noStrike">
                <a:solidFill>
                  <a:srgbClr val="141414"/>
                </a:solidFill>
                <a:latin typeface="Courier New"/>
              </a:rPr>
              <a:t>));</a:t>
            </a:r>
            <a:endParaRPr b="0" lang="it-IT" sz="1700" spc="-1" strike="noStrike">
              <a:latin typeface="Arial"/>
            </a:endParaRPr>
          </a:p>
        </p:txBody>
      </p:sp>
      <p:sp>
        <p:nvSpPr>
          <p:cNvPr id="100" name="CustomShape 4"/>
          <p:cNvSpPr/>
          <p:nvPr/>
        </p:nvSpPr>
        <p:spPr>
          <a:xfrm>
            <a:off x="822960" y="5394960"/>
            <a:ext cx="10515240" cy="735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La pizza Hawaiian resta una pizza concreta.</a:t>
            </a:r>
            <a:endParaRPr b="0" lang="it-IT" sz="17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700" spc="-1" strike="noStrike">
                <a:solidFill>
                  <a:srgbClr val="141414"/>
                </a:solidFill>
                <a:latin typeface="Aptos"/>
              </a:rPr>
              <a:t>PizzaWithExtraCheese aggiunge una responsabilità: 'extra cheese'.</a:t>
            </a:r>
            <a:endParaRPr b="0" lang="it-IT" sz="1700" spc="-1" strike="noStrike">
              <a:latin typeface="Arial"/>
            </a:endParaRPr>
          </a:p>
        </p:txBody>
      </p:sp>
    </p:spTree>
  </p:cSld>
  <p:timing>
    <p:tnLst>
      <p:par>
        <p:cTn id="25" dur="indefinite" restart="never" nodeType="tmRoot">
          <p:childTnLst>
            <p:seq>
              <p:cTn id="2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Decorator vs ereditarietà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2" name="CustomShape 2"/>
          <p:cNvSpPr/>
          <p:nvPr/>
        </p:nvSpPr>
        <p:spPr>
          <a:xfrm>
            <a:off x="822960" y="1417320"/>
            <a:ext cx="10515240" cy="255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EREDITARIETÀ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Le varianti vengono definite a compile time tramite sottoclassi.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Può produrre molte classi quando le combinazioni aumentano.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DECORATOR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Le funzionalità vengono composte a runtime.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Le decorazioni possono essere riutilizzate e combinate in configurazioni diverse.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7" dur="indefinite" restart="never" nodeType="tmRoot">
          <p:childTnLst>
            <p:seq>
              <p:cTn id="2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Il punto chiave: composizione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4" name="CustomShape 2"/>
          <p:cNvSpPr/>
          <p:nvPr/>
        </p:nvSpPr>
        <p:spPr>
          <a:xfrm>
            <a:off x="822960" y="1463040"/>
            <a:ext cx="10515240" cy="2606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Decorator usa la composizione: un oggetto contiene un altro oggetto compatibile con la stessa interfaccia.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comportamento viene costruito avvolgendo oggetti.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Questo permette di aggiungere responsabilità senza modificare il ConcreteComponent.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È una delle applicazioni più evidenti del principio 'favorire la composizione rispetto all'ereditarietà'.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29" dur="indefinite" restart="never" nodeType="tmRoot">
          <p:childTnLst>
            <p:seq>
              <p:cTn id="30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Vantaggi e attenzione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6" name="CustomShape 2"/>
          <p:cNvSpPr/>
          <p:nvPr/>
        </p:nvSpPr>
        <p:spPr>
          <a:xfrm>
            <a:off x="822960" y="1463040"/>
            <a:ext cx="10515240" cy="2555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✓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Estensione dinamica del comportamento.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✓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Nessuna modifica alla classe originale.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✓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Decorator riutilizzabili e combinabili.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✓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Evita una proliferazione di sottoclassi.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⚠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Molti decorator possono rendere difficile seguire la catena di oggetti.</a:t>
            </a:r>
            <a:endParaRPr b="0" lang="it-IT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⚠ </a:t>
            </a:r>
            <a:r>
              <a:rPr b="0" lang="it-IT" sz="2000" spc="-1" strike="noStrike">
                <a:solidFill>
                  <a:srgbClr val="141414"/>
                </a:solidFill>
                <a:latin typeface="Aptos"/>
              </a:rPr>
              <a:t>Il progetto deve mantenere chiara la responsabilità di ogni decorazione.</a:t>
            </a:r>
            <a:endParaRPr b="0" lang="it-IT" sz="2000" spc="-1" strike="noStrike">
              <a:latin typeface="Arial"/>
            </a:endParaRPr>
          </a:p>
        </p:txBody>
      </p:sp>
    </p:spTree>
  </p:cSld>
  <p:timing>
    <p:tnLst>
      <p:par>
        <p:cTn id="31" dur="indefinite" restart="never" nodeType="tmRoot">
          <p:childTnLst>
            <p:seq>
              <p:cTn id="3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Come riconoscere il problema?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08" name="CustomShape 2"/>
          <p:cNvSpPr/>
          <p:nvPr/>
        </p:nvSpPr>
        <p:spPr>
          <a:xfrm>
            <a:off x="822960" y="1463040"/>
            <a:ext cx="10515240" cy="2198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Hai un oggetto con un comportamento base.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Vuoi aggiungere funzionalità opzionali solo ad alcuni oggetti.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Le funzionalità possono essere combinate in modi diversi.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Non vuoi creare una sottoclasse per ogni combinazione possibile.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→ </a:t>
            </a: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Il Decorator può essere una buona soluzione.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3" dur="indefinite" restart="never" nodeType="tmRoot">
          <p:childTnLst>
            <p:seq>
              <p:cTn id="34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Esercitazione guidata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0" name="CustomShape 2"/>
          <p:cNvSpPr/>
          <p:nvPr/>
        </p:nvSpPr>
        <p:spPr>
          <a:xfrm>
            <a:off x="822960" y="1463040"/>
            <a:ext cx="10515240" cy="30412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Parti dal progetto Pizza.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Mantieni Pizza come interfaccia comune.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Mantieni le tre pizze concrete.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Crea almeno due nuovi decorator, ad esempio PizzaWithOlives e PizzaWithSpicySauce.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Permetti di concatenare più decorator.</a:t>
            </a:r>
            <a:endParaRPr b="0" lang="it-IT" sz="19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1900" spc="-1" strike="noStrike">
                <a:solidFill>
                  <a:srgbClr val="141414"/>
                </a:solidFill>
                <a:latin typeface="Aptos"/>
              </a:rPr>
              <a:t>Verifica che il client possa costruire combinazioni diverse senza modificare le classi delle pizze.</a:t>
            </a:r>
            <a:endParaRPr b="0" lang="it-IT" sz="1900" spc="-1" strike="noStrike">
              <a:latin typeface="Arial"/>
            </a:endParaRPr>
          </a:p>
        </p:txBody>
      </p:sp>
    </p:spTree>
  </p:cSld>
  <p:timing>
    <p:tnLst>
      <p:par>
        <p:cTn id="35" dur="indefinite" restart="never" nodeType="tmRoot">
          <p:childTnLst>
            <p:seq>
              <p:cTn id="36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1"/>
          <p:cNvSpPr/>
          <p:nvPr/>
        </p:nvSpPr>
        <p:spPr>
          <a:xfrm>
            <a:off x="594360" y="347400"/>
            <a:ext cx="10972440" cy="5472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it-IT" sz="3000" spc="-1" strike="noStrike">
                <a:solidFill>
                  <a:srgbClr val="141414"/>
                </a:solidFill>
                <a:latin typeface="Aptos"/>
              </a:rPr>
              <a:t>Riepilogo</a:t>
            </a:r>
            <a:endParaRPr b="0" lang="it-IT" sz="3000" spc="-1" strike="noStrike">
              <a:latin typeface="Arial"/>
            </a:endParaRPr>
          </a:p>
        </p:txBody>
      </p:sp>
      <p:sp>
        <p:nvSpPr>
          <p:cNvPr id="112" name="CustomShape 2"/>
          <p:cNvSpPr/>
          <p:nvPr/>
        </p:nvSpPr>
        <p:spPr>
          <a:xfrm>
            <a:off x="822960" y="1463040"/>
            <a:ext cx="10515240" cy="32860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Decorator = aggiungere responsabilità a un oggetto dinamicamente.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Component = interfaccia comune.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ConcreteComponent = oggetto di base.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Decorator = oggetto che contiene un Component e ne estende il comportamento.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La decorazione usa la composizione e può essere concatenata.</a:t>
            </a:r>
            <a:endParaRPr b="0" lang="it-IT" sz="21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</a:pPr>
            <a:r>
              <a:rPr b="0" lang="it-IT" sz="2100" spc="-1" strike="noStrike">
                <a:solidFill>
                  <a:srgbClr val="141414"/>
                </a:solidFill>
                <a:latin typeface="Aptos"/>
              </a:rPr>
              <a:t>Nel progetto: Circle → ComponentWithRedBorder e Pizza → PizzaWithExtraCheese.</a:t>
            </a:r>
            <a:endParaRPr b="0" lang="it-IT" sz="2100" spc="-1" strike="noStrike">
              <a:latin typeface="Arial"/>
            </a:endParaRPr>
          </a:p>
        </p:txBody>
      </p:sp>
    </p:spTree>
  </p:cSld>
  <p:timing>
    <p:tnLst>
      <p:par>
        <p:cTn id="37" dur="indefinite" restart="never" nodeType="tmRoot">
          <p:childTnLst>
            <p:seq>
              <p:cTn id="38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LibreOffice/6.0.7.3$Linux_X86_64 LibreOffice_project/00m0$Build-3</Applicat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it-IT</dc:language>
  <cp:lastModifiedBy/>
  <dcterms:modified xsi:type="dcterms:W3CDTF">2026-09-07T22:11:35Z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0</vt:i4>
  </property>
</Properties>
</file>