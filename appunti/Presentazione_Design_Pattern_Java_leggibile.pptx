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Design Pattern in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/>
              <a:t>Soluzioni riutilizzabili per problemi ricorrenti di progettazione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/>
            </a:pPr>
            <a:r>
              <a:rPr/>
              <a:t>Cosa sono i Design Pattern</a:t>
            </a:r>
          </a:p>
          <a:p>
            <a:pPr>
              <a:spcAft>
                <a:spcPts val="900"/>
              </a:spcAft>
              <a:defRPr sz="2300"/>
            </a:pPr>
            <a:r>
              <a:rPr/>
              <a:t>Classificazione GoF: creazionali, strutturali, comportamentali</a:t>
            </a:r>
          </a:p>
          <a:p>
            <a:pPr>
              <a:spcAft>
                <a:spcPts val="900"/>
              </a:spcAft>
              <a:defRPr sz="2300"/>
            </a:pPr>
            <a:r>
              <a:rPr/>
              <a:t>I principali pattern studiati nel corso</a:t>
            </a:r>
          </a:p>
          <a:p>
            <a:pPr>
              <a:spcAft>
                <a:spcPts val="900"/>
              </a:spcAft>
              <a:defRPr sz="2300"/>
            </a:pPr>
            <a:r>
              <a:rPr/>
              <a:t>Come riconoscere quando un pattern è utile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Che cos'è un Design Pattern?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rPr/>
              <a:t>Una soluzione generale a un problema ricorrente nella progettazione del software.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Non è una libreria e non è codice da copiare: è uno schema progettuale.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Fornisce un linguaggio comune tra sviluppatori.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Obiettivo: migliorare manutenibilità, flessibilità, riuso e comprensibilità.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Va usato con discernimento: non ogni problema richiede un pattern.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I Pattern GoF — Gang of Four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/>
            </a:pPr>
            <a:r>
              <a:rPr/>
              <a:t>23 pattern descritti nel testo di riferimento della Gang of Four.</a:t>
            </a:r>
          </a:p>
          <a:p>
            <a:pPr>
              <a:spcAft>
                <a:spcPts val="900"/>
              </a:spcAft>
              <a:defRPr sz="2300"/>
            </a:pPr>
            <a:r>
              <a:rPr/>
              <a:t>Creazionali → riguardano la creazione degli oggetti.</a:t>
            </a:r>
          </a:p>
          <a:p>
            <a:pPr>
              <a:spcAft>
                <a:spcPts val="900"/>
              </a:spcAft>
              <a:defRPr sz="2300"/>
            </a:pPr>
            <a:r>
              <a:rPr/>
              <a:t>Strutturali → riguardano la composizione di classi e oggetti.</a:t>
            </a:r>
          </a:p>
          <a:p>
            <a:pPr>
              <a:spcAft>
                <a:spcPts val="900"/>
              </a:spcAft>
              <a:defRPr sz="2300"/>
            </a:pPr>
            <a:r>
              <a:rPr/>
              <a:t>Comportamentali → riguardano la collaborazione e il comportamento degli oggetti.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3291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rPr/>
              <a:t>CREAZIONALI</a:t>
            </a:r>
          </a:p>
          <a:p>
            <a:r>
              <a:rPr/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3840480"/>
            <a:ext cx="3291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rPr/>
              <a:t>STRUTTURALI</a:t>
            </a:r>
          </a:p>
          <a:p>
            <a:r>
              <a:rPr/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3840480"/>
            <a:ext cx="3291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rPr/>
              <a:t>COMPORTAMENTALI</a:t>
            </a:r>
          </a:p>
          <a:p>
            <a:r>
              <a:rPr/>
              <a:t>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Pattern creazionali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rPr/>
              <a:t>Rendono il sistema più indipendente dalle implementazioni concrete.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Nascondono i dettagli relativi alla creazione e composizione degli oggetti.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Usano ampiamente astrazioni e interfacce.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Principali GoF: Factory Method, Abstract Factory, Singleton, Prototype, Builder.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Pattern strutturali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rPr/>
              <a:t>Affrontano problemi relativi alla composizione di classi e oggetti.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Permettono di riutilizzare componenti esistenti attraverso interfacce più adatte.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Sono utili per integrare librerie o componenti differenti.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Principali GoF: Adapter, Bridge, Composite, Decorator, Facade, Flyweight, Proxy.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Pattern comportamentali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/>
              <a:t>Descrivono come gli oggetti svolgono le proprie funzioni.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Definiscono come diversi oggetti collaborano tra loro.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Principali GoF: Chain of Responsibility, Command, Interpreter, Iterator, Mediator, Memento, Observer, State, Strategy, Template Method, Visitor.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Singleton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/>
              <a:t>Creazionale — una sola istanza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/>
              <a:t>Garantisce che una classe abbia una sola istanza.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Fornisce un punto di accesso globale all'istanza.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Tipicamente: costruttore privato + variabile statica + getInstance().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Attenzione a thread safety, serializzazione e accoppiamento globale.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10515600" cy="29260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172968"/>
            <a:ext cx="10186416" cy="2706624"/>
          </a:xfrm>
          <a:prstGeom prst="rect">
            <a:avLst/>
          </a:prstGeom>
          <a:solidFill>
            <a:srgbClr val="F5F5F5"/>
          </a:solidFill>
          <a:ln w="12700">
            <a:solidFill>
              <a:srgbClr val="B4B4B4"/>
            </a:solidFill>
          </a:ln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Courier New"/>
              </a:defRPr>
            </a:pPr>
            <a:r>
              <a:rPr>
                <a:solidFill>
                  <a:srgbClr val="1E1E1E"/>
                </a:solidFill>
                <a:latin typeface="Courier New"/>
              </a:rPr>
              <a:t>public class Singleton {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    private static Singleton instance;</a:t>
            </a:r>
            <a:br/>
            <a:br/>
            <a:r>
              <a:rPr>
                <a:solidFill>
                  <a:srgbClr val="1E1E1E"/>
                </a:solidFill>
                <a:latin typeface="Courier New"/>
              </a:rPr>
              <a:t>    private Singleton() {}</a:t>
            </a:r>
            <a:br/>
            <a:br/>
            <a:r>
              <a:rPr>
                <a:solidFill>
                  <a:srgbClr val="1E1E1E"/>
                </a:solidFill>
                <a:latin typeface="Courier New"/>
              </a:rPr>
              <a:t>    public static Singleton getInstance() {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        if (instance == null)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            instance = new Singleton();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        return instance;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    }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Factory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/>
              <a:t>Creazionale — delegare la creazione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/>
              <a:t>Incapsula la creazione degli oggetti.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Il client lavora con l'interfaccia del prodotto, non con la classe concreta.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La scelta del tipo concreto può essere delegata alla factory.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Riduce l'accoppiamento e facilita l'estensione.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10515600" cy="24688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172968"/>
            <a:ext cx="10186416" cy="2249424"/>
          </a:xfrm>
          <a:prstGeom prst="rect">
            <a:avLst/>
          </a:prstGeom>
          <a:solidFill>
            <a:srgbClr val="F5F5F5"/>
          </a:solidFill>
          <a:ln w="12700">
            <a:solidFill>
              <a:srgbClr val="B4B4B4"/>
            </a:solidFill>
          </a:ln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Courier New"/>
              </a:defRPr>
            </a:pPr>
            <a:r>
              <a:rPr>
                <a:solidFill>
                  <a:srgbClr val="1E1E1E"/>
                </a:solidFill>
                <a:latin typeface="Courier New"/>
              </a:rPr>
              <a:t>Shape shape = shapeFactory.getShape("CIRCLE");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shape.draw();</a:t>
            </a:r>
            <a:br/>
            <a:br/>
            <a:r>
              <a:rPr>
                <a:solidFill>
                  <a:srgbClr val="1E1E1E"/>
                </a:solidFill>
                <a:latin typeface="Courier New"/>
              </a:rPr>
              <a:t>// La Factory decide quale classe concreta creare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// Circle, Rectangle, Square,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Builder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/>
              <a:t>Creazionale — costruire oggetti complessi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/>
              <a:t>Costruisce un oggetto complesso passo dopo passo.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Utile quando ci sono molti parametri opzionali.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Evita costruttori sovraccarichi e combinazioni poco leggibili.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Favorisce una configurazione fluente.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46120"/>
            <a:ext cx="10515600" cy="201168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355848"/>
            <a:ext cx="10186416" cy="17922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urier New"/>
              </a:defRPr>
            </a:pPr>
            <a:r>
              <a:rPr/>
              <a:t>Product product = builder</a:t>
            </a:r>
            <a:br/>
            <a:r>
              <a:rPr/>
              <a:t>    .buildPart1("Parte 1")</a:t>
            </a:r>
            <a:br/>
            <a:r>
              <a:rPr/>
              <a:t>    .buildPart2("Parte 2")</a:t>
            </a:r>
            <a:br/>
            <a:r>
              <a:rPr/>
              <a:t>    .getResult();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Prototype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/>
            </a:pPr>
            <a:r>
              <a:rPr/>
              <a:t>Creazionale.</a:t>
            </a:r>
          </a:p>
          <a:p>
            <a:pPr>
              <a:spcAft>
                <a:spcPts val="900"/>
              </a:spcAft>
              <a:defRPr sz="2200"/>
            </a:pPr>
            <a:r>
              <a:rPr/>
              <a:t>Crea nuovi oggetti duplicando oggetti esistenti.</a:t>
            </a:r>
          </a:p>
          <a:p>
            <a:pPr>
              <a:spcAft>
                <a:spcPts val="900"/>
              </a:spcAft>
              <a:defRPr sz="2200"/>
            </a:pPr>
            <a:r>
              <a:rPr/>
              <a:t>Evita di dipendere direttamente dalla classe concreta per la creazione.</a:t>
            </a:r>
          </a:p>
          <a:p>
            <a:pPr>
              <a:spcAft>
                <a:spcPts val="900"/>
              </a:spcAft>
              <a:defRPr sz="2200"/>
            </a:pPr>
            <a:r>
              <a:rPr/>
              <a:t>Si basa sull'idea di clonazione/prototipo.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Decorator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/>
              <a:t>Strutturale — aggiungere responsabilità dinamicamente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/>
              <a:t>Avvolge un oggetto e ne estende il comportamento senza modificarlo.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Si basa sulla composizione, come alternativa all'ereditarietà.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Più decorator possono essere combinati a runtime.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Favorisce flessibilità, riuso e principio Open/Closed.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10515600" cy="25603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3172968"/>
            <a:ext cx="10186416" cy="23408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rPr/>
              <a:t>Shape circle = new Circle();</a:t>
            </a:r>
            <a:br/>
            <a:br/>
            <a:r>
              <a:rPr/>
              <a:t>Shape redCircle =</a:t>
            </a:r>
            <a:br/>
            <a:r>
              <a:rPr/>
              <a:t>    new RedShapeDecorator(new Circle());</a:t>
            </a:r>
            <a:br/>
            <a:br/>
            <a:r>
              <a:rPr/>
              <a:t>redCircle.draw();</a:t>
            </a:r>
            <a:br/>
            <a:r>
              <a:rPr/>
              <a:t>// Shape: Circle</a:t>
            </a:r>
            <a:br/>
            <a:r>
              <a:rPr/>
              <a:t>// Border Color: 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Facade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/>
              <a:t>Strutturale — semplificare un sistema complesso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/>
              <a:t>Fornisce un'interfaccia unificata e semplice.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La Facade nasconde la complessità dei sottosistemi.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Il client interagisce con un punto di ingresso più semplice.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Utile per ridurre la complessità percepita e migliorare la manutenibilità.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291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rPr/>
              <a:t>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3657600"/>
            <a:ext cx="3291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rPr/>
              <a:t>FACADE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3657600"/>
            <a:ext cx="32918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rPr/>
              <a:t>Amplificatore</a:t>
            </a:r>
          </a:p>
          <a:p>
            <a:r>
              <a:rPr/>
              <a:t>DVD</a:t>
            </a:r>
          </a:p>
          <a:p>
            <a:r>
              <a:rPr/>
              <a:t>Luci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Observer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rPr/>
              <a:t>Comportamentale — notificare gli interessati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/>
              <a:t>Definisce una dipendenza uno-a-molti.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Quando il Subject cambia stato, notifica gli Observer.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Il Subject mantiene l'elenco degli osservatori.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Nuovi Observer possono essere aggiunti senza modificare il Subject.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Molto utile per eventi, GUI e notifiche di stato.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24231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rPr/>
              <a:t>SUBJECT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3886200"/>
            <a:ext cx="24231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rPr/>
              <a:t>Observer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3886200"/>
            <a:ext cx="24231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rPr/>
              <a:t>Observer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3886200"/>
            <a:ext cx="24231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rPr/>
              <a:t>Observer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Strategy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rPr/>
              <a:t>Definisce una famiglia di algoritmi intercambiabili.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Ogni strategia implementa un'interfaccia comune.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Il client può cambiare algoritmo senza cambiare l'oggetto che lo utilizza.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È un'applicazione naturale del polimorfismo.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886200"/>
            <a:ext cx="10515600" cy="164592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3995928"/>
            <a:ext cx="10186416" cy="1426464"/>
          </a:xfrm>
          <a:prstGeom prst="rect">
            <a:avLst/>
          </a:prstGeom>
          <a:solidFill>
            <a:srgbClr val="F5F5F5"/>
          </a:solidFill>
          <a:ln w="12700">
            <a:solidFill>
              <a:srgbClr val="B4B4B4"/>
            </a:solidFill>
          </a:ln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E1E1E"/>
                </a:solidFill>
                <a:latin typeface="Courier New"/>
              </a:defRPr>
            </a:pPr>
            <a:r>
              <a:rPr>
                <a:solidFill>
                  <a:srgbClr val="1E1E1E"/>
                </a:solidFill>
                <a:latin typeface="Courier New"/>
              </a:rPr>
              <a:t>Strategia strategia = new StrategiaConcreta();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contesto.setStrategia(strategia);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contesto.esegui();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Command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rPr/>
              <a:t>Incapsula una richiesta come oggetto.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Definisce un'interfaccia di comando, tipicamente con execute().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Permette di rappresentare richieste diverse con oggetti diversi.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Utile per code, registrazione delle richieste e operazioni differibili.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657600"/>
            <a:ext cx="10515600" cy="1920240"/>
          </a:xfrm>
          <a:prstGeom prst="round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3767328"/>
            <a:ext cx="10186416" cy="1700784"/>
          </a:xfrm>
          <a:prstGeom prst="rect">
            <a:avLst/>
          </a:prstGeom>
          <a:solidFill>
            <a:srgbClr val="F5F5F5"/>
          </a:solidFill>
          <a:ln w="12700">
            <a:solidFill>
              <a:srgbClr val="B4B4B4"/>
            </a:solidFill>
          </a:ln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Courier New"/>
              </a:defRPr>
            </a:pPr>
            <a:r>
              <a:rPr>
                <a:solidFill>
                  <a:srgbClr val="1E1E1E"/>
                </a:solidFill>
                <a:latin typeface="Courier New"/>
              </a:rPr>
              <a:t>public interface Command {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    void execute();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}</a:t>
            </a:r>
            <a:br/>
            <a:br/>
            <a:r>
              <a:rPr>
                <a:solidFill>
                  <a:srgbClr val="1E1E1E"/>
                </a:solidFill>
                <a:latin typeface="Courier New"/>
              </a:rPr>
              <a:t>// ConcreteCommand rappresenta una richiesta</a:t>
            </a:r>
            <a:br/>
            <a:r>
              <a:rPr>
                <a:solidFill>
                  <a:srgbClr val="1E1E1E"/>
                </a:solidFill>
                <a:latin typeface="Courier New"/>
              </a:rPr>
              <a:t>// specifica e implementa execute().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Come scegliere un Pattern?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rPr/>
              <a:t>Chiediti prima qual è il problema di progettazione.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Devo controllare come vengono creati gli oggetti? → Creazionali.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Devo combinare o adattare componenti? → Strutturali.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Devo gestire algoritmi, eventi o collaborazione tra oggetti? → Comportamentali.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Il pattern deve semplificare il progetto, non renderlo più complicato.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Pattern e principi di progettazione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/>
              <a:t>I pattern non sono obiettivi: sono strumenti.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Favoriscono riduzione dell'accoppiamento e maggiore flessibilità.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Interfacce e astrazioni permettono di separare ciò che cambia da ciò che resta stabile.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Decorator e Strategy mostrano bene il vantaggio della composizione rispetto a gerarchie rigide.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Una buona progettazione sceglie il pattern solo quando risolve realmente un problema.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Altri pattern e architetture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/>
              <a:t>MVC — Model View Controller: separazione tra dati, presentazione e controllo.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DAO — Data Access Object: separazione dell'accesso ai dati.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Dependency Injection: separa il comportamento di una componente dalla risoluzione delle sue dipendenze.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Questi approcci si affiancano ai pattern GoF e possono comparire nella progettazione di applicazioni reali.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Confronto rapido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/>
              <a:t>Singleton → una sola istanza.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Factory → delegare la creazione.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Builder → costruzione passo dopo passo.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Decorator → aggiungere responsabilità.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Facade → semplificare un sottosistema.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Observer → notificare più dipendenti.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Strategy → sostituire un algoritmo.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Command → trasformare una richiesta in un oggetto.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Esercitazione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rPr/>
              <a:t>Progettare un'applicazione Java per la gestione di un sistema a scelta.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Individuare almeno 3 problemi di progettazione ricorrenti.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Selezionare un Design Pattern adatto per ciascun problema.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Realizzare una versione funzionante con interfacce e classi concrete.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Documentare: problema → pattern scelto → struttura → vantaggi → eventuali criticità.</a:t>
            </a:r>
          </a:p>
          <a:p>
            <a:pPr>
              <a:spcAft>
                <a:spcPts val="900"/>
              </a:spcAft>
              <a:defRPr sz="2000"/>
            </a:pPr>
            <a:r>
              <a:rPr/>
              <a:t>Confrontare brevemente la soluzione con una versione senza pattern.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/>
              <a:t>Riepilogo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rPr/>
              <a:t>Un Design Pattern è uno schema riutilizzabile per un problema ricorrente.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I GoF raggruppano 23 pattern in creazionali, strutturali e comportamentali.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I pattern aiutano a gestire creazione, composizione e collaborazione tra oggetti.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Singleton, Factory, Builder, Decorator, Facade, Observer, Strategy e Command sono esempi fondamentali.</a:t>
            </a:r>
          </a:p>
          <a:p>
            <a:pPr>
              <a:spcAft>
                <a:spcPts val="900"/>
              </a:spcAft>
              <a:defRPr sz="2100"/>
            </a:pPr>
            <a:r>
              <a:rPr/>
              <a:t>La qualità sta nell'uso appropriato del pattern, non nel numero di pattern utilizzati.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